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147483646" r:id="rId3"/>
    <p:sldId id="2147483645" r:id="rId4"/>
    <p:sldId id="2147483647" r:id="rId5"/>
    <p:sldId id="257" r:id="rId6"/>
    <p:sldId id="274" r:id="rId7"/>
    <p:sldId id="2147483642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73" r:id="rId26"/>
  </p:sldIdLst>
  <p:sldSz cx="12188825" cy="6858000"/>
  <p:notesSz cx="6858000" cy="9144000"/>
  <p:embeddedFontLst>
    <p:embeddedFont>
      <p:font typeface="Metropolis" panose="020B0604020202020204" charset="0"/>
      <p:regular r:id="rId28"/>
      <p:bold r:id="rId29"/>
      <p:italic r:id="rId30"/>
      <p:boldItalic r:id="rId31"/>
    </p:embeddedFont>
    <p:embeddedFont>
      <p:font typeface="Noto Sans Symbols" panose="020B0604020202020204" charset="0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맑은 고딕" panose="020B0503020000020004" pitchFamily="50" charset="-127"/>
      <p:regular r:id="rId44"/>
      <p:bold r:id="rId45"/>
    </p:embeddedFont>
    <p:embeddedFont>
      <p:font typeface="맑은 고딕" panose="020B0503020000020004" pitchFamily="50" charset="-127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FxIJpB1/VZD4M3ZLEmE5ULnrU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7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63EB252D-EE5A-B121-82E3-2BC6B28C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:notes">
            <a:extLst>
              <a:ext uri="{FF2B5EF4-FFF2-40B4-BE49-F238E27FC236}">
                <a16:creationId xmlns:a16="http://schemas.microsoft.com/office/drawing/2014/main" id="{8A109870-8000-23F4-66A5-11FEE8538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:notes">
            <a:extLst>
              <a:ext uri="{FF2B5EF4-FFF2-40B4-BE49-F238E27FC236}">
                <a16:creationId xmlns:a16="http://schemas.microsoft.com/office/drawing/2014/main" id="{8F8B168E-DD6C-403F-0C39-E1FFDB757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2507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20D4BF4B-9183-ED83-E2C9-54BBC483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:notes">
            <a:extLst>
              <a:ext uri="{FF2B5EF4-FFF2-40B4-BE49-F238E27FC236}">
                <a16:creationId xmlns:a16="http://schemas.microsoft.com/office/drawing/2014/main" id="{E29E521C-B97F-EE1D-FAEE-8D8B27C59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:notes">
            <a:extLst>
              <a:ext uri="{FF2B5EF4-FFF2-40B4-BE49-F238E27FC236}">
                <a16:creationId xmlns:a16="http://schemas.microsoft.com/office/drawing/2014/main" id="{4B2606C1-4158-3F07-8F93-E2D2C0354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2771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B3ECE825-AF23-7DF3-9922-04C8B770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:notes">
            <a:extLst>
              <a:ext uri="{FF2B5EF4-FFF2-40B4-BE49-F238E27FC236}">
                <a16:creationId xmlns:a16="http://schemas.microsoft.com/office/drawing/2014/main" id="{8B14A2BF-D054-561B-2EC0-473E952B9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:notes">
            <a:extLst>
              <a:ext uri="{FF2B5EF4-FFF2-40B4-BE49-F238E27FC236}">
                <a16:creationId xmlns:a16="http://schemas.microsoft.com/office/drawing/2014/main" id="{70B830C7-5343-A2FF-0271-DF77CE820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8684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E1609970-4E02-34E1-2034-B7FA3E7E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:notes">
            <a:extLst>
              <a:ext uri="{FF2B5EF4-FFF2-40B4-BE49-F238E27FC236}">
                <a16:creationId xmlns:a16="http://schemas.microsoft.com/office/drawing/2014/main" id="{027481AE-CAAB-8AB6-2DA3-E0DC32A5D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:notes">
            <a:extLst>
              <a:ext uri="{FF2B5EF4-FFF2-40B4-BE49-F238E27FC236}">
                <a16:creationId xmlns:a16="http://schemas.microsoft.com/office/drawing/2014/main" id="{A67BCFFF-3DB1-51D7-EB71-EBE773380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775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D585-8B55-FB9A-E014-7681A91E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FE508-83D7-1CD6-A844-D2B7ABB79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CBDB20-76DB-5A3A-3535-9BA0A20CD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9F8D7-44D8-3650-3033-06CA9CA51D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801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A8ED163A-85E0-DBCA-517A-32A1BFB3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EB8944F2-EEF9-3804-C475-47A01E238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C7FC2D77-D262-AD17-D92C-22D248CF39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C8B4872C-388D-88F9-CCA5-37AAC8118C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10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286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DC016E76-8ADB-9375-A4AD-1CAF1750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B82390B0-9926-3301-591A-0E1D033E5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0F719F4F-1426-241F-3BC3-C8F7CF53B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7F2170E5-AC7B-6799-79F3-5A3F9757F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11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629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7636BC67-72F8-4436-72F0-03CD087B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0AD61074-8280-FCF0-CCA9-0E1DF8BBE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DF40E3BE-6DD6-CB3E-1DC8-C4C3BCF64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F2BFE983-0E94-CC88-EBCC-7E2010BD0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12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787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B8EB0D9C-8B9E-50A5-FCA9-9BC334B24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1B34DCF5-BF71-73EA-A1ED-2BA4AA3D6E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1B6BDA4B-B260-0C10-5051-C6EFEAAB5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8EAE3413-B7AB-43FD-97E3-54F86A931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13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614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7C0AACDA-6990-CE8C-0BBB-D727D997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ED3F7DF7-E364-EBB1-88EB-546DA419F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6CAC6D32-B671-BB04-AA4F-4062772ED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0F812289-B4E8-0EE1-D23D-AD534532B7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14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944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500EE914-0FE7-BDB2-A7D2-52F755CAF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D1DEA395-730F-DDFA-3A90-D8E9CCEFC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68117AB4-09CA-ADD3-4A23-BE66E34B3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870EA726-4CC4-10F2-526E-DFB751458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15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028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D0996329-ABFC-8DA4-416B-E4C1A111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72CF2BE3-03D4-906F-B438-80F52968B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BA8F609B-39D9-5F8A-3480-82D7DEEC5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DF670C0B-C2D0-461B-4301-B719CC7B09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16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381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19DE7AAA-7B90-3B24-E93A-22F714C8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7BD15F57-69DC-DA8B-292F-71FE6BB08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BD1E9F49-2132-7968-2EE9-6C055ACF4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6A549EA6-7EFC-C46F-DD57-35B6ED8C98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17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709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6CBCD740-85FB-00EA-651B-DC52F043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DBA8D028-D9B3-A733-BC37-5AB5589D5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52DE32CF-FC23-1AE3-1755-4325EB6ED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441785D9-D564-3FD2-92AC-A4AE52B378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18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206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3BE05DCA-DEBD-8E3F-7B01-1C056DC0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371BC9A3-B910-BC4E-D03B-CD691D211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8C85432B-E865-2D5D-C838-670DBD9D7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0076D121-9B1B-6F3C-EE6F-1C179B662F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19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37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AA34CC8D-0216-1902-7E14-FA17EE69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1188DD4A-417D-193B-40BF-1CA21155F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41418303-2CCA-3F34-3CA1-14F622E2C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F0F78A31-FB26-6174-3950-675DE2A80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20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01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472394E7-AE63-4FC0-1561-2FAED506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75C8D3B9-E87C-1F8A-D306-5F74EFC51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51288BF2-2B56-F3B0-4D72-4C12F7524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1AEC45F4-6B74-9115-682D-126A838F49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21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49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3A1CEB6F-45A4-C3A0-56C2-F82FD1BF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BB14F62F-A62C-7E65-AA0D-BC05DADE6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3F9AB15C-6130-07A8-6EAB-979817A8B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A6EDBB8F-FF8B-42DD-61FD-07E7C8F5B1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22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6089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7C189E7A-5078-2916-98F8-3418A443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0F533F46-D8D0-5991-3E5C-B9059A055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0C3CCA9F-57BB-26E0-91CE-E763FBD7B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DDF9FF2F-F7F0-554E-449F-466B6A2499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23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159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206E77C3-85BB-46D0-D07D-00B9A5AA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5:notes">
            <a:extLst>
              <a:ext uri="{FF2B5EF4-FFF2-40B4-BE49-F238E27FC236}">
                <a16:creationId xmlns:a16="http://schemas.microsoft.com/office/drawing/2014/main" id="{B307AF2D-7445-8B5C-6022-2DF48D77D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639763"/>
            <a:ext cx="5546725" cy="3121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2" name="Google Shape;1262;p75:notes">
            <a:extLst>
              <a:ext uri="{FF2B5EF4-FFF2-40B4-BE49-F238E27FC236}">
                <a16:creationId xmlns:a16="http://schemas.microsoft.com/office/drawing/2014/main" id="{3AAD6512-723F-A6DC-C1C2-945751353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4000500"/>
            <a:ext cx="63398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83306" indent="-241653"/>
            <a:endParaRPr dirty="0">
              <a:latin typeface="Metropolis" panose="00000500000000000000" pitchFamily="2" charset="0"/>
            </a:endParaRPr>
          </a:p>
        </p:txBody>
      </p:sp>
      <p:sp>
        <p:nvSpPr>
          <p:cNvPr id="1263" name="Google Shape;1263;p75:notes">
            <a:extLst>
              <a:ext uri="{FF2B5EF4-FFF2-40B4-BE49-F238E27FC236}">
                <a16:creationId xmlns:a16="http://schemas.microsoft.com/office/drawing/2014/main" id="{7260E0A6-E867-4FE8-FB06-614DA84266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>
                <a:solidFill>
                  <a:schemeClr val="dk1"/>
                </a:solidFill>
              </a:rPr>
              <a:pPr algn="r">
                <a:buSzPts val="1200"/>
              </a:pPr>
              <a:t>24</a:t>
            </a:fld>
            <a:endParaRPr sz="13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354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72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A | Title Slide - Leaf">
  <p:cSld name="Title Slide – Leaf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0"/>
          <p:cNvPicPr preferRelativeResize="0"/>
          <p:nvPr/>
        </p:nvPicPr>
        <p:blipFill rotWithShape="1">
          <a:blip r:embed="rId2">
            <a:alphaModFix/>
          </a:blip>
          <a:srcRect l="1037" r="1978" b="1787"/>
          <a:stretch/>
        </p:blipFill>
        <p:spPr>
          <a:xfrm>
            <a:off x="1" y="658110"/>
            <a:ext cx="12192401" cy="6207660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4509"/>
              </a:schemeClr>
            </a:outerShdw>
          </a:effectLst>
        </p:spPr>
      </p:pic>
      <p:sp>
        <p:nvSpPr>
          <p:cNvPr id="35" name="Google Shape;35;p20"/>
          <p:cNvSpPr/>
          <p:nvPr/>
        </p:nvSpPr>
        <p:spPr>
          <a:xfrm>
            <a:off x="-3810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7000">
                <a:schemeClr val="accent4"/>
              </a:gs>
              <a:gs pos="83000">
                <a:schemeClr val="accent3"/>
              </a:gs>
              <a:gs pos="100000">
                <a:schemeClr val="accent3"/>
              </a:gs>
            </a:gsLst>
            <a:lin ang="1920016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0"/>
          <p:cNvSpPr/>
          <p:nvPr/>
        </p:nvSpPr>
        <p:spPr>
          <a:xfrm>
            <a:off x="-7657" y="648484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20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38" name="Google Shape;38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9" name="Google Shape;39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50" name="Google Shape;50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20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58" name="Google Shape;58;p20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59;p20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" name="Google Shape;60;p20"/>
          <p:cNvSpPr txBox="1">
            <a:spLocks noGrp="1"/>
          </p:cNvSpPr>
          <p:nvPr>
            <p:ph type="title"/>
          </p:nvPr>
        </p:nvSpPr>
        <p:spPr>
          <a:xfrm>
            <a:off x="6547100" y="1700775"/>
            <a:ext cx="50292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subTitle" idx="1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2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3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  <a:defRPr sz="1600"/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 sz="1600"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  <a:defRPr sz="1600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4"/>
          </p:nvPr>
        </p:nvSpPr>
        <p:spPr>
          <a:xfrm>
            <a:off x="6547100" y="548640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​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–"/>
              <a:defRPr sz="1400"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marL="2743200" lvl="5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marL="3657600" lvl="7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1_Title, Sub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​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C | Quote - Plum">
  <p:cSld name="Quote – Leaf_2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1" y="1"/>
            <a:ext cx="12197292" cy="6026415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9019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4"/>
          <p:cNvSpPr/>
          <p:nvPr/>
        </p:nvSpPr>
        <p:spPr>
          <a:xfrm>
            <a:off x="-8466" y="1838848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rgbClr val="6C4B8F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4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107" name="Google Shape;107;p24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4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4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4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19" name="Google Shape;119;p24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4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4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27" name="Google Shape;127;p24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28" name="Google Shape;128;p24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24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0" name="Google Shape;130;p24"/>
          <p:cNvSpPr>
            <a:spLocks noGrp="1"/>
          </p:cNvSpPr>
          <p:nvPr>
            <p:ph type="pic" idx="2"/>
          </p:nvPr>
        </p:nvSpPr>
        <p:spPr>
          <a:xfrm>
            <a:off x="8924544" y="4617720"/>
            <a:ext cx="27432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281172" y="1600200"/>
            <a:ext cx="54147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“"/>
              <a:defRPr>
                <a:solidFill>
                  <a:schemeClr val="accent2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“"/>
              <a:defRPr>
                <a:solidFill>
                  <a:schemeClr val="accent2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“"/>
              <a:defRPr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7pPr>
            <a:lvl8pPr marL="3657600" lvl="7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2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20"/>
              <a:buChar char="-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3"/>
          </p:nvPr>
        </p:nvSpPr>
        <p:spPr>
          <a:xfrm>
            <a:off x="603504" y="5065776"/>
            <a:ext cx="458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–"/>
              <a:defRPr/>
            </a:lvl5pPr>
            <a:lvl6pPr marL="2743200" lvl="5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  <a:defRPr/>
            </a:lvl7pPr>
            <a:lvl8pPr marL="3657600" lvl="7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A | Grid">
  <p:cSld name="CUSTOM_1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5"/>
          <p:cNvGrpSpPr/>
          <p:nvPr/>
        </p:nvGrpSpPr>
        <p:grpSpPr>
          <a:xfrm>
            <a:off x="0" y="0"/>
            <a:ext cx="12192784" cy="6858000"/>
            <a:chOff x="-254" y="0"/>
            <a:chExt cx="12189127" cy="6858000"/>
          </a:xfrm>
        </p:grpSpPr>
        <p:grpSp>
          <p:nvGrpSpPr>
            <p:cNvPr id="135" name="Google Shape;135;p25"/>
            <p:cNvGrpSpPr/>
            <p:nvPr/>
          </p:nvGrpSpPr>
          <p:grpSpPr>
            <a:xfrm>
              <a:off x="-254" y="0"/>
              <a:ext cx="12189127" cy="6858000"/>
              <a:chOff x="-127" y="-4574"/>
              <a:chExt cx="12189127" cy="6858000"/>
            </a:xfrm>
          </p:grpSpPr>
          <p:grpSp>
            <p:nvGrpSpPr>
              <p:cNvPr id="136" name="Google Shape;136;p25"/>
              <p:cNvGrpSpPr/>
              <p:nvPr/>
            </p:nvGrpSpPr>
            <p:grpSpPr>
              <a:xfrm>
                <a:off x="0" y="-4574"/>
                <a:ext cx="12189000" cy="6858000"/>
                <a:chOff x="12729307" y="-4574"/>
                <a:chExt cx="12189000" cy="6858000"/>
              </a:xfrm>
            </p:grpSpPr>
            <p:cxnSp>
              <p:nvCxnSpPr>
                <p:cNvPr id="137" name="Google Shape;137;p25"/>
                <p:cNvCxnSpPr/>
                <p:nvPr/>
              </p:nvCxnSpPr>
              <p:spPr>
                <a:xfrm>
                  <a:off x="12729307" y="1367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8" name="Google Shape;138;p25"/>
                <p:cNvCxnSpPr/>
                <p:nvPr/>
              </p:nvCxnSpPr>
              <p:spPr>
                <a:xfrm>
                  <a:off x="12729307" y="1709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39" name="Google Shape;139;p25"/>
                <p:cNvCxnSpPr/>
                <p:nvPr/>
              </p:nvCxnSpPr>
              <p:spPr>
                <a:xfrm>
                  <a:off x="12729307" y="1024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0" name="Google Shape;140;p25"/>
                <p:cNvCxnSpPr/>
                <p:nvPr/>
              </p:nvCxnSpPr>
              <p:spPr>
                <a:xfrm>
                  <a:off x="12729307" y="681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1" name="Google Shape;141;p25"/>
                <p:cNvCxnSpPr/>
                <p:nvPr/>
              </p:nvCxnSpPr>
              <p:spPr>
                <a:xfrm>
                  <a:off x="12729307" y="338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2" name="Google Shape;142;p25"/>
                <p:cNvCxnSpPr/>
                <p:nvPr/>
              </p:nvCxnSpPr>
              <p:spPr>
                <a:xfrm>
                  <a:off x="12729307" y="-4574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3" name="Google Shape;143;p25"/>
                <p:cNvCxnSpPr/>
                <p:nvPr/>
              </p:nvCxnSpPr>
              <p:spPr>
                <a:xfrm>
                  <a:off x="12729307" y="3081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4" name="Google Shape;144;p25"/>
                <p:cNvCxnSpPr/>
                <p:nvPr/>
              </p:nvCxnSpPr>
              <p:spPr>
                <a:xfrm>
                  <a:off x="12729307" y="3424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5" name="Google Shape;145;p25"/>
                <p:cNvCxnSpPr/>
                <p:nvPr/>
              </p:nvCxnSpPr>
              <p:spPr>
                <a:xfrm>
                  <a:off x="12729307" y="2738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6" name="Google Shape;146;p25"/>
                <p:cNvCxnSpPr/>
                <p:nvPr/>
              </p:nvCxnSpPr>
              <p:spPr>
                <a:xfrm>
                  <a:off x="12729307" y="2395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7" name="Google Shape;147;p25"/>
                <p:cNvCxnSpPr/>
                <p:nvPr/>
              </p:nvCxnSpPr>
              <p:spPr>
                <a:xfrm>
                  <a:off x="12729307" y="2052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8" name="Google Shape;148;p25"/>
                <p:cNvCxnSpPr/>
                <p:nvPr/>
              </p:nvCxnSpPr>
              <p:spPr>
                <a:xfrm>
                  <a:off x="12729307" y="4796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49" name="Google Shape;149;p25"/>
                <p:cNvCxnSpPr/>
                <p:nvPr/>
              </p:nvCxnSpPr>
              <p:spPr>
                <a:xfrm>
                  <a:off x="12729307" y="5138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0" name="Google Shape;150;p25"/>
                <p:cNvCxnSpPr/>
                <p:nvPr/>
              </p:nvCxnSpPr>
              <p:spPr>
                <a:xfrm>
                  <a:off x="12729307" y="4453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1" name="Google Shape;151;p25"/>
                <p:cNvCxnSpPr/>
                <p:nvPr/>
              </p:nvCxnSpPr>
              <p:spPr>
                <a:xfrm>
                  <a:off x="12729307" y="4110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2" name="Google Shape;152;p25"/>
                <p:cNvCxnSpPr/>
                <p:nvPr/>
              </p:nvCxnSpPr>
              <p:spPr>
                <a:xfrm>
                  <a:off x="12729307" y="3767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3" name="Google Shape;153;p25"/>
                <p:cNvCxnSpPr/>
                <p:nvPr/>
              </p:nvCxnSpPr>
              <p:spPr>
                <a:xfrm>
                  <a:off x="12729307" y="6510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4" name="Google Shape;154;p25"/>
                <p:cNvCxnSpPr/>
                <p:nvPr/>
              </p:nvCxnSpPr>
              <p:spPr>
                <a:xfrm>
                  <a:off x="12729307" y="6853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5" name="Google Shape;155;p25"/>
                <p:cNvCxnSpPr/>
                <p:nvPr/>
              </p:nvCxnSpPr>
              <p:spPr>
                <a:xfrm>
                  <a:off x="12729307" y="5824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6" name="Google Shape;156;p25"/>
                <p:cNvCxnSpPr/>
                <p:nvPr/>
              </p:nvCxnSpPr>
              <p:spPr>
                <a:xfrm>
                  <a:off x="12729307" y="5481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57" name="Google Shape;157;p25"/>
                <p:cNvCxnSpPr/>
                <p:nvPr/>
              </p:nvCxnSpPr>
              <p:spPr>
                <a:xfrm>
                  <a:off x="12729307" y="6167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58" name="Google Shape;158;p25"/>
              <p:cNvGrpSpPr/>
              <p:nvPr/>
            </p:nvGrpSpPr>
            <p:grpSpPr>
              <a:xfrm>
                <a:off x="-127" y="109726"/>
                <a:ext cx="12189000" cy="6629400"/>
                <a:chOff x="12729307" y="109726"/>
                <a:chExt cx="12189000" cy="6629400"/>
              </a:xfrm>
            </p:grpSpPr>
            <p:cxnSp>
              <p:nvCxnSpPr>
                <p:cNvPr id="159" name="Google Shape;159;p25"/>
                <p:cNvCxnSpPr/>
                <p:nvPr/>
              </p:nvCxnSpPr>
              <p:spPr>
                <a:xfrm>
                  <a:off x="12729307" y="1481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0" name="Google Shape;160;p25"/>
                <p:cNvCxnSpPr/>
                <p:nvPr/>
              </p:nvCxnSpPr>
              <p:spPr>
                <a:xfrm>
                  <a:off x="12729307" y="1824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1" name="Google Shape;161;p25"/>
                <p:cNvCxnSpPr/>
                <p:nvPr/>
              </p:nvCxnSpPr>
              <p:spPr>
                <a:xfrm>
                  <a:off x="12729307" y="1138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2" name="Google Shape;162;p25"/>
                <p:cNvCxnSpPr/>
                <p:nvPr/>
              </p:nvCxnSpPr>
              <p:spPr>
                <a:xfrm>
                  <a:off x="12729307" y="795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3" name="Google Shape;163;p25"/>
                <p:cNvCxnSpPr/>
                <p:nvPr/>
              </p:nvCxnSpPr>
              <p:spPr>
                <a:xfrm>
                  <a:off x="12729307" y="452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4" name="Google Shape;164;p25"/>
                <p:cNvCxnSpPr/>
                <p:nvPr/>
              </p:nvCxnSpPr>
              <p:spPr>
                <a:xfrm>
                  <a:off x="12729307" y="109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5" name="Google Shape;165;p25"/>
                <p:cNvCxnSpPr/>
                <p:nvPr/>
              </p:nvCxnSpPr>
              <p:spPr>
                <a:xfrm>
                  <a:off x="12729307" y="3195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6" name="Google Shape;166;p25"/>
                <p:cNvCxnSpPr/>
                <p:nvPr/>
              </p:nvCxnSpPr>
              <p:spPr>
                <a:xfrm>
                  <a:off x="12729307" y="3538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7" name="Google Shape;167;p25"/>
                <p:cNvCxnSpPr/>
                <p:nvPr/>
              </p:nvCxnSpPr>
              <p:spPr>
                <a:xfrm>
                  <a:off x="12729307" y="2852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8" name="Google Shape;168;p25"/>
                <p:cNvCxnSpPr/>
                <p:nvPr/>
              </p:nvCxnSpPr>
              <p:spPr>
                <a:xfrm>
                  <a:off x="12729307" y="2510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9" name="Google Shape;169;p25"/>
                <p:cNvCxnSpPr/>
                <p:nvPr/>
              </p:nvCxnSpPr>
              <p:spPr>
                <a:xfrm>
                  <a:off x="12729307" y="2167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0" name="Google Shape;170;p25"/>
                <p:cNvCxnSpPr/>
                <p:nvPr/>
              </p:nvCxnSpPr>
              <p:spPr>
                <a:xfrm>
                  <a:off x="12729307" y="4910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1" name="Google Shape;171;p25"/>
                <p:cNvCxnSpPr/>
                <p:nvPr/>
              </p:nvCxnSpPr>
              <p:spPr>
                <a:xfrm>
                  <a:off x="12729307" y="5253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2" name="Google Shape;172;p25"/>
                <p:cNvCxnSpPr/>
                <p:nvPr/>
              </p:nvCxnSpPr>
              <p:spPr>
                <a:xfrm>
                  <a:off x="12729307" y="4567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3" name="Google Shape;173;p25"/>
                <p:cNvCxnSpPr/>
                <p:nvPr/>
              </p:nvCxnSpPr>
              <p:spPr>
                <a:xfrm>
                  <a:off x="12729307" y="4224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4" name="Google Shape;174;p25"/>
                <p:cNvCxnSpPr/>
                <p:nvPr/>
              </p:nvCxnSpPr>
              <p:spPr>
                <a:xfrm>
                  <a:off x="12729307" y="3881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5" name="Google Shape;175;p25"/>
                <p:cNvCxnSpPr/>
                <p:nvPr/>
              </p:nvCxnSpPr>
              <p:spPr>
                <a:xfrm>
                  <a:off x="12729307" y="6624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6" name="Google Shape;176;p25"/>
                <p:cNvCxnSpPr/>
                <p:nvPr/>
              </p:nvCxnSpPr>
              <p:spPr>
                <a:xfrm>
                  <a:off x="12729307" y="6281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7" name="Google Shape;177;p25"/>
                <p:cNvCxnSpPr/>
                <p:nvPr/>
              </p:nvCxnSpPr>
              <p:spPr>
                <a:xfrm>
                  <a:off x="12729307" y="5939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8" name="Google Shape;178;p25"/>
                <p:cNvCxnSpPr/>
                <p:nvPr/>
              </p:nvCxnSpPr>
              <p:spPr>
                <a:xfrm>
                  <a:off x="12729307" y="5596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9" name="Google Shape;179;p25"/>
                <p:cNvCxnSpPr/>
                <p:nvPr/>
              </p:nvCxnSpPr>
              <p:spPr>
                <a:xfrm>
                  <a:off x="12729307" y="1595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0" name="Google Shape;180;p25"/>
                <p:cNvCxnSpPr/>
                <p:nvPr/>
              </p:nvCxnSpPr>
              <p:spPr>
                <a:xfrm>
                  <a:off x="12729307" y="1938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1" name="Google Shape;181;p25"/>
                <p:cNvCxnSpPr/>
                <p:nvPr/>
              </p:nvCxnSpPr>
              <p:spPr>
                <a:xfrm>
                  <a:off x="12729307" y="1252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2" name="Google Shape;182;p25"/>
                <p:cNvCxnSpPr/>
                <p:nvPr/>
              </p:nvCxnSpPr>
              <p:spPr>
                <a:xfrm>
                  <a:off x="12729307" y="909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3" name="Google Shape;183;p25"/>
                <p:cNvCxnSpPr/>
                <p:nvPr/>
              </p:nvCxnSpPr>
              <p:spPr>
                <a:xfrm>
                  <a:off x="12729307" y="566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4" name="Google Shape;184;p25"/>
                <p:cNvCxnSpPr/>
                <p:nvPr/>
              </p:nvCxnSpPr>
              <p:spPr>
                <a:xfrm>
                  <a:off x="12729307" y="224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5" name="Google Shape;185;p25"/>
                <p:cNvCxnSpPr/>
                <p:nvPr/>
              </p:nvCxnSpPr>
              <p:spPr>
                <a:xfrm>
                  <a:off x="12729307" y="3310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6" name="Google Shape;186;p25"/>
                <p:cNvCxnSpPr/>
                <p:nvPr/>
              </p:nvCxnSpPr>
              <p:spPr>
                <a:xfrm>
                  <a:off x="12729307" y="36530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7" name="Google Shape;187;p25"/>
                <p:cNvCxnSpPr/>
                <p:nvPr/>
              </p:nvCxnSpPr>
              <p:spPr>
                <a:xfrm>
                  <a:off x="12729307" y="2967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8" name="Google Shape;188;p25"/>
                <p:cNvCxnSpPr/>
                <p:nvPr/>
              </p:nvCxnSpPr>
              <p:spPr>
                <a:xfrm>
                  <a:off x="12729307" y="2624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9" name="Google Shape;189;p25"/>
                <p:cNvCxnSpPr/>
                <p:nvPr/>
              </p:nvCxnSpPr>
              <p:spPr>
                <a:xfrm>
                  <a:off x="12729307" y="2281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0" name="Google Shape;190;p25"/>
                <p:cNvCxnSpPr/>
                <p:nvPr/>
              </p:nvCxnSpPr>
              <p:spPr>
                <a:xfrm>
                  <a:off x="12729307" y="50246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1" name="Google Shape;191;p25"/>
                <p:cNvCxnSpPr/>
                <p:nvPr/>
              </p:nvCxnSpPr>
              <p:spPr>
                <a:xfrm>
                  <a:off x="12729307" y="53675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2" name="Google Shape;192;p25"/>
                <p:cNvCxnSpPr/>
                <p:nvPr/>
              </p:nvCxnSpPr>
              <p:spPr>
                <a:xfrm>
                  <a:off x="12729307" y="46817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3" name="Google Shape;193;p25"/>
                <p:cNvCxnSpPr/>
                <p:nvPr/>
              </p:nvCxnSpPr>
              <p:spPr>
                <a:xfrm>
                  <a:off x="12729307" y="43388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4" name="Google Shape;194;p25"/>
                <p:cNvCxnSpPr/>
                <p:nvPr/>
              </p:nvCxnSpPr>
              <p:spPr>
                <a:xfrm>
                  <a:off x="12729307" y="39959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5" name="Google Shape;195;p25"/>
                <p:cNvCxnSpPr/>
                <p:nvPr/>
              </p:nvCxnSpPr>
              <p:spPr>
                <a:xfrm>
                  <a:off x="12729307" y="67391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6" name="Google Shape;196;p25"/>
                <p:cNvCxnSpPr/>
                <p:nvPr/>
              </p:nvCxnSpPr>
              <p:spPr>
                <a:xfrm>
                  <a:off x="12729307" y="63962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7" name="Google Shape;197;p25"/>
                <p:cNvCxnSpPr/>
                <p:nvPr/>
              </p:nvCxnSpPr>
              <p:spPr>
                <a:xfrm>
                  <a:off x="12729307" y="60533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98" name="Google Shape;198;p25"/>
                <p:cNvCxnSpPr/>
                <p:nvPr/>
              </p:nvCxnSpPr>
              <p:spPr>
                <a:xfrm>
                  <a:off x="12729307" y="5710426"/>
                  <a:ext cx="12189000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rgbClr val="0193C2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99" name="Google Shape;199;p25"/>
            <p:cNvGrpSpPr/>
            <p:nvPr/>
          </p:nvGrpSpPr>
          <p:grpSpPr>
            <a:xfrm>
              <a:off x="971126" y="0"/>
              <a:ext cx="10247334" cy="6858000"/>
              <a:chOff x="971253" y="0"/>
              <a:chExt cx="10247334" cy="6858000"/>
            </a:xfrm>
          </p:grpSpPr>
          <p:cxnSp>
            <p:nvCxnSpPr>
              <p:cNvPr id="200" name="Google Shape;200;p25"/>
              <p:cNvCxnSpPr/>
              <p:nvPr/>
            </p:nvCxnSpPr>
            <p:spPr>
              <a:xfrm flipH="1">
                <a:off x="971253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25"/>
              <p:cNvCxnSpPr/>
              <p:nvPr/>
            </p:nvCxnSpPr>
            <p:spPr>
              <a:xfrm flipH="1">
                <a:off x="1902720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25"/>
              <p:cNvCxnSpPr/>
              <p:nvPr/>
            </p:nvCxnSpPr>
            <p:spPr>
              <a:xfrm flipH="1">
                <a:off x="2834187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3" name="Google Shape;203;p25"/>
              <p:cNvCxnSpPr/>
              <p:nvPr/>
            </p:nvCxnSpPr>
            <p:spPr>
              <a:xfrm flipH="1">
                <a:off x="3765654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4" name="Google Shape;204;p25"/>
              <p:cNvCxnSpPr/>
              <p:nvPr/>
            </p:nvCxnSpPr>
            <p:spPr>
              <a:xfrm flipH="1">
                <a:off x="4697121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5" name="Google Shape;205;p25"/>
              <p:cNvCxnSpPr/>
              <p:nvPr/>
            </p:nvCxnSpPr>
            <p:spPr>
              <a:xfrm flipH="1">
                <a:off x="5628588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25"/>
              <p:cNvCxnSpPr/>
              <p:nvPr/>
            </p:nvCxnSpPr>
            <p:spPr>
              <a:xfrm flipH="1">
                <a:off x="6560055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7" name="Google Shape;207;p25"/>
              <p:cNvCxnSpPr/>
              <p:nvPr/>
            </p:nvCxnSpPr>
            <p:spPr>
              <a:xfrm flipH="1">
                <a:off x="7491522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25"/>
              <p:cNvCxnSpPr/>
              <p:nvPr/>
            </p:nvCxnSpPr>
            <p:spPr>
              <a:xfrm flipH="1">
                <a:off x="8422989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9" name="Google Shape;209;p25"/>
              <p:cNvCxnSpPr/>
              <p:nvPr/>
            </p:nvCxnSpPr>
            <p:spPr>
              <a:xfrm flipH="1">
                <a:off x="9354456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0" name="Google Shape;210;p25"/>
              <p:cNvCxnSpPr/>
              <p:nvPr/>
            </p:nvCxnSpPr>
            <p:spPr>
              <a:xfrm flipH="1">
                <a:off x="10285923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1" name="Google Shape;211;p25"/>
              <p:cNvCxnSpPr/>
              <p:nvPr/>
            </p:nvCxnSpPr>
            <p:spPr>
              <a:xfrm flipH="1">
                <a:off x="11217387" y="0"/>
                <a:ext cx="1200" cy="6858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5B8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12" name="Google Shape;212;p25"/>
            <p:cNvGrpSpPr/>
            <p:nvPr/>
          </p:nvGrpSpPr>
          <p:grpSpPr>
            <a:xfrm>
              <a:off x="608758" y="448685"/>
              <a:ext cx="10971834" cy="5722702"/>
              <a:chOff x="608885" y="1604366"/>
              <a:chExt cx="10971834" cy="4567200"/>
            </a:xfrm>
          </p:grpSpPr>
          <p:sp>
            <p:nvSpPr>
              <p:cNvPr id="213" name="Google Shape;213;p25"/>
              <p:cNvSpPr/>
              <p:nvPr/>
            </p:nvSpPr>
            <p:spPr>
              <a:xfrm>
                <a:off x="608885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5"/>
              <p:cNvSpPr/>
              <p:nvPr/>
            </p:nvSpPr>
            <p:spPr>
              <a:xfrm>
                <a:off x="1540352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5"/>
              <p:cNvSpPr/>
              <p:nvPr/>
            </p:nvSpPr>
            <p:spPr>
              <a:xfrm>
                <a:off x="2471819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5"/>
              <p:cNvSpPr/>
              <p:nvPr/>
            </p:nvSpPr>
            <p:spPr>
              <a:xfrm>
                <a:off x="3403286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5"/>
              <p:cNvSpPr/>
              <p:nvPr/>
            </p:nvSpPr>
            <p:spPr>
              <a:xfrm>
                <a:off x="4334753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5"/>
              <p:cNvSpPr/>
              <p:nvPr/>
            </p:nvSpPr>
            <p:spPr>
              <a:xfrm>
                <a:off x="5266220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5"/>
              <p:cNvSpPr/>
              <p:nvPr/>
            </p:nvSpPr>
            <p:spPr>
              <a:xfrm>
                <a:off x="6197687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5"/>
              <p:cNvSpPr/>
              <p:nvPr/>
            </p:nvSpPr>
            <p:spPr>
              <a:xfrm>
                <a:off x="7129154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5"/>
              <p:cNvSpPr/>
              <p:nvPr/>
            </p:nvSpPr>
            <p:spPr>
              <a:xfrm>
                <a:off x="8060621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5"/>
              <p:cNvSpPr/>
              <p:nvPr/>
            </p:nvSpPr>
            <p:spPr>
              <a:xfrm>
                <a:off x="8992088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5"/>
              <p:cNvSpPr/>
              <p:nvPr/>
            </p:nvSpPr>
            <p:spPr>
              <a:xfrm>
                <a:off x="9923555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5"/>
              <p:cNvSpPr/>
              <p:nvPr/>
            </p:nvSpPr>
            <p:spPr>
              <a:xfrm>
                <a:off x="10855019" y="1604366"/>
                <a:ext cx="725700" cy="4567200"/>
              </a:xfrm>
              <a:prstGeom prst="rect">
                <a:avLst/>
              </a:prstGeom>
              <a:solidFill>
                <a:srgbClr val="B3E7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5" name="Google Shape;225;p25"/>
          <p:cNvSpPr txBox="1">
            <a:spLocks noGrp="1"/>
          </p:cNvSpPr>
          <p:nvPr>
            <p:ph type="sldNum" idx="12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options">
  <p:cSld name="04 options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>
            <a:spLocks noGrp="1"/>
          </p:cNvSpPr>
          <p:nvPr>
            <p:ph type="body" idx="1"/>
          </p:nvPr>
        </p:nvSpPr>
        <p:spPr>
          <a:xfrm>
            <a:off x="1106528" y="1762439"/>
            <a:ext cx="25311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2"/>
          </p:nvPr>
        </p:nvSpPr>
        <p:spPr>
          <a:xfrm>
            <a:off x="8903647" y="1221101"/>
            <a:ext cx="24888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body" idx="3"/>
          </p:nvPr>
        </p:nvSpPr>
        <p:spPr>
          <a:xfrm>
            <a:off x="8789375" y="1775139"/>
            <a:ext cx="26031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body" idx="4"/>
          </p:nvPr>
        </p:nvSpPr>
        <p:spPr>
          <a:xfrm>
            <a:off x="1106527" y="1221101"/>
            <a:ext cx="2531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body" idx="5"/>
          </p:nvPr>
        </p:nvSpPr>
        <p:spPr>
          <a:xfrm>
            <a:off x="1106528" y="4827584"/>
            <a:ext cx="25311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6"/>
          </p:nvPr>
        </p:nvSpPr>
        <p:spPr>
          <a:xfrm>
            <a:off x="1106527" y="4286246"/>
            <a:ext cx="2531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body" idx="7"/>
          </p:nvPr>
        </p:nvSpPr>
        <p:spPr>
          <a:xfrm>
            <a:off x="8903647" y="4286246"/>
            <a:ext cx="24888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9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2635"/>
              </a:buClr>
              <a:buSzPts val="2400"/>
              <a:buChar char="•"/>
              <a:defRPr sz="2399" b="1" i="0" u="none" strike="noStrike" cap="none">
                <a:solidFill>
                  <a:srgbClr val="FE263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8"/>
          </p:nvPr>
        </p:nvSpPr>
        <p:spPr>
          <a:xfrm>
            <a:off x="8789375" y="4840284"/>
            <a:ext cx="26031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7"/>
          <p:cNvPicPr preferRelativeResize="0"/>
          <p:nvPr/>
        </p:nvPicPr>
        <p:blipFill rotWithShape="1">
          <a:blip r:embed="rId2">
            <a:alphaModFix/>
          </a:blip>
          <a:srcRect l="3" r="2"/>
          <a:stretch/>
        </p:blipFill>
        <p:spPr>
          <a:xfrm>
            <a:off x="879" y="0"/>
            <a:ext cx="12187312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/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1645084" y="6461498"/>
            <a:ext cx="2592056" cy="12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1645084" y="6569434"/>
            <a:ext cx="3279744" cy="12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3" name="Google Shape;243;p2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4" name="Google Shape;244;p2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2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5" name="Google Shape;255;p2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" name="Google Shape;262;p27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7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6070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userDrawn="1">
  <p:cSld name="Title and Subtit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9"/>
          <p:cNvSpPr txBox="1">
            <a:spLocks noGrp="1"/>
          </p:cNvSpPr>
          <p:nvPr>
            <p:ph type="title"/>
          </p:nvPr>
        </p:nvSpPr>
        <p:spPr>
          <a:xfrm>
            <a:off x="599059" y="412751"/>
            <a:ext cx="109817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79"/>
          <p:cNvSpPr txBox="1">
            <a:spLocks noGrp="1"/>
          </p:cNvSpPr>
          <p:nvPr>
            <p:ph type="subTitle" idx="1"/>
          </p:nvPr>
        </p:nvSpPr>
        <p:spPr>
          <a:xfrm>
            <a:off x="599059" y="859455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tabLst/>
              <a:defRPr sz="1600">
                <a:solidFill>
                  <a:srgbClr val="3C3C3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9pPr>
          </a:lstStyle>
          <a:p>
            <a:endParaRPr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540EE2-5F48-3B80-DD93-DAF3017F9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0325" y="96638"/>
            <a:ext cx="3875088" cy="296862"/>
          </a:xfrm>
        </p:spPr>
        <p:txBody>
          <a:bodyPr anchor="ctr"/>
          <a:lstStyle>
            <a:lvl1pPr algn="r">
              <a:spcBef>
                <a:spcPts val="0"/>
              </a:spcBef>
              <a:defRPr sz="1200">
                <a:latin typeface="+mn-ea"/>
                <a:ea typeface="+mn-ea"/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325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A | Thank You - Leaf">
  <p:cSld name="7A | Thank You - Leaf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3"/>
          <p:cNvSpPr/>
          <p:nvPr/>
        </p:nvSpPr>
        <p:spPr>
          <a:xfrm>
            <a:off x="1" y="0"/>
            <a:ext cx="12189334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4509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23"/>
          <p:cNvGrpSpPr/>
          <p:nvPr/>
        </p:nvGrpSpPr>
        <p:grpSpPr>
          <a:xfrm>
            <a:off x="265626" y="6323271"/>
            <a:ext cx="1249222" cy="369649"/>
            <a:chOff x="265625" y="6323271"/>
            <a:chExt cx="1249222" cy="369649"/>
          </a:xfrm>
        </p:grpSpPr>
        <p:grpSp>
          <p:nvGrpSpPr>
            <p:cNvPr id="79" name="Google Shape;79;p23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0" name="Google Shape;80;p23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3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3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3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23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1" name="Google Shape;91;p23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3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3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3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3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3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8" name="Google Shape;98;p23"/>
          <p:cNvSpPr/>
          <p:nvPr/>
        </p:nvSpPr>
        <p:spPr>
          <a:xfrm>
            <a:off x="0" y="1"/>
            <a:ext cx="8364202" cy="5151382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3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100" name="Google Shape;100;p23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" name="Google Shape;101;p23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2" name="Google Shape;102;p23"/>
          <p:cNvSpPr txBox="1"/>
          <p:nvPr/>
        </p:nvSpPr>
        <p:spPr>
          <a:xfrm>
            <a:off x="7124768" y="4133698"/>
            <a:ext cx="3586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ko-KR" sz="50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5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7630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9"/>
          <p:cNvGrpSpPr/>
          <p:nvPr/>
        </p:nvGrpSpPr>
        <p:grpSpPr>
          <a:xfrm>
            <a:off x="265706" y="6323271"/>
            <a:ext cx="1249597" cy="369649"/>
            <a:chOff x="265625" y="6323271"/>
            <a:chExt cx="1249222" cy="369649"/>
          </a:xfrm>
        </p:grpSpPr>
        <p:grpSp>
          <p:nvGrpSpPr>
            <p:cNvPr id="7" name="Google Shape;7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" name="Google Shape;8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9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0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1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" name="Google Shape;19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" name="Google Shape;26;p19"/>
          <p:cNvSpPr/>
          <p:nvPr/>
        </p:nvSpPr>
        <p:spPr>
          <a:xfrm>
            <a:off x="1613" y="0"/>
            <a:ext cx="1218571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rgbClr val="61A00A"/>
              </a:gs>
              <a:gs pos="25000">
                <a:srgbClr val="007A86"/>
              </a:gs>
              <a:gs pos="50000">
                <a:srgbClr val="0193C2"/>
              </a:gs>
              <a:gs pos="75000">
                <a:srgbClr val="005B84"/>
              </a:gs>
              <a:gs pos="100000">
                <a:srgbClr val="6C4B8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19"/>
          <p:cNvGrpSpPr/>
          <p:nvPr/>
        </p:nvGrpSpPr>
        <p:grpSpPr>
          <a:xfrm>
            <a:off x="1645525" y="6478316"/>
            <a:ext cx="4021200" cy="220291"/>
            <a:chOff x="1645525" y="6478316"/>
            <a:chExt cx="4021200" cy="220291"/>
          </a:xfrm>
        </p:grpSpPr>
        <p:sp>
          <p:nvSpPr>
            <p:cNvPr id="28" name="Google Shape;28;p19"/>
            <p:cNvSpPr txBox="1"/>
            <p:nvPr/>
          </p:nvSpPr>
          <p:spPr>
            <a:xfrm>
              <a:off x="1645525" y="6478316"/>
              <a:ext cx="31479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Broadcom Proprietary and Confidential. Copyright © 2025 Broadcom.  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29;p19"/>
            <p:cNvSpPr txBox="1"/>
            <p:nvPr/>
          </p:nvSpPr>
          <p:spPr>
            <a:xfrm>
              <a:off x="1645525" y="6590907"/>
              <a:ext cx="40212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ko-KR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Rights Reserved. The term “Broadcom” refers to Broadcom Inc. and/or its subsidiaries.</a:t>
              </a:r>
              <a:endParaRPr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11494008" y="6464808"/>
            <a:ext cx="438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603504" y="1600203"/>
            <a:ext cx="109728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​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Roboto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Roboto"/>
              <a:buChar char="–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–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-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Roboto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Roboto"/>
              <a:buChar char="-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E46962"/>
          </p15:clr>
        </p15:guide>
        <p15:guide id="2">
          <p15:clr>
            <a:srgbClr val="E46962"/>
          </p15:clr>
        </p15:guide>
        <p15:guide id="3" pos="380">
          <p15:clr>
            <a:srgbClr val="E46962"/>
          </p15:clr>
        </p15:guide>
        <p15:guide id="4" pos="668">
          <p15:clr>
            <a:srgbClr val="E46962"/>
          </p15:clr>
        </p15:guide>
        <p15:guide id="5" pos="956">
          <p15:clr>
            <a:srgbClr val="E46962"/>
          </p15:clr>
        </p15:guide>
        <p15:guide id="6" pos="1244">
          <p15:clr>
            <a:srgbClr val="E46962"/>
          </p15:clr>
        </p15:guide>
        <p15:guide id="7" pos="1532">
          <p15:clr>
            <a:srgbClr val="E46962"/>
          </p15:clr>
        </p15:guide>
        <p15:guide id="8" pos="1820">
          <p15:clr>
            <a:srgbClr val="E46962"/>
          </p15:clr>
        </p15:guide>
        <p15:guide id="9" pos="2108">
          <p15:clr>
            <a:srgbClr val="E46962"/>
          </p15:clr>
        </p15:guide>
        <p15:guide id="10" pos="2396">
          <p15:clr>
            <a:srgbClr val="E46962"/>
          </p15:clr>
        </p15:guide>
        <p15:guide id="11" pos="2684">
          <p15:clr>
            <a:srgbClr val="E46962"/>
          </p15:clr>
        </p15:guide>
        <p15:guide id="12" pos="2972">
          <p15:clr>
            <a:srgbClr val="E46962"/>
          </p15:clr>
        </p15:guide>
        <p15:guide id="13" pos="3260">
          <p15:clr>
            <a:srgbClr val="E46962"/>
          </p15:clr>
        </p15:guide>
        <p15:guide id="14" pos="3548">
          <p15:clr>
            <a:srgbClr val="E46962"/>
          </p15:clr>
        </p15:guide>
        <p15:guide id="15" pos="3836">
          <p15:clr>
            <a:srgbClr val="E46962"/>
          </p15:clr>
        </p15:guide>
        <p15:guide id="16" pos="4124">
          <p15:clr>
            <a:srgbClr val="E46962"/>
          </p15:clr>
        </p15:guide>
        <p15:guide id="17" pos="4412">
          <p15:clr>
            <a:srgbClr val="E46962"/>
          </p15:clr>
        </p15:guide>
        <p15:guide id="18" pos="4700">
          <p15:clr>
            <a:srgbClr val="E46962"/>
          </p15:clr>
        </p15:guide>
        <p15:guide id="19" pos="4988">
          <p15:clr>
            <a:srgbClr val="E46962"/>
          </p15:clr>
        </p15:guide>
        <p15:guide id="20" pos="5276">
          <p15:clr>
            <a:srgbClr val="E46962"/>
          </p15:clr>
        </p15:guide>
        <p15:guide id="21" pos="5564">
          <p15:clr>
            <a:srgbClr val="E46962"/>
          </p15:clr>
        </p15:guide>
        <p15:guide id="22" pos="5852">
          <p15:clr>
            <a:srgbClr val="E46962"/>
          </p15:clr>
        </p15:guide>
        <p15:guide id="23" pos="6140">
          <p15:clr>
            <a:srgbClr val="E46962"/>
          </p15:clr>
        </p15:guide>
        <p15:guide id="24" pos="6428">
          <p15:clr>
            <a:srgbClr val="E46962"/>
          </p15:clr>
        </p15:guide>
        <p15:guide id="25" pos="6716">
          <p15:clr>
            <a:srgbClr val="E46962"/>
          </p15:clr>
        </p15:guide>
        <p15:guide id="26" pos="7004">
          <p15:clr>
            <a:srgbClr val="E46962"/>
          </p15:clr>
        </p15:guide>
        <p15:guide id="27" pos="7292">
          <p15:clr>
            <a:srgbClr val="E46962"/>
          </p15:clr>
        </p15:guide>
        <p15:guide id="28" pos="7678">
          <p15:clr>
            <a:srgbClr val="E46962"/>
          </p15:clr>
        </p15:guide>
        <p15:guide id="29" orient="horz" pos="288">
          <p15:clr>
            <a:srgbClr val="E46962"/>
          </p15:clr>
        </p15:guide>
        <p15:guide id="30" orient="horz" pos="576">
          <p15:clr>
            <a:srgbClr val="E46962"/>
          </p15:clr>
        </p15:guide>
        <p15:guide id="31" orient="horz" pos="720">
          <p15:clr>
            <a:srgbClr val="E46962"/>
          </p15:clr>
        </p15:guide>
        <p15:guide id="32" orient="horz" pos="1008">
          <p15:clr>
            <a:srgbClr val="E46962"/>
          </p15:clr>
        </p15:guide>
        <p15:guide id="33" orient="horz" pos="1296">
          <p15:clr>
            <a:srgbClr val="E46962"/>
          </p15:clr>
        </p15:guide>
        <p15:guide id="34" orient="horz" pos="1584">
          <p15:clr>
            <a:srgbClr val="E46962"/>
          </p15:clr>
        </p15:guide>
        <p15:guide id="35" orient="horz" pos="1872">
          <p15:clr>
            <a:srgbClr val="E46962"/>
          </p15:clr>
        </p15:guide>
        <p15:guide id="36" orient="horz" pos="2160">
          <p15:clr>
            <a:srgbClr val="E46962"/>
          </p15:clr>
        </p15:guide>
        <p15:guide id="37" orient="horz" pos="2448">
          <p15:clr>
            <a:srgbClr val="E46962"/>
          </p15:clr>
        </p15:guide>
        <p15:guide id="38" orient="horz" pos="2736">
          <p15:clr>
            <a:srgbClr val="E46962"/>
          </p15:clr>
        </p15:guide>
        <p15:guide id="39" orient="horz" pos="3024">
          <p15:clr>
            <a:srgbClr val="E46962"/>
          </p15:clr>
        </p15:guide>
        <p15:guide id="40" orient="horz" pos="3312">
          <p15:clr>
            <a:srgbClr val="E46962"/>
          </p15:clr>
        </p15:guide>
        <p15:guide id="41" orient="horz" pos="3600">
          <p15:clr>
            <a:srgbClr val="E46962"/>
          </p15:clr>
        </p15:guide>
        <p15:guide id="42" orient="horz" pos="3888">
          <p15:clr>
            <a:srgbClr val="E46962"/>
          </p15:clr>
        </p15:guide>
        <p15:guide id="43" orient="horz" pos="4032">
          <p15:clr>
            <a:srgbClr val="E46962"/>
          </p15:clr>
        </p15:guide>
        <p15:guide id="44" orient="horz" pos="43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dywis/VCF-Value-Pac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"/>
          <p:cNvSpPr txBox="1">
            <a:spLocks noGrp="1"/>
          </p:cNvSpPr>
          <p:nvPr>
            <p:ph type="title"/>
          </p:nvPr>
        </p:nvSpPr>
        <p:spPr>
          <a:xfrm>
            <a:off x="6477456" y="1700775"/>
            <a:ext cx="5098844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</a:pPr>
            <a:r>
              <a:rPr lang="en-US" altLang="ko-KR" dirty="0"/>
              <a:t>Operation Global View</a:t>
            </a:r>
            <a:endParaRPr dirty="0"/>
          </a:p>
        </p:txBody>
      </p:sp>
      <p:sp>
        <p:nvSpPr>
          <p:cNvPr id="269" name="Google Shape;269;p1"/>
          <p:cNvSpPr txBox="1">
            <a:spLocks noGrp="1"/>
          </p:cNvSpPr>
          <p:nvPr>
            <p:ph type="subTitle" idx="1"/>
          </p:nvPr>
        </p:nvSpPr>
        <p:spPr>
          <a:xfrm>
            <a:off x="6547100" y="2990088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 dirty="0"/>
              <a:t>VCF </a:t>
            </a:r>
            <a:r>
              <a:rPr lang="ko-KR" dirty="0" err="1"/>
              <a:t>Operations</a:t>
            </a:r>
            <a:r>
              <a:rPr lang="ko-KR" dirty="0"/>
              <a:t> </a:t>
            </a:r>
            <a:r>
              <a:rPr lang="ko-KR" dirty="0" err="1"/>
              <a:t>v</a:t>
            </a:r>
            <a:r>
              <a:rPr lang="en-US" altLang="ko-KR" dirty="0"/>
              <a:t>2</a:t>
            </a:r>
            <a:r>
              <a:rPr lang="ko-KR" dirty="0"/>
              <a:t>.</a:t>
            </a:r>
            <a:r>
              <a:rPr lang="en-US" altLang="ko-KR" dirty="0"/>
              <a:t>0</a:t>
            </a:r>
            <a:endParaRPr dirty="0"/>
          </a:p>
        </p:txBody>
      </p:sp>
      <p:sp>
        <p:nvSpPr>
          <p:cNvPr id="270" name="Google Shape;270;p1"/>
          <p:cNvSpPr txBox="1">
            <a:spLocks noGrp="1"/>
          </p:cNvSpPr>
          <p:nvPr>
            <p:ph type="body" idx="2"/>
          </p:nvPr>
        </p:nvSpPr>
        <p:spPr>
          <a:xfrm>
            <a:off x="6547100" y="4736592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</a:pPr>
            <a:r>
              <a:rPr lang="en-US" altLang="ko-KR" dirty="0" err="1"/>
              <a:t>Hyuck</a:t>
            </a:r>
            <a:r>
              <a:rPr lang="en-US" altLang="ko-KR" dirty="0"/>
              <a:t> </a:t>
            </a:r>
            <a:r>
              <a:rPr lang="en-US" altLang="ko-KR" dirty="0" err="1"/>
              <a:t>hwan</a:t>
            </a:r>
            <a:r>
              <a:rPr lang="en-US" altLang="ko-KR" dirty="0"/>
              <a:t>, Jeon</a:t>
            </a:r>
            <a:endParaRPr dirty="0"/>
          </a:p>
        </p:txBody>
      </p:sp>
      <p:sp>
        <p:nvSpPr>
          <p:cNvPr id="271" name="Google Shape;271;p1"/>
          <p:cNvSpPr txBox="1">
            <a:spLocks noGrp="1"/>
          </p:cNvSpPr>
          <p:nvPr>
            <p:ph type="body" idx="3"/>
          </p:nvPr>
        </p:nvSpPr>
        <p:spPr>
          <a:xfrm>
            <a:off x="6547100" y="5120640"/>
            <a:ext cx="50292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​"/>
            </a:pPr>
            <a:r>
              <a:rPr lang="ko-KR"/>
              <a:t>CXS / VMware by Broadcom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C4A275FA-E9C0-EF55-3072-EF2EF2F0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">
            <a:extLst>
              <a:ext uri="{FF2B5EF4-FFF2-40B4-BE49-F238E27FC236}">
                <a16:creationId xmlns:a16="http://schemas.microsoft.com/office/drawing/2014/main" id="{00A2E8B8-A3B5-5DD9-8427-36DEB0A423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dirty="0" err="1"/>
              <a:t>How</a:t>
            </a:r>
            <a:r>
              <a:rPr lang="ko-KR" dirty="0"/>
              <a:t> </a:t>
            </a:r>
            <a:r>
              <a:rPr lang="ko-KR" dirty="0" err="1"/>
              <a:t>to</a:t>
            </a:r>
            <a:r>
              <a:rPr lang="ko-KR" dirty="0"/>
              <a:t> </a:t>
            </a:r>
            <a:r>
              <a:rPr lang="ko-KR" dirty="0" err="1"/>
              <a:t>Import</a:t>
            </a:r>
            <a:r>
              <a:rPr lang="en-US" altLang="ko-KR" dirty="0"/>
              <a:t> ( 1 / 3 )</a:t>
            </a:r>
            <a:r>
              <a:rPr lang="ko-KR" dirty="0"/>
              <a:t> </a:t>
            </a:r>
            <a:endParaRPr dirty="0"/>
          </a:p>
        </p:txBody>
      </p:sp>
      <p:sp>
        <p:nvSpPr>
          <p:cNvPr id="305" name="Google Shape;305;p3">
            <a:extLst>
              <a:ext uri="{FF2B5EF4-FFF2-40B4-BE49-F238E27FC236}">
                <a16:creationId xmlns:a16="http://schemas.microsoft.com/office/drawing/2014/main" id="{FB652564-B465-0267-945E-07FBBD26E0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dirty="0" err="1"/>
              <a:t>Github</a:t>
            </a:r>
            <a:r>
              <a:rPr lang="ko-KR" dirty="0"/>
              <a:t> 에서 </a:t>
            </a:r>
            <a:r>
              <a:rPr lang="en-US" altLang="ko-KR" dirty="0"/>
              <a:t>Value Pack </a:t>
            </a:r>
            <a:r>
              <a:rPr lang="ko-KR" dirty="0"/>
              <a:t>파일을 다운 받아서 순서대로 IMPORT 수행 </a:t>
            </a:r>
            <a:endParaRPr dirty="0"/>
          </a:p>
        </p:txBody>
      </p:sp>
      <p:sp>
        <p:nvSpPr>
          <p:cNvPr id="306" name="Google Shape;306;p3">
            <a:hlinkClick r:id="rId3"/>
            <a:extLst>
              <a:ext uri="{FF2B5EF4-FFF2-40B4-BE49-F238E27FC236}">
                <a16:creationId xmlns:a16="http://schemas.microsoft.com/office/drawing/2014/main" id="{78C07779-C0F8-4C94-FCF7-761C6BA49D89}"/>
              </a:ext>
            </a:extLst>
          </p:cNvPr>
          <p:cNvSpPr/>
          <p:nvPr/>
        </p:nvSpPr>
        <p:spPr>
          <a:xfrm>
            <a:off x="579809" y="1530036"/>
            <a:ext cx="3746658" cy="3119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https://github.com/hdywis/VCF-Value-Pack</a:t>
            </a:r>
            <a:endParaRPr sz="14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7" name="Google Shape;307;p3">
            <a:extLst>
              <a:ext uri="{FF2B5EF4-FFF2-40B4-BE49-F238E27FC236}">
                <a16:creationId xmlns:a16="http://schemas.microsoft.com/office/drawing/2014/main" id="{9C8CA1E3-D287-B68D-D4DF-5745949B4926}"/>
              </a:ext>
            </a:extLst>
          </p:cNvPr>
          <p:cNvGrpSpPr/>
          <p:nvPr/>
        </p:nvGrpSpPr>
        <p:grpSpPr>
          <a:xfrm>
            <a:off x="579809" y="1902279"/>
            <a:ext cx="5250811" cy="2062818"/>
            <a:chOff x="579809" y="1902279"/>
            <a:chExt cx="7772400" cy="3053442"/>
          </a:xfrm>
        </p:grpSpPr>
        <p:pic>
          <p:nvPicPr>
            <p:cNvPr id="308" name="Google Shape;308;p3">
              <a:extLst>
                <a:ext uri="{FF2B5EF4-FFF2-40B4-BE49-F238E27FC236}">
                  <a16:creationId xmlns:a16="http://schemas.microsoft.com/office/drawing/2014/main" id="{6E133FEB-7013-5F2B-6E4C-E67DEDEC11D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9809" y="1902279"/>
              <a:ext cx="7772400" cy="3053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3">
              <a:extLst>
                <a:ext uri="{FF2B5EF4-FFF2-40B4-BE49-F238E27FC236}">
                  <a16:creationId xmlns:a16="http://schemas.microsoft.com/office/drawing/2014/main" id="{FB900CAE-2C89-B511-077E-3C9DBFA7F7DF}"/>
                </a:ext>
              </a:extLst>
            </p:cNvPr>
            <p:cNvSpPr/>
            <p:nvPr/>
          </p:nvSpPr>
          <p:spPr>
            <a:xfrm>
              <a:off x="7369521" y="2091350"/>
              <a:ext cx="924815" cy="307818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">
              <a:extLst>
                <a:ext uri="{FF2B5EF4-FFF2-40B4-BE49-F238E27FC236}">
                  <a16:creationId xmlns:a16="http://schemas.microsoft.com/office/drawing/2014/main" id="{485A16E8-403E-4FC5-8B8C-C40F9DA87671}"/>
                </a:ext>
              </a:extLst>
            </p:cNvPr>
            <p:cNvSpPr/>
            <p:nvPr/>
          </p:nvSpPr>
          <p:spPr>
            <a:xfrm>
              <a:off x="4997206" y="4404323"/>
              <a:ext cx="1097206" cy="345701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3">
            <a:extLst>
              <a:ext uri="{FF2B5EF4-FFF2-40B4-BE49-F238E27FC236}">
                <a16:creationId xmlns:a16="http://schemas.microsoft.com/office/drawing/2014/main" id="{E989DBCC-D8C0-6731-9CB1-BB87FC992773}"/>
              </a:ext>
            </a:extLst>
          </p:cNvPr>
          <p:cNvGrpSpPr/>
          <p:nvPr/>
        </p:nvGrpSpPr>
        <p:grpSpPr>
          <a:xfrm>
            <a:off x="6495771" y="1301727"/>
            <a:ext cx="4253795" cy="2798048"/>
            <a:chOff x="5073238" y="985205"/>
            <a:chExt cx="6835409" cy="4845049"/>
          </a:xfrm>
        </p:grpSpPr>
        <p:pic>
          <p:nvPicPr>
            <p:cNvPr id="312" name="Google Shape;312;p3">
              <a:extLst>
                <a:ext uri="{FF2B5EF4-FFF2-40B4-BE49-F238E27FC236}">
                  <a16:creationId xmlns:a16="http://schemas.microsoft.com/office/drawing/2014/main" id="{1B577765-0104-7864-3CA6-927196AA541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73238" y="985205"/>
              <a:ext cx="6627556" cy="457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3" name="Google Shape;313;p3">
              <a:extLst>
                <a:ext uri="{FF2B5EF4-FFF2-40B4-BE49-F238E27FC236}">
                  <a16:creationId xmlns:a16="http://schemas.microsoft.com/office/drawing/2014/main" id="{F4159335-26C8-AD3C-F9D6-F0946C232325}"/>
                </a:ext>
              </a:extLst>
            </p:cNvPr>
            <p:cNvGrpSpPr/>
            <p:nvPr/>
          </p:nvGrpSpPr>
          <p:grpSpPr>
            <a:xfrm>
              <a:off x="5250382" y="1993852"/>
              <a:ext cx="6658265" cy="3836402"/>
              <a:chOff x="5250382" y="1993852"/>
              <a:chExt cx="6658265" cy="3836402"/>
            </a:xfrm>
          </p:grpSpPr>
          <p:sp>
            <p:nvSpPr>
              <p:cNvPr id="314" name="Google Shape;314;p3">
                <a:extLst>
                  <a:ext uri="{FF2B5EF4-FFF2-40B4-BE49-F238E27FC236}">
                    <a16:creationId xmlns:a16="http://schemas.microsoft.com/office/drawing/2014/main" id="{AC36C774-1979-EC48-F4CB-F2313D6E6CC4}"/>
                  </a:ext>
                </a:extLst>
              </p:cNvPr>
              <p:cNvSpPr/>
              <p:nvPr/>
            </p:nvSpPr>
            <p:spPr>
              <a:xfrm>
                <a:off x="7080531" y="2892462"/>
                <a:ext cx="331773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>
                <a:extLst>
                  <a:ext uri="{FF2B5EF4-FFF2-40B4-BE49-F238E27FC236}">
                    <a16:creationId xmlns:a16="http://schemas.microsoft.com/office/drawing/2014/main" id="{DDD1EBED-0EBD-D3C1-248C-0AB2F8554FD9}"/>
                  </a:ext>
                </a:extLst>
              </p:cNvPr>
              <p:cNvSpPr/>
              <p:nvPr/>
            </p:nvSpPr>
            <p:spPr>
              <a:xfrm>
                <a:off x="5250382" y="4792742"/>
                <a:ext cx="697264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>
                <a:extLst>
                  <a:ext uri="{FF2B5EF4-FFF2-40B4-BE49-F238E27FC236}">
                    <a16:creationId xmlns:a16="http://schemas.microsoft.com/office/drawing/2014/main" id="{20514174-99B7-9AB7-BDF9-47714A055E99}"/>
                  </a:ext>
                </a:extLst>
              </p:cNvPr>
              <p:cNvSpPr/>
              <p:nvPr/>
            </p:nvSpPr>
            <p:spPr>
              <a:xfrm>
                <a:off x="5250382" y="4480804"/>
                <a:ext cx="874408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>
                <a:extLst>
                  <a:ext uri="{FF2B5EF4-FFF2-40B4-BE49-F238E27FC236}">
                    <a16:creationId xmlns:a16="http://schemas.microsoft.com/office/drawing/2014/main" id="{05ABADB8-4FCA-A376-3736-9C7F8F0BE56B}"/>
                  </a:ext>
                </a:extLst>
              </p:cNvPr>
              <p:cNvSpPr/>
              <p:nvPr/>
            </p:nvSpPr>
            <p:spPr>
              <a:xfrm>
                <a:off x="7434351" y="2432171"/>
                <a:ext cx="874408" cy="307818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>
                <a:extLst>
                  <a:ext uri="{FF2B5EF4-FFF2-40B4-BE49-F238E27FC236}">
                    <a16:creationId xmlns:a16="http://schemas.microsoft.com/office/drawing/2014/main" id="{F495C4F1-43BB-3853-2B95-76AB88110B5B}"/>
                  </a:ext>
                </a:extLst>
              </p:cNvPr>
              <p:cNvSpPr/>
              <p:nvPr/>
            </p:nvSpPr>
            <p:spPr>
              <a:xfrm>
                <a:off x="10641027" y="1993852"/>
                <a:ext cx="595700" cy="223365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>
                <a:extLst>
                  <a:ext uri="{FF2B5EF4-FFF2-40B4-BE49-F238E27FC236}">
                    <a16:creationId xmlns:a16="http://schemas.microsoft.com/office/drawing/2014/main" id="{340C41F3-37FC-3AD4-D176-7D66A3895434}"/>
                  </a:ext>
                </a:extLst>
              </p:cNvPr>
              <p:cNvSpPr/>
              <p:nvPr/>
            </p:nvSpPr>
            <p:spPr>
              <a:xfrm>
                <a:off x="10641027" y="2814005"/>
                <a:ext cx="971044" cy="223365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0" name="Google Shape;320;p3">
                <a:extLst>
                  <a:ext uri="{FF2B5EF4-FFF2-40B4-BE49-F238E27FC236}">
                    <a16:creationId xmlns:a16="http://schemas.microsoft.com/office/drawing/2014/main" id="{6320FC1C-9439-1AF9-30A1-FB2A861F5D0F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7679342" y="3557792"/>
                <a:ext cx="4229305" cy="22724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" name="Google Shape;321;p3">
                <a:extLst>
                  <a:ext uri="{FF2B5EF4-FFF2-40B4-BE49-F238E27FC236}">
                    <a16:creationId xmlns:a16="http://schemas.microsoft.com/office/drawing/2014/main" id="{246489F2-81E9-6DC3-2283-21C916A7A71D}"/>
                  </a:ext>
                </a:extLst>
              </p:cNvPr>
              <p:cNvSpPr/>
              <p:nvPr/>
            </p:nvSpPr>
            <p:spPr>
              <a:xfrm>
                <a:off x="11094181" y="4046017"/>
                <a:ext cx="656384" cy="202301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>
                <a:extLst>
                  <a:ext uri="{FF2B5EF4-FFF2-40B4-BE49-F238E27FC236}">
                    <a16:creationId xmlns:a16="http://schemas.microsoft.com/office/drawing/2014/main" id="{E52D7B05-2BE2-3317-874F-E02AE5FF419D}"/>
                  </a:ext>
                </a:extLst>
              </p:cNvPr>
              <p:cNvSpPr/>
              <p:nvPr/>
            </p:nvSpPr>
            <p:spPr>
              <a:xfrm>
                <a:off x="11236727" y="5385912"/>
                <a:ext cx="580540" cy="286605"/>
              </a:xfrm>
              <a:prstGeom prst="rect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3" name="Google Shape;323;p3">
            <a:extLst>
              <a:ext uri="{FF2B5EF4-FFF2-40B4-BE49-F238E27FC236}">
                <a16:creationId xmlns:a16="http://schemas.microsoft.com/office/drawing/2014/main" id="{35BBEC1F-A9AE-6720-630A-99486D52268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3250" y="4092828"/>
            <a:ext cx="10977564" cy="198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ko-KR" sz="1500" b="1" dirty="0">
                <a:latin typeface="+mn-ea"/>
                <a:ea typeface="+mn-ea"/>
              </a:rPr>
              <a:t>[ Import </a:t>
            </a:r>
            <a:r>
              <a:rPr lang="ko-KR" altLang="en-US" sz="1500" b="1" dirty="0">
                <a:latin typeface="+mn-ea"/>
                <a:ea typeface="+mn-ea"/>
              </a:rPr>
              <a:t>절차 </a:t>
            </a:r>
            <a:r>
              <a:rPr lang="en-US" altLang="ko-KR" sz="1500" b="1" dirty="0">
                <a:latin typeface="+mn-ea"/>
                <a:ea typeface="+mn-ea"/>
              </a:rPr>
              <a:t>]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ko-KR" sz="1500" dirty="0">
                <a:latin typeface="+mn-ea"/>
                <a:ea typeface="+mn-ea"/>
              </a:rPr>
              <a:t>1. </a:t>
            </a:r>
            <a:r>
              <a:rPr lang="ko-KR" sz="1500" dirty="0" err="1">
                <a:latin typeface="+mn-ea"/>
                <a:ea typeface="+mn-ea"/>
              </a:rPr>
              <a:t>Operations</a:t>
            </a:r>
            <a:r>
              <a:rPr lang="ko-KR" sz="1500" dirty="0">
                <a:latin typeface="+mn-ea"/>
                <a:ea typeface="+mn-ea"/>
              </a:rPr>
              <a:t>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ko-KR" sz="1500" dirty="0">
                <a:latin typeface="+mn-ea"/>
                <a:ea typeface="+mn-ea"/>
              </a:rPr>
              <a:t>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Super Metrics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“1.Supermetric.json”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endParaRPr lang="en-US" altLang="ko-KR" sz="15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500" dirty="0">
                <a:latin typeface="+mn-ea"/>
                <a:ea typeface="+mn-ea"/>
              </a:rPr>
              <a:t>2. Operations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Widget Metric Configuration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“2.Widget-Content.zip”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endParaRPr lang="en-US" altLang="ko-KR" sz="15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500" dirty="0">
                <a:latin typeface="+mn-ea"/>
                <a:ea typeface="+mn-ea"/>
              </a:rPr>
              <a:t>3. Operations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Symptom Definitions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“3.Symptom Definitions.xml”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endParaRPr lang="en-US" altLang="ko-KR" sz="15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500" dirty="0">
                <a:latin typeface="+mn-ea"/>
                <a:ea typeface="+mn-ea"/>
              </a:rPr>
              <a:t>4. Operations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Alert Definitions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“4.Alert Definitions.xml”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endParaRPr lang="en-US" altLang="ko-KR" sz="15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500" dirty="0">
                <a:latin typeface="+mn-ea"/>
                <a:ea typeface="+mn-ea"/>
              </a:rPr>
              <a:t>5. Operations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Policy Definitions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“5.Policy.xml”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endParaRPr lang="en-US" altLang="ko-KR" sz="15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500" dirty="0">
                <a:latin typeface="+mn-ea"/>
                <a:ea typeface="+mn-ea"/>
              </a:rPr>
              <a:t>6. Operations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View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Manage</a:t>
            </a:r>
            <a:r>
              <a:rPr lang="ko-KR" altLang="en-US" sz="1500" dirty="0">
                <a:latin typeface="+mn-ea"/>
                <a:ea typeface="+mn-ea"/>
              </a:rPr>
              <a:t> 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“6.Views.zip”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endParaRPr lang="en-US" altLang="ko-KR" sz="15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500" dirty="0">
                <a:latin typeface="+mn-ea"/>
                <a:ea typeface="+mn-ea"/>
              </a:rPr>
              <a:t>7. Operations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Configurations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Dashboard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Manage</a:t>
            </a:r>
            <a:r>
              <a:rPr lang="ko-KR" altLang="en-US" sz="1500" dirty="0">
                <a:latin typeface="+mn-ea"/>
                <a:ea typeface="+mn-ea"/>
              </a:rPr>
              <a:t> →</a:t>
            </a:r>
            <a:r>
              <a:rPr lang="en-US" altLang="ko-KR" sz="1500" dirty="0">
                <a:latin typeface="+mn-ea"/>
                <a:ea typeface="+mn-ea"/>
              </a:rPr>
              <a:t> “…” </a:t>
            </a:r>
            <a:r>
              <a:rPr lang="ko-KR" altLang="en-US" sz="1500" dirty="0">
                <a:latin typeface="+mn-ea"/>
                <a:ea typeface="+mn-ea"/>
              </a:rPr>
              <a:t>→</a:t>
            </a:r>
            <a:r>
              <a:rPr lang="en-US" altLang="ko-KR" sz="1500" dirty="0">
                <a:latin typeface="+mn-ea"/>
                <a:ea typeface="+mn-ea"/>
              </a:rPr>
              <a:t> Import </a:t>
            </a:r>
            <a:r>
              <a:rPr lang="ko-KR" altLang="en-US" sz="1500" dirty="0">
                <a:latin typeface="+mn-ea"/>
                <a:ea typeface="+mn-ea"/>
              </a:rPr>
              <a:t>→ </a:t>
            </a:r>
            <a:r>
              <a:rPr lang="en-US" altLang="ko-KR" sz="1500" dirty="0">
                <a:latin typeface="+mn-ea"/>
                <a:ea typeface="+mn-ea"/>
              </a:rPr>
              <a:t>“7.Dashboard.zip” </a:t>
            </a:r>
            <a:r>
              <a:rPr lang="ko-KR" altLang="en-US" sz="1500" dirty="0">
                <a:latin typeface="+mn-ea"/>
                <a:ea typeface="+mn-ea"/>
              </a:rPr>
              <a:t>선택</a:t>
            </a:r>
            <a:br>
              <a:rPr lang="en-US" altLang="ko-KR" sz="1500" dirty="0">
                <a:latin typeface="+mn-ea"/>
                <a:ea typeface="+mn-ea"/>
              </a:rPr>
            </a:br>
            <a:r>
              <a:rPr lang="en-US" altLang="ko-KR" sz="1200" dirty="0">
                <a:latin typeface="+mn-ea"/>
                <a:ea typeface="+mn-ea"/>
              </a:rPr>
              <a:t> - </a:t>
            </a:r>
            <a:r>
              <a:rPr lang="ko-KR" altLang="en-US" sz="1200" dirty="0">
                <a:latin typeface="+mn-ea"/>
                <a:ea typeface="+mn-ea"/>
              </a:rPr>
              <a:t>일정 시간 경과 후 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모래시계 모양이 사라지면</a:t>
            </a:r>
            <a:r>
              <a:rPr lang="en-US" altLang="ko-KR" sz="1200" dirty="0">
                <a:latin typeface="+mn-ea"/>
                <a:ea typeface="+mn-ea"/>
              </a:rPr>
              <a:t>) </a:t>
            </a:r>
            <a:r>
              <a:rPr lang="ko-KR" altLang="en-US" sz="1200" dirty="0">
                <a:latin typeface="+mn-ea"/>
                <a:ea typeface="+mn-ea"/>
              </a:rPr>
              <a:t>대시보드 </a:t>
            </a:r>
            <a:r>
              <a:rPr lang="en-US" altLang="ko-KR" sz="1200" dirty="0">
                <a:latin typeface="+mn-ea"/>
                <a:ea typeface="+mn-ea"/>
              </a:rPr>
              <a:t>Import </a:t>
            </a:r>
            <a:r>
              <a:rPr lang="ko-KR" altLang="en-US" sz="1200" dirty="0">
                <a:latin typeface="+mn-ea"/>
                <a:ea typeface="+mn-ea"/>
              </a:rPr>
              <a:t>작업이 완료됩니다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endParaRPr lang="ko-KR" altLang="en-US" sz="15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268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F6772A24-1318-4F03-ABC2-75F16E8F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">
            <a:extLst>
              <a:ext uri="{FF2B5EF4-FFF2-40B4-BE49-F238E27FC236}">
                <a16:creationId xmlns:a16="http://schemas.microsoft.com/office/drawing/2014/main" id="{874B20FB-2B9D-897F-B7F3-1F1860F83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dirty="0" err="1"/>
              <a:t>How</a:t>
            </a:r>
            <a:r>
              <a:rPr lang="ko-KR" dirty="0"/>
              <a:t> </a:t>
            </a:r>
            <a:r>
              <a:rPr lang="ko-KR" dirty="0" err="1"/>
              <a:t>to</a:t>
            </a:r>
            <a:r>
              <a:rPr lang="ko-KR" dirty="0"/>
              <a:t> </a:t>
            </a:r>
            <a:r>
              <a:rPr lang="ko-KR" dirty="0" err="1"/>
              <a:t>Import</a:t>
            </a:r>
            <a:r>
              <a:rPr lang="ko-KR" dirty="0"/>
              <a:t> </a:t>
            </a:r>
            <a:r>
              <a:rPr lang="en-US" altLang="ko-KR" dirty="0"/>
              <a:t>( 2 / 3 )</a:t>
            </a:r>
            <a:endParaRPr dirty="0"/>
          </a:p>
        </p:txBody>
      </p:sp>
      <p:sp>
        <p:nvSpPr>
          <p:cNvPr id="305" name="Google Shape;305;p3">
            <a:extLst>
              <a:ext uri="{FF2B5EF4-FFF2-40B4-BE49-F238E27FC236}">
                <a16:creationId xmlns:a16="http://schemas.microsoft.com/office/drawing/2014/main" id="{BE77AD82-9851-1AB8-389F-BE5896E2CC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Import </a:t>
            </a:r>
            <a:r>
              <a:rPr lang="ko-KR" altLang="en-US" dirty="0"/>
              <a:t>완료 후 </a:t>
            </a:r>
            <a:r>
              <a:rPr lang="en-US" dirty="0"/>
              <a:t>Dashboard </a:t>
            </a:r>
            <a:r>
              <a:rPr lang="ko-KR" altLang="en-US" dirty="0"/>
              <a:t>구성을 위한 사전 요구 사항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D45D0-DB20-EF3E-73C7-5BEBEAA1EA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3250" y="2057400"/>
            <a:ext cx="10972800" cy="4114801"/>
          </a:xfrm>
          <a:noFill/>
          <a:ln w="6350">
            <a:solidFill>
              <a:schemeClr val="tx2">
                <a:lumMod val="25000"/>
              </a:schemeClr>
            </a:solidFill>
          </a:ln>
        </p:spPr>
        <p:txBody>
          <a:bodyPr/>
          <a:lstStyle/>
          <a:p>
            <a:pPr marL="449263" indent="-358775"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1. Import </a:t>
            </a:r>
            <a:r>
              <a:rPr lang="ko-KR" altLang="en-US" sz="1400" dirty="0">
                <a:latin typeface="+mn-ea"/>
                <a:ea typeface="+mn-ea"/>
              </a:rPr>
              <a:t>는 </a:t>
            </a:r>
            <a:r>
              <a:rPr lang="en-US" altLang="ko-KR" sz="1400" dirty="0">
                <a:latin typeface="+mn-ea"/>
                <a:ea typeface="+mn-ea"/>
              </a:rPr>
              <a:t>Super Metric &gt; Widget Configuration &gt; Symptom Definition &gt; Alert Definition &gt; Policy &gt; View &gt; Dashboard </a:t>
            </a:r>
            <a:r>
              <a:rPr lang="ko-KR" altLang="en-US" sz="1400" dirty="0">
                <a:latin typeface="+mn-ea"/>
                <a:ea typeface="+mn-ea"/>
              </a:rPr>
              <a:t>순서대로 진행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2. Aria Logs </a:t>
            </a:r>
            <a:r>
              <a:rPr lang="ko-KR" altLang="en-US" sz="1400" dirty="0">
                <a:latin typeface="+mn-ea"/>
                <a:ea typeface="+mn-ea"/>
              </a:rPr>
              <a:t>설치 및 </a:t>
            </a:r>
            <a:r>
              <a:rPr lang="en-US" altLang="ko-KR" sz="1400" dirty="0">
                <a:latin typeface="+mn-ea"/>
                <a:ea typeface="+mn-ea"/>
              </a:rPr>
              <a:t>Aria Operations </a:t>
            </a:r>
            <a:r>
              <a:rPr lang="ko-KR" altLang="en-US" sz="1400" dirty="0">
                <a:latin typeface="+mn-ea"/>
                <a:ea typeface="+mn-ea"/>
              </a:rPr>
              <a:t>연동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3. Global Setting &gt; System Setting &gt; Dynamic Threshold Enable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4. Import</a:t>
            </a:r>
            <a:r>
              <a:rPr lang="ko-KR" altLang="en-US" sz="1400" dirty="0">
                <a:latin typeface="+mn-ea"/>
                <a:ea typeface="+mn-ea"/>
              </a:rPr>
              <a:t>한 </a:t>
            </a:r>
            <a:r>
              <a:rPr lang="en-US" altLang="ko-KR" sz="1400" dirty="0">
                <a:latin typeface="+mn-ea"/>
                <a:ea typeface="+mn-ea"/>
              </a:rPr>
              <a:t>Policy</a:t>
            </a:r>
            <a:r>
              <a:rPr lang="ko-KR" altLang="en-US" sz="1400" dirty="0">
                <a:latin typeface="+mn-ea"/>
                <a:ea typeface="+mn-ea"/>
              </a:rPr>
              <a:t>를 </a:t>
            </a:r>
            <a:r>
              <a:rPr lang="en-US" altLang="ko-KR" sz="1400" dirty="0">
                <a:latin typeface="+mn-ea"/>
                <a:ea typeface="+mn-ea"/>
              </a:rPr>
              <a:t>Default</a:t>
            </a:r>
            <a:r>
              <a:rPr lang="ko-KR" altLang="en-US" sz="1400" dirty="0">
                <a:latin typeface="+mn-ea"/>
                <a:ea typeface="+mn-ea"/>
              </a:rPr>
              <a:t>로 설정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5. Import </a:t>
            </a:r>
            <a:r>
              <a:rPr lang="ko-KR" altLang="en-US" sz="1400" dirty="0">
                <a:latin typeface="+mn-ea"/>
                <a:ea typeface="+mn-ea"/>
              </a:rPr>
              <a:t>후 </a:t>
            </a:r>
            <a:r>
              <a:rPr lang="en-US" altLang="ko-KR" sz="1400" dirty="0">
                <a:latin typeface="+mn-ea"/>
                <a:ea typeface="+mn-ea"/>
              </a:rPr>
              <a:t>Super Metric </a:t>
            </a:r>
            <a:r>
              <a:rPr lang="ko-KR" altLang="en-US" sz="1400" dirty="0">
                <a:latin typeface="+mn-ea"/>
                <a:ea typeface="+mn-ea"/>
              </a:rPr>
              <a:t>활성화 상태 확인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6. Compliance &gt; vSphere security guide enable </a:t>
            </a:r>
            <a:r>
              <a:rPr lang="ko-KR" altLang="en-US" sz="1400" dirty="0">
                <a:latin typeface="+mn-ea"/>
                <a:ea typeface="+mn-ea"/>
              </a:rPr>
              <a:t>필요</a:t>
            </a:r>
            <a:endParaRPr lang="en-US" sz="4400" dirty="0"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C142F-A190-D1B8-1DB2-40259DD1A235}"/>
              </a:ext>
            </a:extLst>
          </p:cNvPr>
          <p:cNvSpPr txBox="1"/>
          <p:nvPr/>
        </p:nvSpPr>
        <p:spPr>
          <a:xfrm>
            <a:off x="616966" y="16037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/>
            </a:lvl1pPr>
          </a:lstStyle>
          <a:p>
            <a:r>
              <a:rPr lang="en-US" altLang="ko-KR"/>
              <a:t>[ </a:t>
            </a:r>
            <a:r>
              <a:rPr lang="ko-KR" altLang="en-US" dirty="0"/>
              <a:t>대시보드 구성을 위한 사전 요구 사항 </a:t>
            </a:r>
            <a:r>
              <a:rPr lang="en-US" altLang="ko-K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4721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DC2569EB-3780-77DC-049F-31A94108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">
            <a:extLst>
              <a:ext uri="{FF2B5EF4-FFF2-40B4-BE49-F238E27FC236}">
                <a16:creationId xmlns:a16="http://schemas.microsoft.com/office/drawing/2014/main" id="{FC0E8BD0-D17F-CA7B-6D98-A9DEA54C3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dirty="0" err="1"/>
              <a:t>How</a:t>
            </a:r>
            <a:r>
              <a:rPr lang="ko-KR" dirty="0"/>
              <a:t> </a:t>
            </a:r>
            <a:r>
              <a:rPr lang="ko-KR" dirty="0" err="1"/>
              <a:t>to</a:t>
            </a:r>
            <a:r>
              <a:rPr lang="ko-KR" dirty="0"/>
              <a:t> </a:t>
            </a:r>
            <a:r>
              <a:rPr lang="ko-KR" dirty="0" err="1"/>
              <a:t>Import</a:t>
            </a:r>
            <a:r>
              <a:rPr lang="ko-KR" dirty="0"/>
              <a:t> </a:t>
            </a:r>
            <a:r>
              <a:rPr lang="en-US" altLang="ko-KR" dirty="0"/>
              <a:t>( 3 / 3 )</a:t>
            </a:r>
            <a:endParaRPr dirty="0"/>
          </a:p>
        </p:txBody>
      </p:sp>
      <p:sp>
        <p:nvSpPr>
          <p:cNvPr id="305" name="Google Shape;305;p3">
            <a:extLst>
              <a:ext uri="{FF2B5EF4-FFF2-40B4-BE49-F238E27FC236}">
                <a16:creationId xmlns:a16="http://schemas.microsoft.com/office/drawing/2014/main" id="{60A35A05-37DD-663B-675B-3A9226EC48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dirty="0"/>
              <a:t>고객사 인프라 환경에 맞게 대시보드 구성 작업 진행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3D711F6-A31D-7A1A-8BF2-833E201F29F2}"/>
              </a:ext>
            </a:extLst>
          </p:cNvPr>
          <p:cNvSpPr txBox="1">
            <a:spLocks/>
          </p:cNvSpPr>
          <p:nvPr/>
        </p:nvSpPr>
        <p:spPr>
          <a:xfrm>
            <a:off x="603251" y="2057400"/>
            <a:ext cx="10972799" cy="3973530"/>
          </a:xfrm>
          <a:prstGeom prst="rect">
            <a:avLst/>
          </a:prstGeom>
          <a:noFill/>
          <a:ln w="6350">
            <a:solidFill>
              <a:schemeClr val="tx2">
                <a:lumMod val="25000"/>
              </a:schemeClr>
            </a:solidFill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80975" indent="-90488">
              <a:lnSpc>
                <a:spcPct val="150000"/>
              </a:lnSpc>
              <a:spcBef>
                <a:spcPts val="1200"/>
              </a:spcBef>
              <a:buClr>
                <a:srgbClr val="666666"/>
              </a:buClr>
              <a:buSzPts val="1800"/>
              <a:buFont typeface="Roboto"/>
              <a:buChar char="​"/>
              <a:defRPr sz="1050">
                <a:solidFill>
                  <a:srgbClr val="06070D"/>
                </a:solidFill>
                <a:latin typeface="+mn-ea"/>
                <a:ea typeface="+mn-ea"/>
              </a:defRPr>
            </a:lvl1pPr>
            <a:lvl2pPr marL="914400" indent="-331469">
              <a:spcBef>
                <a:spcPts val="1200"/>
              </a:spcBef>
              <a:buClr>
                <a:srgbClr val="3C3C3C"/>
              </a:buClr>
              <a:buSzPts val="1620"/>
              <a:buFont typeface="Roboto"/>
              <a:buChar char="•"/>
              <a:defRPr sz="1800">
                <a:solidFill>
                  <a:srgbClr val="06070D"/>
                </a:solidFill>
              </a:defRPr>
            </a:lvl2pPr>
            <a:lvl3pPr marL="1371600" indent="-320039">
              <a:spcBef>
                <a:spcPts val="1200"/>
              </a:spcBef>
              <a:buClr>
                <a:srgbClr val="3C3C3C"/>
              </a:buClr>
              <a:buSzPts val="1440"/>
              <a:buFont typeface="Roboto"/>
              <a:buChar char="–"/>
              <a:defRPr sz="1600">
                <a:solidFill>
                  <a:srgbClr val="06070D"/>
                </a:solidFill>
              </a:defRPr>
            </a:lvl3pPr>
            <a:lvl4pPr marL="18288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•"/>
              <a:defRPr>
                <a:solidFill>
                  <a:srgbClr val="06070D"/>
                </a:solidFill>
              </a:defRPr>
            </a:lvl4pPr>
            <a:lvl5pPr marL="22860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–"/>
              <a:defRPr>
                <a:solidFill>
                  <a:srgbClr val="06070D"/>
                </a:solidFill>
              </a:defRPr>
            </a:lvl5pPr>
            <a:lvl6pPr marL="27432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•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-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indent="-308609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•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indent="-308609"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Roboto"/>
              <a:buChar char="-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90487" indent="0">
              <a:buNone/>
            </a:pPr>
            <a:r>
              <a:rPr lang="ko-KR" altLang="en-US" sz="1400" dirty="0"/>
              <a:t>    </a:t>
            </a:r>
            <a:r>
              <a:rPr lang="en-US" altLang="ko-KR" sz="1400" dirty="0"/>
              <a:t>1) </a:t>
            </a:r>
            <a:r>
              <a:rPr lang="ko-KR" altLang="en-US" sz="1400" dirty="0"/>
              <a:t>데이터 센터 위치 지정 </a:t>
            </a:r>
            <a:r>
              <a:rPr lang="en-US" altLang="ko-KR" sz="1400" dirty="0"/>
              <a:t>: Control Panel -&gt; Physical Datacenter</a:t>
            </a:r>
            <a:br>
              <a:rPr lang="en-US" altLang="ko-KR" sz="1400" dirty="0"/>
            </a:br>
            <a:r>
              <a:rPr lang="en-US" altLang="ko-KR" sz="1400" dirty="0"/>
              <a:t>    2) vCenter Property </a:t>
            </a:r>
            <a:r>
              <a:rPr lang="ko-KR" altLang="en-US" sz="1400" dirty="0"/>
              <a:t>등록 </a:t>
            </a:r>
            <a:r>
              <a:rPr lang="en-US" altLang="ko-KR" sz="1400" dirty="0"/>
              <a:t>: Operations &gt; Configuration &gt; Inventory Management &gt; </a:t>
            </a:r>
            <a:r>
              <a:rPr lang="ko-KR" altLang="en-US" sz="1400" dirty="0"/>
              <a:t>대상 </a:t>
            </a:r>
            <a:r>
              <a:rPr lang="en-US" altLang="ko-KR" sz="1400" dirty="0"/>
              <a:t>vCenter Server </a:t>
            </a:r>
            <a:r>
              <a:rPr lang="ko-KR" altLang="en-US" sz="1400" dirty="0"/>
              <a:t>검색 </a:t>
            </a:r>
            <a:r>
              <a:rPr lang="en-US" altLang="ko-KR" sz="1400" dirty="0"/>
              <a:t>&gt; Property </a:t>
            </a:r>
            <a:r>
              <a:rPr lang="ko-KR" altLang="en-US" sz="1400" dirty="0"/>
              <a:t>단추 클릭</a:t>
            </a:r>
            <a:br>
              <a:rPr lang="ko-KR" altLang="en-US" sz="1400" dirty="0"/>
            </a:br>
            <a:r>
              <a:rPr lang="ko-KR" altLang="en-US" sz="1400" dirty="0"/>
              <a:t>      </a:t>
            </a:r>
            <a:r>
              <a:rPr lang="en-US" altLang="ko-KR" sz="1400" dirty="0"/>
              <a:t>- </a:t>
            </a:r>
            <a:r>
              <a:rPr lang="ko-KR" altLang="en-US" sz="1400" dirty="0"/>
              <a:t>서비스 지역</a:t>
            </a:r>
            <a:r>
              <a:rPr lang="en-US" altLang="ko-KR" sz="1400" dirty="0"/>
              <a:t>:    ”</a:t>
            </a:r>
            <a:r>
              <a:rPr lang="ko-KR" altLang="en-US" sz="1400" dirty="0"/>
              <a:t>고객사 정보에 맞게 반영</a:t>
            </a:r>
            <a:r>
              <a:rPr lang="en-US" altLang="ko-KR" sz="1400" dirty="0"/>
              <a:t>”</a:t>
            </a:r>
            <a:br>
              <a:rPr lang="en-US" altLang="ko-KR" sz="1400" dirty="0"/>
            </a:br>
            <a:r>
              <a:rPr lang="en-US" altLang="ko-KR" sz="1400" dirty="0"/>
              <a:t>      - </a:t>
            </a:r>
            <a:r>
              <a:rPr lang="ko-KR" altLang="en-US" sz="1400" dirty="0"/>
              <a:t>주요 서비스</a:t>
            </a:r>
            <a:r>
              <a:rPr lang="en-US" altLang="ko-KR" sz="1400" dirty="0"/>
              <a:t>:    “</a:t>
            </a:r>
            <a:r>
              <a:rPr lang="ko-KR" altLang="en-US" sz="1400" dirty="0"/>
              <a:t>고객사 정보에 맞게 반영</a:t>
            </a:r>
            <a:r>
              <a:rPr lang="en-US" altLang="ko-KR" sz="1400" dirty="0"/>
              <a:t>”</a:t>
            </a:r>
            <a:br>
              <a:rPr lang="en-US" altLang="ko-KR" sz="1400" dirty="0"/>
            </a:br>
            <a:r>
              <a:rPr lang="en-US" altLang="ko-KR" sz="1400" dirty="0"/>
              <a:t>      - </a:t>
            </a:r>
            <a:r>
              <a:rPr lang="ko-KR" altLang="en-US" sz="1400" dirty="0"/>
              <a:t>가상화 수준</a:t>
            </a:r>
            <a:r>
              <a:rPr lang="en-US" altLang="ko-KR" sz="1400" dirty="0"/>
              <a:t>:    “</a:t>
            </a:r>
            <a:r>
              <a:rPr lang="ko-KR" altLang="en-US" sz="1400" dirty="0"/>
              <a:t>고객사 정보에 맞게 반영</a:t>
            </a:r>
            <a:r>
              <a:rPr lang="en-US" altLang="ko-KR" sz="1400" dirty="0"/>
              <a:t>”</a:t>
            </a:r>
            <a:br>
              <a:rPr lang="en-US" altLang="ko-KR" sz="1400" dirty="0"/>
            </a:br>
            <a:r>
              <a:rPr lang="en-US" altLang="ko-KR" sz="1400" dirty="0"/>
              <a:t>      - DR </a:t>
            </a:r>
            <a:r>
              <a:rPr lang="ko-KR" altLang="en-US" sz="1400" dirty="0"/>
              <a:t>지역</a:t>
            </a:r>
            <a:r>
              <a:rPr lang="en-US" altLang="ko-KR" sz="1400" dirty="0"/>
              <a:t>: “</a:t>
            </a:r>
            <a:r>
              <a:rPr lang="ko-KR" altLang="en-US" sz="1400" dirty="0"/>
              <a:t>고객사 정보에 맞게 반영</a:t>
            </a:r>
            <a:r>
              <a:rPr lang="en-US" altLang="ko-KR" sz="1400" dirty="0"/>
              <a:t>”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21FA2-5EBA-8BE1-C90E-7CA6D2A9FE7A}"/>
              </a:ext>
            </a:extLst>
          </p:cNvPr>
          <p:cNvSpPr txBox="1"/>
          <p:nvPr/>
        </p:nvSpPr>
        <p:spPr>
          <a:xfrm>
            <a:off x="3860800" y="7809012"/>
            <a:ext cx="7258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III. </a:t>
            </a:r>
            <a:r>
              <a:rPr lang="ko-KR" altLang="en-US" sz="1400" b="1" dirty="0"/>
              <a:t>그 외 기타 대시보드는  </a:t>
            </a:r>
            <a:r>
              <a:rPr lang="ko-KR" altLang="en-US" sz="1400" b="1" dirty="0" err="1"/>
              <a:t>최상단</a:t>
            </a:r>
            <a:r>
              <a:rPr lang="ko-KR" altLang="en-US" sz="1400" b="1" dirty="0"/>
              <a:t> 위젯에 </a:t>
            </a:r>
            <a:r>
              <a:rPr lang="en-US" altLang="ko-KR" sz="1400" b="1" dirty="0"/>
              <a:t>vCenter Server Object </a:t>
            </a:r>
            <a:r>
              <a:rPr lang="ko-KR" altLang="en-US" sz="1400" b="1" dirty="0"/>
              <a:t>등록  진행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E47BF-7C6D-76DD-48DF-3CE9EF10B077}"/>
              </a:ext>
            </a:extLst>
          </p:cNvPr>
          <p:cNvSpPr txBox="1"/>
          <p:nvPr/>
        </p:nvSpPr>
        <p:spPr>
          <a:xfrm>
            <a:off x="629285" y="161014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I. Global View </a:t>
            </a:r>
            <a:r>
              <a:rPr lang="ko-KR" altLang="en-US" sz="1400" b="1" dirty="0"/>
              <a:t>대시보드 구성 작업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65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761405AE-3426-4C0C-8F7B-5F5BB2CF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">
            <a:extLst>
              <a:ext uri="{FF2B5EF4-FFF2-40B4-BE49-F238E27FC236}">
                <a16:creationId xmlns:a16="http://schemas.microsoft.com/office/drawing/2014/main" id="{AC0CBC12-F4FF-D6CA-9443-C223B59E0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216" y="41148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dirty="0" err="1"/>
              <a:t>How</a:t>
            </a:r>
            <a:r>
              <a:rPr lang="ko-KR" dirty="0"/>
              <a:t> </a:t>
            </a:r>
            <a:r>
              <a:rPr lang="ko-KR" dirty="0" err="1"/>
              <a:t>to</a:t>
            </a:r>
            <a:r>
              <a:rPr lang="ko-KR" dirty="0"/>
              <a:t> </a:t>
            </a:r>
            <a:r>
              <a:rPr lang="ko-KR" dirty="0" err="1"/>
              <a:t>Import</a:t>
            </a:r>
            <a:r>
              <a:rPr lang="ko-KR" dirty="0"/>
              <a:t> </a:t>
            </a:r>
            <a:r>
              <a:rPr lang="en-US" altLang="ko-KR" dirty="0"/>
              <a:t>( 3 / 3 )</a:t>
            </a:r>
            <a:endParaRPr dirty="0"/>
          </a:p>
        </p:txBody>
      </p:sp>
      <p:sp>
        <p:nvSpPr>
          <p:cNvPr id="305" name="Google Shape;305;p3">
            <a:extLst>
              <a:ext uri="{FF2B5EF4-FFF2-40B4-BE49-F238E27FC236}">
                <a16:creationId xmlns:a16="http://schemas.microsoft.com/office/drawing/2014/main" id="{9EB5E9BD-83CD-7275-81E0-8613FF64A9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dirty="0"/>
              <a:t>고객사 인프라 환경에 맞게 대시보드 구성 작업 진행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377879B-9D44-3E06-366E-BAF622943645}"/>
              </a:ext>
            </a:extLst>
          </p:cNvPr>
          <p:cNvSpPr txBox="1">
            <a:spLocks/>
          </p:cNvSpPr>
          <p:nvPr/>
        </p:nvSpPr>
        <p:spPr>
          <a:xfrm>
            <a:off x="603250" y="2057400"/>
            <a:ext cx="10972800" cy="3657600"/>
          </a:xfrm>
          <a:prstGeom prst="rect">
            <a:avLst/>
          </a:prstGeom>
          <a:noFill/>
          <a:ln>
            <a:solidFill>
              <a:schemeClr val="tx2">
                <a:lumMod val="25000"/>
              </a:schemeClr>
            </a:solidFill>
          </a:ln>
        </p:spPr>
        <p:txBody>
          <a:bodyPr spcFirstLastPara="1" wrap="square" lIns="0" tIns="0" rIns="0" bIns="0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80975" indent="-90488">
              <a:lnSpc>
                <a:spcPct val="150000"/>
              </a:lnSpc>
              <a:spcBef>
                <a:spcPts val="1200"/>
              </a:spcBef>
              <a:buClr>
                <a:srgbClr val="666666"/>
              </a:buClr>
              <a:buSzPts val="1800"/>
              <a:buFont typeface="Roboto"/>
              <a:buChar char="​"/>
              <a:defRPr sz="1050">
                <a:solidFill>
                  <a:srgbClr val="06070D"/>
                </a:solidFill>
                <a:latin typeface="+mn-ea"/>
                <a:ea typeface="+mn-ea"/>
              </a:defRPr>
            </a:lvl1pPr>
            <a:lvl2pPr marL="914400" indent="-331469">
              <a:spcBef>
                <a:spcPts val="1200"/>
              </a:spcBef>
              <a:buClr>
                <a:srgbClr val="3C3C3C"/>
              </a:buClr>
              <a:buSzPts val="1620"/>
              <a:buFont typeface="Roboto"/>
              <a:buChar char="•"/>
              <a:defRPr sz="1800">
                <a:solidFill>
                  <a:srgbClr val="06070D"/>
                </a:solidFill>
              </a:defRPr>
            </a:lvl2pPr>
            <a:lvl3pPr marL="1371600" indent="-320039">
              <a:spcBef>
                <a:spcPts val="1200"/>
              </a:spcBef>
              <a:buClr>
                <a:srgbClr val="3C3C3C"/>
              </a:buClr>
              <a:buSzPts val="1440"/>
              <a:buFont typeface="Roboto"/>
              <a:buChar char="–"/>
              <a:defRPr sz="1600">
                <a:solidFill>
                  <a:srgbClr val="06070D"/>
                </a:solidFill>
              </a:defRPr>
            </a:lvl3pPr>
            <a:lvl4pPr marL="18288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•"/>
              <a:defRPr>
                <a:solidFill>
                  <a:srgbClr val="06070D"/>
                </a:solidFill>
              </a:defRPr>
            </a:lvl4pPr>
            <a:lvl5pPr marL="22860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–"/>
              <a:defRPr>
                <a:solidFill>
                  <a:srgbClr val="06070D"/>
                </a:solidFill>
              </a:defRPr>
            </a:lvl5pPr>
            <a:lvl6pPr marL="27432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•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indent="-308610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-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indent="-308609">
              <a:spcBef>
                <a:spcPts val="1200"/>
              </a:spcBef>
              <a:buClr>
                <a:srgbClr val="3C3C3C"/>
              </a:buClr>
              <a:buSzPts val="1260"/>
              <a:buFont typeface="Roboto"/>
              <a:buChar char="•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indent="-308609"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Roboto"/>
              <a:buChar char="-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400" b="1" dirty="0"/>
              <a:t>    </a:t>
            </a:r>
            <a:r>
              <a:rPr lang="en-US" altLang="ko-KR" sz="1400" dirty="0"/>
              <a:t>1. ◆ </a:t>
            </a:r>
            <a:r>
              <a:rPr lang="ko-KR" altLang="en-US" sz="1400" dirty="0"/>
              <a:t>데이터센터 알람 발생 현황 조회 구성</a:t>
            </a:r>
            <a:br>
              <a:rPr lang="ko-KR" altLang="en-US" sz="1400" dirty="0"/>
            </a:br>
            <a:r>
              <a:rPr lang="ko-KR" altLang="en-US" sz="1400" dirty="0"/>
              <a:t>       </a:t>
            </a:r>
            <a:r>
              <a:rPr lang="en-US" altLang="ko-KR" sz="1400" dirty="0"/>
              <a:t>1) Configuration</a:t>
            </a:r>
            <a:br>
              <a:rPr lang="en-US" altLang="ko-KR" sz="1400" dirty="0"/>
            </a:br>
            <a:r>
              <a:rPr lang="en-US" altLang="ko-KR" sz="1400" dirty="0"/>
              <a:t>        - </a:t>
            </a:r>
            <a:r>
              <a:rPr lang="ko-KR" altLang="en-US" sz="1400" dirty="0"/>
              <a:t>타이틀 지정</a:t>
            </a:r>
            <a:br>
              <a:rPr lang="ko-KR" altLang="en-US" sz="1400" dirty="0"/>
            </a:br>
            <a:r>
              <a:rPr lang="ko-KR" altLang="en-US" sz="1400" dirty="0"/>
              <a:t>        </a:t>
            </a:r>
            <a:r>
              <a:rPr lang="en-US" altLang="ko-KR" sz="1400" dirty="0"/>
              <a:t>- Refresh Content, Self Provider : On</a:t>
            </a:r>
            <a:br>
              <a:rPr lang="en-US" altLang="ko-KR" sz="1400" dirty="0"/>
            </a:br>
            <a:r>
              <a:rPr lang="en-US" altLang="ko-KR" sz="1400" dirty="0"/>
              <a:t>        - Box Columns : vCenter Server </a:t>
            </a:r>
            <a:r>
              <a:rPr lang="ko-KR" altLang="en-US" sz="1400" dirty="0"/>
              <a:t>수량에 맞춰서</a:t>
            </a:r>
            <a:br>
              <a:rPr lang="ko-KR" altLang="en-US" sz="1400" dirty="0"/>
            </a:br>
            <a:r>
              <a:rPr lang="ko-KR" altLang="en-US" sz="1400" dirty="0"/>
              <a:t>        </a:t>
            </a:r>
            <a:r>
              <a:rPr lang="en-US" altLang="ko-KR" sz="1400" dirty="0"/>
              <a:t>- Visual Theme : Pastel</a:t>
            </a:r>
            <a:br>
              <a:rPr lang="en-US" altLang="ko-KR" sz="1400" dirty="0"/>
            </a:br>
            <a:r>
              <a:rPr lang="en-US" altLang="ko-KR" sz="1400" dirty="0"/>
              <a:t>        - Show : Object Name, Metric Unit, Sparkline</a:t>
            </a:r>
            <a:br>
              <a:rPr lang="en-US" altLang="ko-KR" sz="1400" dirty="0"/>
            </a:br>
            <a:r>
              <a:rPr lang="en-US" altLang="ko-KR" sz="1400" dirty="0"/>
              <a:t>        - show dt : off</a:t>
            </a:r>
            <a:br>
              <a:rPr lang="en-US" altLang="ko-KR" sz="1400" dirty="0"/>
            </a:br>
            <a:r>
              <a:rPr lang="en-US" altLang="ko-KR" sz="1400" dirty="0"/>
              <a:t>      2) Input Data</a:t>
            </a:r>
            <a:br>
              <a:rPr lang="en-US" altLang="ko-KR" sz="1400" dirty="0"/>
            </a:br>
            <a:r>
              <a:rPr lang="en-US" altLang="ko-KR" sz="1400" dirty="0"/>
              <a:t>        - Object : vCenter Server </a:t>
            </a:r>
            <a:r>
              <a:rPr lang="ko-KR" altLang="en-US" sz="1400" dirty="0"/>
              <a:t>등록  </a:t>
            </a:r>
            <a:r>
              <a:rPr lang="en-US" altLang="ko-KR" sz="1400" dirty="0"/>
              <a:t>(</a:t>
            </a:r>
            <a:r>
              <a:rPr lang="ko-KR" altLang="en-US" sz="1400" dirty="0"/>
              <a:t>대상 </a:t>
            </a:r>
            <a:r>
              <a:rPr lang="en-US" altLang="ko-KR" sz="1400" dirty="0"/>
              <a:t>vCenter</a:t>
            </a:r>
            <a:r>
              <a:rPr lang="ko-KR" altLang="en-US" sz="1400" dirty="0"/>
              <a:t>는 담당자에 따름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      3) Input Transformation</a:t>
            </a:r>
            <a:br>
              <a:rPr lang="en-US" altLang="ko-KR" sz="1400" dirty="0"/>
            </a:br>
            <a:r>
              <a:rPr lang="en-US" altLang="ko-KR" sz="1400" dirty="0"/>
              <a:t>        - self</a:t>
            </a:r>
            <a:br>
              <a:rPr lang="en-US" altLang="ko-KR" sz="1400" dirty="0"/>
            </a:br>
            <a:r>
              <a:rPr lang="en-US" altLang="ko-KR" sz="1400" dirty="0"/>
              <a:t>      4) Output Data</a:t>
            </a:r>
            <a:br>
              <a:rPr lang="en-US" altLang="ko-KR" sz="1400" dirty="0"/>
            </a:br>
            <a:r>
              <a:rPr lang="en-US" altLang="ko-KR" sz="1400" dirty="0"/>
              <a:t>        - [] </a:t>
            </a:r>
            <a:r>
              <a:rPr lang="en-US" altLang="ko-KR" sz="1400" dirty="0" err="1"/>
              <a:t>Mgmt</a:t>
            </a:r>
            <a:r>
              <a:rPr lang="en-US" altLang="ko-KR" sz="1400" dirty="0"/>
              <a:t> - vCenter Alert</a:t>
            </a:r>
            <a:br>
              <a:rPr lang="en-US" altLang="ko-KR" sz="1400" dirty="0"/>
            </a:br>
            <a:endParaRPr lang="en-US" altLang="ko-KR" sz="1400" dirty="0"/>
          </a:p>
          <a:p>
            <a:pPr>
              <a:lnSpc>
                <a:spcPct val="100000"/>
              </a:lnSpc>
            </a:pPr>
            <a:endParaRPr lang="en-US" altLang="ko-KR" sz="1400" dirty="0"/>
          </a:p>
          <a:p>
            <a:pPr>
              <a:lnSpc>
                <a:spcPct val="100000"/>
              </a:lnSpc>
            </a:pPr>
            <a:r>
              <a:rPr lang="en-US" altLang="ko-KR" sz="1400" dirty="0"/>
              <a:t>2. [B-1] vCenter </a:t>
            </a:r>
            <a:r>
              <a:rPr lang="ko-KR" altLang="en-US" sz="1400" dirty="0"/>
              <a:t>상태 구성</a:t>
            </a:r>
            <a:br>
              <a:rPr lang="ko-KR" altLang="en-US" sz="1400" dirty="0"/>
            </a:br>
            <a:r>
              <a:rPr lang="ko-KR" altLang="en-US" sz="1400" dirty="0"/>
              <a:t>       </a:t>
            </a:r>
            <a:r>
              <a:rPr lang="en-US" altLang="ko-KR" sz="1400" dirty="0"/>
              <a:t>1) Configuration</a:t>
            </a:r>
            <a:br>
              <a:rPr lang="en-US" altLang="ko-KR" sz="1400" dirty="0"/>
            </a:br>
            <a:r>
              <a:rPr lang="en-US" altLang="ko-KR" sz="1400" dirty="0"/>
              <a:t>        - </a:t>
            </a:r>
            <a:r>
              <a:rPr lang="ko-KR" altLang="en-US" sz="1400" dirty="0"/>
              <a:t>타이틀 지정</a:t>
            </a:r>
            <a:br>
              <a:rPr lang="ko-KR" altLang="en-US" sz="1400" dirty="0"/>
            </a:br>
            <a:r>
              <a:rPr lang="ko-KR" altLang="en-US" sz="1400" dirty="0"/>
              <a:t>        </a:t>
            </a:r>
            <a:r>
              <a:rPr lang="en-US" altLang="ko-KR" sz="1400" dirty="0"/>
              <a:t>- Refresh Content, Self Provider : On</a:t>
            </a:r>
            <a:br>
              <a:rPr lang="en-US" altLang="ko-KR" sz="1400" dirty="0"/>
            </a:br>
            <a:r>
              <a:rPr lang="en-US" altLang="ko-KR" sz="1400" dirty="0"/>
              <a:t>        - Box Columns : vCenter Server </a:t>
            </a:r>
            <a:r>
              <a:rPr lang="ko-KR" altLang="en-US" sz="1400" dirty="0"/>
              <a:t>수량에 맞춰서</a:t>
            </a:r>
            <a:br>
              <a:rPr lang="ko-KR" altLang="en-US" sz="1400" dirty="0"/>
            </a:br>
            <a:r>
              <a:rPr lang="ko-KR" altLang="en-US" sz="1400" dirty="0"/>
              <a:t>        </a:t>
            </a:r>
            <a:r>
              <a:rPr lang="en-US" altLang="ko-KR" sz="1400" dirty="0"/>
              <a:t>- Visual Theme : Pastel</a:t>
            </a:r>
            <a:br>
              <a:rPr lang="en-US" altLang="ko-KR" sz="1400" dirty="0"/>
            </a:br>
            <a:r>
              <a:rPr lang="en-US" altLang="ko-KR" sz="1400" dirty="0"/>
              <a:t>        - Show : Object Name, Metric Unit</a:t>
            </a:r>
            <a:br>
              <a:rPr lang="en-US" altLang="ko-KR" sz="1400" dirty="0"/>
            </a:br>
            <a:r>
              <a:rPr lang="en-US" altLang="ko-KR" sz="1400" dirty="0"/>
              <a:t>        - show dt : off</a:t>
            </a:r>
            <a:br>
              <a:rPr lang="en-US" altLang="ko-KR" sz="1400" dirty="0"/>
            </a:br>
            <a:r>
              <a:rPr lang="en-US" altLang="ko-KR" sz="1400" dirty="0"/>
              <a:t>        2) Input Data</a:t>
            </a:r>
            <a:br>
              <a:rPr lang="en-US" altLang="ko-KR" sz="1400" dirty="0"/>
            </a:br>
            <a:r>
              <a:rPr lang="en-US" altLang="ko-KR" sz="1400" dirty="0"/>
              <a:t>        - Object : vCenter Server </a:t>
            </a:r>
            <a:r>
              <a:rPr lang="ko-KR" altLang="en-US" sz="1400" dirty="0"/>
              <a:t>등록  </a:t>
            </a:r>
            <a:r>
              <a:rPr lang="en-US" altLang="ko-KR" sz="1400" dirty="0"/>
              <a:t>(</a:t>
            </a:r>
            <a:r>
              <a:rPr lang="ko-KR" altLang="en-US" sz="1400" dirty="0"/>
              <a:t>대상 </a:t>
            </a:r>
            <a:r>
              <a:rPr lang="en-US" altLang="ko-KR" sz="1400" dirty="0"/>
              <a:t>vCenter</a:t>
            </a:r>
            <a:r>
              <a:rPr lang="ko-KR" altLang="en-US" sz="1400" dirty="0"/>
              <a:t>는 담당자에 따름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        3) Input Transformation</a:t>
            </a:r>
            <a:br>
              <a:rPr lang="en-US" altLang="ko-KR" sz="1400" dirty="0"/>
            </a:br>
            <a:r>
              <a:rPr lang="en-US" altLang="ko-KR" sz="1400" dirty="0"/>
              <a:t>        - self</a:t>
            </a:r>
            <a:br>
              <a:rPr lang="en-US" altLang="ko-KR" sz="1400" dirty="0"/>
            </a:br>
            <a:r>
              <a:rPr lang="en-US" altLang="ko-KR" sz="1400" dirty="0"/>
              <a:t>        4) Output Data</a:t>
            </a:r>
            <a:br>
              <a:rPr lang="en-US" altLang="ko-KR" sz="1400" dirty="0"/>
            </a:br>
            <a:r>
              <a:rPr lang="en-US" altLang="ko-KR" sz="1400" dirty="0"/>
              <a:t>        - [] </a:t>
            </a:r>
            <a:r>
              <a:rPr lang="en-US" altLang="ko-KR" sz="1400" dirty="0" err="1"/>
              <a:t>Mgmt</a:t>
            </a:r>
            <a:r>
              <a:rPr lang="en-US" altLang="ko-KR" sz="1400" dirty="0"/>
              <a:t> - vCenter Health</a:t>
            </a:r>
            <a:br>
              <a:rPr lang="en-US" altLang="ko-KR" sz="1400" dirty="0"/>
            </a:br>
            <a:br>
              <a:rPr lang="en-US" altLang="ko-KR" sz="1400" b="1" dirty="0"/>
            </a:b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68742-D27C-C213-6AB4-C607CC3DC584}"/>
              </a:ext>
            </a:extLst>
          </p:cNvPr>
          <p:cNvSpPr txBox="1"/>
          <p:nvPr/>
        </p:nvSpPr>
        <p:spPr>
          <a:xfrm>
            <a:off x="637540" y="5746013"/>
            <a:ext cx="7258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III. </a:t>
            </a:r>
            <a:r>
              <a:rPr lang="ko-KR" altLang="en-US" sz="1400" b="1" dirty="0"/>
              <a:t>그 외 기타 대시보드는  </a:t>
            </a:r>
            <a:r>
              <a:rPr lang="ko-KR" altLang="en-US" sz="1400" b="1" dirty="0" err="1"/>
              <a:t>최상단</a:t>
            </a:r>
            <a:r>
              <a:rPr lang="ko-KR" altLang="en-US" sz="1400" b="1" dirty="0"/>
              <a:t> 위젯에 </a:t>
            </a:r>
            <a:r>
              <a:rPr lang="en-US" altLang="ko-KR" sz="1400" b="1" dirty="0"/>
              <a:t>vCenter Server Object </a:t>
            </a:r>
            <a:r>
              <a:rPr lang="ko-KR" altLang="en-US" sz="1400" b="1" dirty="0"/>
              <a:t>등록  진행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F2422-972F-676F-E731-1B4D0B7591F9}"/>
              </a:ext>
            </a:extLst>
          </p:cNvPr>
          <p:cNvSpPr txBox="1"/>
          <p:nvPr/>
        </p:nvSpPr>
        <p:spPr>
          <a:xfrm>
            <a:off x="600456" y="162008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/>
            </a:lvl1pPr>
          </a:lstStyle>
          <a:p>
            <a:r>
              <a:rPr lang="en-US" altLang="ko-KR" dirty="0"/>
              <a:t>II. </a:t>
            </a:r>
            <a:r>
              <a:rPr lang="ko-KR" altLang="en-US" dirty="0"/>
              <a:t>통합 상태 모니터링 대시보드 구성 작업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9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5B9F-5307-AA0B-348B-2718BF54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!!Rectangle 566">
            <a:extLst>
              <a:ext uri="{FF2B5EF4-FFF2-40B4-BE49-F238E27FC236}">
                <a16:creationId xmlns:a16="http://schemas.microsoft.com/office/drawing/2014/main" id="{63E3A27F-6CDF-32C0-69C1-7B444E84B528}"/>
              </a:ext>
            </a:extLst>
          </p:cNvPr>
          <p:cNvSpPr/>
          <p:nvPr/>
        </p:nvSpPr>
        <p:spPr>
          <a:xfrm>
            <a:off x="780104" y="3761800"/>
            <a:ext cx="2257736" cy="20818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  <a:ln w="6350">
            <a:solidFill>
              <a:schemeClr val="tx2">
                <a:lumMod val="10000"/>
              </a:schemeClr>
            </a:solidFill>
            <a:prstDash val="dash"/>
          </a:ln>
          <a:effectLst/>
        </p:spPr>
        <p:txBody>
          <a:bodyPr wrap="square" lIns="0" tIns="72000" rIns="0" bIns="10800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서울</a:t>
            </a:r>
            <a:r>
              <a:rPr lang="en-US" altLang="ko-KR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IDC</a:t>
            </a:r>
            <a:endParaRPr lang="en-US" sz="900" kern="12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cxnSp>
        <p:nvCxnSpPr>
          <p:cNvPr id="2023" name="Google Shape;957;g2872d9e35e1_4_15">
            <a:extLst>
              <a:ext uri="{FF2B5EF4-FFF2-40B4-BE49-F238E27FC236}">
                <a16:creationId xmlns:a16="http://schemas.microsoft.com/office/drawing/2014/main" id="{6128A195-854E-46A9-F2E2-0A856C9259AA}"/>
              </a:ext>
            </a:extLst>
          </p:cNvPr>
          <p:cNvCxnSpPr>
            <a:cxnSpLocks/>
          </p:cNvCxnSpPr>
          <p:nvPr/>
        </p:nvCxnSpPr>
        <p:spPr>
          <a:xfrm>
            <a:off x="1208676" y="5391471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4" name="Google Shape;945;g2872d9e35e1_4_15">
            <a:extLst>
              <a:ext uri="{FF2B5EF4-FFF2-40B4-BE49-F238E27FC236}">
                <a16:creationId xmlns:a16="http://schemas.microsoft.com/office/drawing/2014/main" id="{95EE64E9-C753-FEB8-C309-3221D99B2AC1}"/>
              </a:ext>
            </a:extLst>
          </p:cNvPr>
          <p:cNvSpPr/>
          <p:nvPr/>
        </p:nvSpPr>
        <p:spPr>
          <a:xfrm>
            <a:off x="824139" y="3795817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endParaRPr lang="en-US" sz="800" b="1" dirty="0"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ko-KR" alt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제조</a:t>
            </a:r>
            <a:endParaRPr lang="en-US" sz="800" b="1" dirty="0"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025" name="Google Shape;1155;p37">
            <a:extLst>
              <a:ext uri="{FF2B5EF4-FFF2-40B4-BE49-F238E27FC236}">
                <a16:creationId xmlns:a16="http://schemas.microsoft.com/office/drawing/2014/main" id="{DBB32E19-7C21-79EA-F9DA-9DD23DB2224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85116" y="4949511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6" name="Google Shape;1157;p37">
            <a:extLst>
              <a:ext uri="{FF2B5EF4-FFF2-40B4-BE49-F238E27FC236}">
                <a16:creationId xmlns:a16="http://schemas.microsoft.com/office/drawing/2014/main" id="{A6BF5871-581A-6276-C798-C71EA471CA46}"/>
              </a:ext>
            </a:extLst>
          </p:cNvPr>
          <p:cNvCxnSpPr>
            <a:cxnSpLocks/>
            <a:stCxn id="2069" idx="0"/>
            <a:endCxn id="2044" idx="2"/>
          </p:cNvCxnSpPr>
          <p:nvPr/>
        </p:nvCxnSpPr>
        <p:spPr>
          <a:xfrm flipH="1" flipV="1">
            <a:off x="1097469" y="4774501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7" name="Google Shape;1158;p37">
            <a:extLst>
              <a:ext uri="{FF2B5EF4-FFF2-40B4-BE49-F238E27FC236}">
                <a16:creationId xmlns:a16="http://schemas.microsoft.com/office/drawing/2014/main" id="{CCC5FCA6-B8B4-E757-1724-F114572F3F5D}"/>
              </a:ext>
            </a:extLst>
          </p:cNvPr>
          <p:cNvSpPr/>
          <p:nvPr/>
        </p:nvSpPr>
        <p:spPr>
          <a:xfrm>
            <a:off x="873529" y="4285528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028" name="그룹 2027">
            <a:extLst>
              <a:ext uri="{FF2B5EF4-FFF2-40B4-BE49-F238E27FC236}">
                <a16:creationId xmlns:a16="http://schemas.microsoft.com/office/drawing/2014/main" id="{EE7CDE5A-C218-3888-530B-699E52CBBD24}"/>
              </a:ext>
            </a:extLst>
          </p:cNvPr>
          <p:cNvGrpSpPr>
            <a:grpSpLocks noChangeAspect="1"/>
          </p:cNvGrpSpPr>
          <p:nvPr/>
        </p:nvGrpSpPr>
        <p:grpSpPr>
          <a:xfrm>
            <a:off x="909171" y="4355475"/>
            <a:ext cx="124071" cy="159622"/>
            <a:chOff x="6434980" y="855802"/>
            <a:chExt cx="600836" cy="600837"/>
          </a:xfrm>
        </p:grpSpPr>
        <p:sp>
          <p:nvSpPr>
            <p:cNvPr id="2029" name="Picture Placeholder 77">
              <a:extLst>
                <a:ext uri="{FF2B5EF4-FFF2-40B4-BE49-F238E27FC236}">
                  <a16:creationId xmlns:a16="http://schemas.microsoft.com/office/drawing/2014/main" id="{EE3DA364-13D9-D3B9-3908-6F9CE042AE02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30" name="Picture Placeholder 104" descr="Virtual Machine&#10;">
              <a:extLst>
                <a:ext uri="{FF2B5EF4-FFF2-40B4-BE49-F238E27FC236}">
                  <a16:creationId xmlns:a16="http://schemas.microsoft.com/office/drawing/2014/main" id="{5FE894C5-5510-29BD-B8ED-965C2E845463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031" name="Picture Placeholder 104">
                <a:extLst>
                  <a:ext uri="{FF2B5EF4-FFF2-40B4-BE49-F238E27FC236}">
                    <a16:creationId xmlns:a16="http://schemas.microsoft.com/office/drawing/2014/main" id="{A396F3C8-72EC-DEE8-FACE-E2609183F8F2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32" name="Picture Placeholder 104">
                <a:extLst>
                  <a:ext uri="{FF2B5EF4-FFF2-40B4-BE49-F238E27FC236}">
                    <a16:creationId xmlns:a16="http://schemas.microsoft.com/office/drawing/2014/main" id="{CAF9D2E9-784C-832B-CE37-E9E72FE8745A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033" name="Picture Placeholder 104">
                  <a:extLst>
                    <a:ext uri="{FF2B5EF4-FFF2-40B4-BE49-F238E27FC236}">
                      <a16:creationId xmlns:a16="http://schemas.microsoft.com/office/drawing/2014/main" id="{28410B9E-9F7C-F93A-140C-38051D6848C5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034" name="Picture Placeholder 104">
                  <a:extLst>
                    <a:ext uri="{FF2B5EF4-FFF2-40B4-BE49-F238E27FC236}">
                      <a16:creationId xmlns:a16="http://schemas.microsoft.com/office/drawing/2014/main" id="{4AE992B3-0B75-FB2B-D0DE-0D179CEABE9E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035" name="그룹 2034">
            <a:extLst>
              <a:ext uri="{FF2B5EF4-FFF2-40B4-BE49-F238E27FC236}">
                <a16:creationId xmlns:a16="http://schemas.microsoft.com/office/drawing/2014/main" id="{CF9A7F68-DB17-1B0D-2190-7BDA8F59ABB9}"/>
              </a:ext>
            </a:extLst>
          </p:cNvPr>
          <p:cNvGrpSpPr>
            <a:grpSpLocks noChangeAspect="1"/>
          </p:cNvGrpSpPr>
          <p:nvPr/>
        </p:nvGrpSpPr>
        <p:grpSpPr>
          <a:xfrm>
            <a:off x="1039344" y="4355475"/>
            <a:ext cx="124071" cy="159622"/>
            <a:chOff x="6434980" y="855802"/>
            <a:chExt cx="600836" cy="600837"/>
          </a:xfrm>
        </p:grpSpPr>
        <p:sp>
          <p:nvSpPr>
            <p:cNvPr id="2036" name="Picture Placeholder 77">
              <a:extLst>
                <a:ext uri="{FF2B5EF4-FFF2-40B4-BE49-F238E27FC236}">
                  <a16:creationId xmlns:a16="http://schemas.microsoft.com/office/drawing/2014/main" id="{AB25A59E-E220-DE25-97B7-BB0B064BE141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37" name="Picture Placeholder 104" descr="Virtual Machine&#10;">
              <a:extLst>
                <a:ext uri="{FF2B5EF4-FFF2-40B4-BE49-F238E27FC236}">
                  <a16:creationId xmlns:a16="http://schemas.microsoft.com/office/drawing/2014/main" id="{F1ABEBE8-EA3F-B8B5-E274-585D727F539C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038" name="Picture Placeholder 104">
                <a:extLst>
                  <a:ext uri="{FF2B5EF4-FFF2-40B4-BE49-F238E27FC236}">
                    <a16:creationId xmlns:a16="http://schemas.microsoft.com/office/drawing/2014/main" id="{51356037-72E7-E53D-7BA7-5FEE1694FFE8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39" name="Picture Placeholder 104">
                <a:extLst>
                  <a:ext uri="{FF2B5EF4-FFF2-40B4-BE49-F238E27FC236}">
                    <a16:creationId xmlns:a16="http://schemas.microsoft.com/office/drawing/2014/main" id="{51B211B0-4F6B-CC3A-F3D4-4D9945CF3B34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040" name="Picture Placeholder 104">
                  <a:extLst>
                    <a:ext uri="{FF2B5EF4-FFF2-40B4-BE49-F238E27FC236}">
                      <a16:creationId xmlns:a16="http://schemas.microsoft.com/office/drawing/2014/main" id="{B1A5569D-FDEE-F1E4-71BA-DF75D784956C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041" name="Picture Placeholder 104">
                  <a:extLst>
                    <a:ext uri="{FF2B5EF4-FFF2-40B4-BE49-F238E27FC236}">
                      <a16:creationId xmlns:a16="http://schemas.microsoft.com/office/drawing/2014/main" id="{9EE70204-BC80-8288-8BE7-3B065A34DECF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042" name="직사각형 2041">
            <a:extLst>
              <a:ext uri="{FF2B5EF4-FFF2-40B4-BE49-F238E27FC236}">
                <a16:creationId xmlns:a16="http://schemas.microsoft.com/office/drawing/2014/main" id="{95AC8370-2247-6C67-D256-D4F7F2116DD3}"/>
              </a:ext>
            </a:extLst>
          </p:cNvPr>
          <p:cNvSpPr/>
          <p:nvPr/>
        </p:nvSpPr>
        <p:spPr>
          <a:xfrm>
            <a:off x="900236" y="4538355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043" name="그룹 2042">
            <a:extLst>
              <a:ext uri="{FF2B5EF4-FFF2-40B4-BE49-F238E27FC236}">
                <a16:creationId xmlns:a16="http://schemas.microsoft.com/office/drawing/2014/main" id="{1C0DFB28-6E9E-3A8A-26B0-C97CA0C80BAF}"/>
              </a:ext>
            </a:extLst>
          </p:cNvPr>
          <p:cNvGrpSpPr>
            <a:grpSpLocks noChangeAspect="1"/>
          </p:cNvGrpSpPr>
          <p:nvPr/>
        </p:nvGrpSpPr>
        <p:grpSpPr>
          <a:xfrm>
            <a:off x="977158" y="4680459"/>
            <a:ext cx="240630" cy="94042"/>
            <a:chOff x="8143395" y="2987969"/>
            <a:chExt cx="600854" cy="164611"/>
          </a:xfrm>
        </p:grpSpPr>
        <p:sp>
          <p:nvSpPr>
            <p:cNvPr id="2044" name="Picture Placeholder 77">
              <a:extLst>
                <a:ext uri="{FF2B5EF4-FFF2-40B4-BE49-F238E27FC236}">
                  <a16:creationId xmlns:a16="http://schemas.microsoft.com/office/drawing/2014/main" id="{FF7DFC17-81CF-AFD2-3653-3A077F8C3F23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45" name="Picture Placeholder 77" descr="Rack Server 2&#10;">
              <a:extLst>
                <a:ext uri="{FF2B5EF4-FFF2-40B4-BE49-F238E27FC236}">
                  <a16:creationId xmlns:a16="http://schemas.microsoft.com/office/drawing/2014/main" id="{41DEA07B-5992-B3B4-E422-1E331F266D05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046" name="Picture Placeholder 77">
                <a:extLst>
                  <a:ext uri="{FF2B5EF4-FFF2-40B4-BE49-F238E27FC236}">
                    <a16:creationId xmlns:a16="http://schemas.microsoft.com/office/drawing/2014/main" id="{B37B6DBB-A310-7743-F2B5-0A9519CD2C2F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048" name="Picture Placeholder 77">
                  <a:extLst>
                    <a:ext uri="{FF2B5EF4-FFF2-40B4-BE49-F238E27FC236}">
                      <a16:creationId xmlns:a16="http://schemas.microsoft.com/office/drawing/2014/main" id="{7F69B243-393A-2F16-11FE-879490D77DEF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049" name="Picture Placeholder 77">
                  <a:extLst>
                    <a:ext uri="{FF2B5EF4-FFF2-40B4-BE49-F238E27FC236}">
                      <a16:creationId xmlns:a16="http://schemas.microsoft.com/office/drawing/2014/main" id="{F274380A-E37A-C513-F242-20FC299558D5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050" name="Picture Placeholder 77">
                    <a:extLst>
                      <a:ext uri="{FF2B5EF4-FFF2-40B4-BE49-F238E27FC236}">
                        <a16:creationId xmlns:a16="http://schemas.microsoft.com/office/drawing/2014/main" id="{0C3F4248-E7CD-AACB-1949-7AE318AF571B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051" name="Picture Placeholder 77">
                    <a:extLst>
                      <a:ext uri="{FF2B5EF4-FFF2-40B4-BE49-F238E27FC236}">
                        <a16:creationId xmlns:a16="http://schemas.microsoft.com/office/drawing/2014/main" id="{CDB98EA8-38FE-133B-65EF-055521440E9E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052" name="Picture Placeholder 77">
                    <a:extLst>
                      <a:ext uri="{FF2B5EF4-FFF2-40B4-BE49-F238E27FC236}">
                        <a16:creationId xmlns:a16="http://schemas.microsoft.com/office/drawing/2014/main" id="{30DDD249-24A3-DC01-95BF-4D817B807681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053" name="Picture Placeholder 77">
                    <a:extLst>
                      <a:ext uri="{FF2B5EF4-FFF2-40B4-BE49-F238E27FC236}">
                        <a16:creationId xmlns:a16="http://schemas.microsoft.com/office/drawing/2014/main" id="{5A6E7EDB-13B2-D0F9-0147-B816780989EB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047" name="Picture Placeholder 77">
                <a:extLst>
                  <a:ext uri="{FF2B5EF4-FFF2-40B4-BE49-F238E27FC236}">
                    <a16:creationId xmlns:a16="http://schemas.microsoft.com/office/drawing/2014/main" id="{047BE918-F0D1-159F-55DC-FACB8F576703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054" name="그룹 2053">
            <a:extLst>
              <a:ext uri="{FF2B5EF4-FFF2-40B4-BE49-F238E27FC236}">
                <a16:creationId xmlns:a16="http://schemas.microsoft.com/office/drawing/2014/main" id="{0E9FEEEB-6372-B52E-25EF-47DB134C6DB7}"/>
              </a:ext>
            </a:extLst>
          </p:cNvPr>
          <p:cNvGrpSpPr>
            <a:grpSpLocks noChangeAspect="1"/>
          </p:cNvGrpSpPr>
          <p:nvPr/>
        </p:nvGrpSpPr>
        <p:grpSpPr>
          <a:xfrm>
            <a:off x="1169518" y="4355475"/>
            <a:ext cx="124071" cy="159622"/>
            <a:chOff x="6434980" y="855802"/>
            <a:chExt cx="600836" cy="600837"/>
          </a:xfrm>
        </p:grpSpPr>
        <p:sp>
          <p:nvSpPr>
            <p:cNvPr id="2055" name="Picture Placeholder 77">
              <a:extLst>
                <a:ext uri="{FF2B5EF4-FFF2-40B4-BE49-F238E27FC236}">
                  <a16:creationId xmlns:a16="http://schemas.microsoft.com/office/drawing/2014/main" id="{73B761AF-F2BC-CC5F-9A25-CEE6F9892FC7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56" name="Picture Placeholder 104" descr="Virtual Machine&#10;">
              <a:extLst>
                <a:ext uri="{FF2B5EF4-FFF2-40B4-BE49-F238E27FC236}">
                  <a16:creationId xmlns:a16="http://schemas.microsoft.com/office/drawing/2014/main" id="{695BBEA2-FA5D-F17E-29B4-ECE69D83CC8E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057" name="Picture Placeholder 104">
                <a:extLst>
                  <a:ext uri="{FF2B5EF4-FFF2-40B4-BE49-F238E27FC236}">
                    <a16:creationId xmlns:a16="http://schemas.microsoft.com/office/drawing/2014/main" id="{63EA57F6-A874-AF6A-93EC-A7A9B80944B3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58" name="Picture Placeholder 104">
                <a:extLst>
                  <a:ext uri="{FF2B5EF4-FFF2-40B4-BE49-F238E27FC236}">
                    <a16:creationId xmlns:a16="http://schemas.microsoft.com/office/drawing/2014/main" id="{6BB75D31-115C-0B78-98A5-2CFB25EE0CE1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059" name="Picture Placeholder 104">
                  <a:extLst>
                    <a:ext uri="{FF2B5EF4-FFF2-40B4-BE49-F238E27FC236}">
                      <a16:creationId xmlns:a16="http://schemas.microsoft.com/office/drawing/2014/main" id="{37A94807-8F7D-B0CA-4517-F389CC9DFAFA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060" name="Picture Placeholder 104">
                  <a:extLst>
                    <a:ext uri="{FF2B5EF4-FFF2-40B4-BE49-F238E27FC236}">
                      <a16:creationId xmlns:a16="http://schemas.microsoft.com/office/drawing/2014/main" id="{311A7DD6-AC51-FE0A-6C22-6C8F40F017F7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061" name="그룹 2060">
            <a:extLst>
              <a:ext uri="{FF2B5EF4-FFF2-40B4-BE49-F238E27FC236}">
                <a16:creationId xmlns:a16="http://schemas.microsoft.com/office/drawing/2014/main" id="{94227116-7CB4-9231-2507-05680D2AABF9}"/>
              </a:ext>
            </a:extLst>
          </p:cNvPr>
          <p:cNvGrpSpPr>
            <a:grpSpLocks noChangeAspect="1"/>
          </p:cNvGrpSpPr>
          <p:nvPr/>
        </p:nvGrpSpPr>
        <p:grpSpPr>
          <a:xfrm>
            <a:off x="1299690" y="4355475"/>
            <a:ext cx="124071" cy="159622"/>
            <a:chOff x="6434980" y="855802"/>
            <a:chExt cx="600836" cy="600837"/>
          </a:xfrm>
        </p:grpSpPr>
        <p:sp>
          <p:nvSpPr>
            <p:cNvPr id="2062" name="Picture Placeholder 77">
              <a:extLst>
                <a:ext uri="{FF2B5EF4-FFF2-40B4-BE49-F238E27FC236}">
                  <a16:creationId xmlns:a16="http://schemas.microsoft.com/office/drawing/2014/main" id="{38C547D0-F9CB-5B58-11A3-4861F7B8C67A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63" name="Picture Placeholder 104" descr="Virtual Machine&#10;">
              <a:extLst>
                <a:ext uri="{FF2B5EF4-FFF2-40B4-BE49-F238E27FC236}">
                  <a16:creationId xmlns:a16="http://schemas.microsoft.com/office/drawing/2014/main" id="{50BF7029-A14D-CF70-3D4D-35D5C50080CF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064" name="Picture Placeholder 104">
                <a:extLst>
                  <a:ext uri="{FF2B5EF4-FFF2-40B4-BE49-F238E27FC236}">
                    <a16:creationId xmlns:a16="http://schemas.microsoft.com/office/drawing/2014/main" id="{9176F606-F783-F550-EA0A-32CCE812E952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65" name="Picture Placeholder 104">
                <a:extLst>
                  <a:ext uri="{FF2B5EF4-FFF2-40B4-BE49-F238E27FC236}">
                    <a16:creationId xmlns:a16="http://schemas.microsoft.com/office/drawing/2014/main" id="{03F40D1B-96E8-5C21-8E32-AE656C919640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066" name="Picture Placeholder 104">
                  <a:extLst>
                    <a:ext uri="{FF2B5EF4-FFF2-40B4-BE49-F238E27FC236}">
                      <a16:creationId xmlns:a16="http://schemas.microsoft.com/office/drawing/2014/main" id="{741DA0C0-39EF-CE14-5A65-0492E2A98AA7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067" name="Picture Placeholder 104">
                  <a:extLst>
                    <a:ext uri="{FF2B5EF4-FFF2-40B4-BE49-F238E27FC236}">
                      <a16:creationId xmlns:a16="http://schemas.microsoft.com/office/drawing/2014/main" id="{F2B26886-1348-1357-009B-CFF8ADDFE338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068" name="Google Shape;1155;p37">
            <a:extLst>
              <a:ext uri="{FF2B5EF4-FFF2-40B4-BE49-F238E27FC236}">
                <a16:creationId xmlns:a16="http://schemas.microsoft.com/office/drawing/2014/main" id="{EB798A79-602C-56B7-48A5-54E03004E1D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104580" y="4949511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9" name="Google Shape;1155;p37">
            <a:extLst>
              <a:ext uri="{FF2B5EF4-FFF2-40B4-BE49-F238E27FC236}">
                <a16:creationId xmlns:a16="http://schemas.microsoft.com/office/drawing/2014/main" id="{C8EF3B7A-C54F-1957-619B-C95B47FA5E3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42425" y="4911577"/>
            <a:ext cx="111071" cy="134991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945;g2872d9e35e1_4_15">
            <a:extLst>
              <a:ext uri="{FF2B5EF4-FFF2-40B4-BE49-F238E27FC236}">
                <a16:creationId xmlns:a16="http://schemas.microsoft.com/office/drawing/2014/main" id="{0E5E54A2-52F0-3A66-A23F-C0030DEBEF03}"/>
              </a:ext>
            </a:extLst>
          </p:cNvPr>
          <p:cNvSpPr/>
          <p:nvPr/>
        </p:nvSpPr>
        <p:spPr>
          <a:xfrm>
            <a:off x="1535770" y="3795817"/>
            <a:ext cx="677638" cy="1702049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MIG</a:t>
            </a:r>
          </a:p>
        </p:txBody>
      </p:sp>
      <p:pic>
        <p:nvPicPr>
          <p:cNvPr id="2071" name="Google Shape;1155;p37">
            <a:extLst>
              <a:ext uri="{FF2B5EF4-FFF2-40B4-BE49-F238E27FC236}">
                <a16:creationId xmlns:a16="http://schemas.microsoft.com/office/drawing/2014/main" id="{6A6B2FE7-ADED-5977-E51B-C82F3EE3A40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92701" y="4942146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2" name="Google Shape;1157;p37">
            <a:extLst>
              <a:ext uri="{FF2B5EF4-FFF2-40B4-BE49-F238E27FC236}">
                <a16:creationId xmlns:a16="http://schemas.microsoft.com/office/drawing/2014/main" id="{8E6FF1F0-2939-A131-FC78-66D449C789A3}"/>
              </a:ext>
            </a:extLst>
          </p:cNvPr>
          <p:cNvCxnSpPr>
            <a:cxnSpLocks/>
            <a:stCxn id="2115" idx="0"/>
            <a:endCxn id="2090" idx="2"/>
          </p:cNvCxnSpPr>
          <p:nvPr/>
        </p:nvCxnSpPr>
        <p:spPr>
          <a:xfrm flipH="1" flipV="1">
            <a:off x="1805055" y="4767137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3" name="Google Shape;1158;p37">
            <a:extLst>
              <a:ext uri="{FF2B5EF4-FFF2-40B4-BE49-F238E27FC236}">
                <a16:creationId xmlns:a16="http://schemas.microsoft.com/office/drawing/2014/main" id="{358FC340-A659-17A7-F7E5-FF7650918B40}"/>
              </a:ext>
            </a:extLst>
          </p:cNvPr>
          <p:cNvSpPr/>
          <p:nvPr/>
        </p:nvSpPr>
        <p:spPr>
          <a:xfrm>
            <a:off x="1581115" y="4278164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074" name="그룹 2073">
            <a:extLst>
              <a:ext uri="{FF2B5EF4-FFF2-40B4-BE49-F238E27FC236}">
                <a16:creationId xmlns:a16="http://schemas.microsoft.com/office/drawing/2014/main" id="{4E99BEEC-F2EE-C634-4C9F-1D06479F9C6D}"/>
              </a:ext>
            </a:extLst>
          </p:cNvPr>
          <p:cNvGrpSpPr>
            <a:grpSpLocks noChangeAspect="1"/>
          </p:cNvGrpSpPr>
          <p:nvPr/>
        </p:nvGrpSpPr>
        <p:grpSpPr>
          <a:xfrm>
            <a:off x="1616757" y="4348110"/>
            <a:ext cx="124071" cy="159622"/>
            <a:chOff x="6434980" y="855802"/>
            <a:chExt cx="600836" cy="600837"/>
          </a:xfrm>
        </p:grpSpPr>
        <p:sp>
          <p:nvSpPr>
            <p:cNvPr id="2075" name="Picture Placeholder 77">
              <a:extLst>
                <a:ext uri="{FF2B5EF4-FFF2-40B4-BE49-F238E27FC236}">
                  <a16:creationId xmlns:a16="http://schemas.microsoft.com/office/drawing/2014/main" id="{AD92AAE5-D7AE-C892-18C2-BCBA1E2A9751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76" name="Picture Placeholder 104" descr="Virtual Machine&#10;">
              <a:extLst>
                <a:ext uri="{FF2B5EF4-FFF2-40B4-BE49-F238E27FC236}">
                  <a16:creationId xmlns:a16="http://schemas.microsoft.com/office/drawing/2014/main" id="{A3A38EEF-CE33-A6B2-ADFC-5B73C8572A0A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077" name="Picture Placeholder 104">
                <a:extLst>
                  <a:ext uri="{FF2B5EF4-FFF2-40B4-BE49-F238E27FC236}">
                    <a16:creationId xmlns:a16="http://schemas.microsoft.com/office/drawing/2014/main" id="{D6AE2562-97A6-F3CF-57A6-3F70A132E723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78" name="Picture Placeholder 104">
                <a:extLst>
                  <a:ext uri="{FF2B5EF4-FFF2-40B4-BE49-F238E27FC236}">
                    <a16:creationId xmlns:a16="http://schemas.microsoft.com/office/drawing/2014/main" id="{F12BC205-B1F9-8B6F-88B7-B826D6CD16E8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079" name="Picture Placeholder 104">
                  <a:extLst>
                    <a:ext uri="{FF2B5EF4-FFF2-40B4-BE49-F238E27FC236}">
                      <a16:creationId xmlns:a16="http://schemas.microsoft.com/office/drawing/2014/main" id="{B93EEA05-4F52-5E70-E1FA-40BDA0F5DD5C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080" name="Picture Placeholder 104">
                  <a:extLst>
                    <a:ext uri="{FF2B5EF4-FFF2-40B4-BE49-F238E27FC236}">
                      <a16:creationId xmlns:a16="http://schemas.microsoft.com/office/drawing/2014/main" id="{B9D3317C-0870-CCAC-9080-4C6FEB0329DA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081" name="그룹 2080">
            <a:extLst>
              <a:ext uri="{FF2B5EF4-FFF2-40B4-BE49-F238E27FC236}">
                <a16:creationId xmlns:a16="http://schemas.microsoft.com/office/drawing/2014/main" id="{6E3EB6B3-EE72-1010-A0C4-4CC0D6950CA0}"/>
              </a:ext>
            </a:extLst>
          </p:cNvPr>
          <p:cNvGrpSpPr>
            <a:grpSpLocks noChangeAspect="1"/>
          </p:cNvGrpSpPr>
          <p:nvPr/>
        </p:nvGrpSpPr>
        <p:grpSpPr>
          <a:xfrm>
            <a:off x="1746929" y="4348110"/>
            <a:ext cx="124071" cy="159622"/>
            <a:chOff x="6434980" y="855802"/>
            <a:chExt cx="600836" cy="600837"/>
          </a:xfrm>
        </p:grpSpPr>
        <p:sp>
          <p:nvSpPr>
            <p:cNvPr id="2082" name="Picture Placeholder 77">
              <a:extLst>
                <a:ext uri="{FF2B5EF4-FFF2-40B4-BE49-F238E27FC236}">
                  <a16:creationId xmlns:a16="http://schemas.microsoft.com/office/drawing/2014/main" id="{7FCDE5E9-D8A9-2E61-97F0-5FE4F4894FB2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83" name="Picture Placeholder 104" descr="Virtual Machine&#10;">
              <a:extLst>
                <a:ext uri="{FF2B5EF4-FFF2-40B4-BE49-F238E27FC236}">
                  <a16:creationId xmlns:a16="http://schemas.microsoft.com/office/drawing/2014/main" id="{99AE1A21-2B51-D7B5-5C92-C88B17198436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084" name="Picture Placeholder 104">
                <a:extLst>
                  <a:ext uri="{FF2B5EF4-FFF2-40B4-BE49-F238E27FC236}">
                    <a16:creationId xmlns:a16="http://schemas.microsoft.com/office/drawing/2014/main" id="{3A1A11E6-7F8F-445C-7995-0FAFF4582EEA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85" name="Picture Placeholder 104">
                <a:extLst>
                  <a:ext uri="{FF2B5EF4-FFF2-40B4-BE49-F238E27FC236}">
                    <a16:creationId xmlns:a16="http://schemas.microsoft.com/office/drawing/2014/main" id="{14B9E820-EB5C-3106-93D9-295E323FB548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086" name="Picture Placeholder 104">
                  <a:extLst>
                    <a:ext uri="{FF2B5EF4-FFF2-40B4-BE49-F238E27FC236}">
                      <a16:creationId xmlns:a16="http://schemas.microsoft.com/office/drawing/2014/main" id="{61143137-08F7-5CF8-8507-1E407B8EF86E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087" name="Picture Placeholder 104">
                  <a:extLst>
                    <a:ext uri="{FF2B5EF4-FFF2-40B4-BE49-F238E27FC236}">
                      <a16:creationId xmlns:a16="http://schemas.microsoft.com/office/drawing/2014/main" id="{3E29347E-1ACB-3F7B-17B1-5D9E5EA55721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088" name="직사각형 2087">
            <a:extLst>
              <a:ext uri="{FF2B5EF4-FFF2-40B4-BE49-F238E27FC236}">
                <a16:creationId xmlns:a16="http://schemas.microsoft.com/office/drawing/2014/main" id="{D62ADD24-0CB8-E704-E165-946FFD9023DF}"/>
              </a:ext>
            </a:extLst>
          </p:cNvPr>
          <p:cNvSpPr/>
          <p:nvPr/>
        </p:nvSpPr>
        <p:spPr>
          <a:xfrm>
            <a:off x="1607822" y="4530990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089" name="그룹 2088">
            <a:extLst>
              <a:ext uri="{FF2B5EF4-FFF2-40B4-BE49-F238E27FC236}">
                <a16:creationId xmlns:a16="http://schemas.microsoft.com/office/drawing/2014/main" id="{9A13034B-FF23-F8E0-116E-3E53ED4BA457}"/>
              </a:ext>
            </a:extLst>
          </p:cNvPr>
          <p:cNvGrpSpPr>
            <a:grpSpLocks noChangeAspect="1"/>
          </p:cNvGrpSpPr>
          <p:nvPr/>
        </p:nvGrpSpPr>
        <p:grpSpPr>
          <a:xfrm>
            <a:off x="1684743" y="4673095"/>
            <a:ext cx="240630" cy="94042"/>
            <a:chOff x="8143395" y="2987969"/>
            <a:chExt cx="600854" cy="164611"/>
          </a:xfrm>
        </p:grpSpPr>
        <p:sp>
          <p:nvSpPr>
            <p:cNvPr id="2090" name="Picture Placeholder 77">
              <a:extLst>
                <a:ext uri="{FF2B5EF4-FFF2-40B4-BE49-F238E27FC236}">
                  <a16:creationId xmlns:a16="http://schemas.microsoft.com/office/drawing/2014/main" id="{86ECDB3C-D6E6-B533-EEEE-D933EE64CAA0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091" name="Picture Placeholder 77" descr="Rack Server 2&#10;">
              <a:extLst>
                <a:ext uri="{FF2B5EF4-FFF2-40B4-BE49-F238E27FC236}">
                  <a16:creationId xmlns:a16="http://schemas.microsoft.com/office/drawing/2014/main" id="{97C8E941-A32A-82E9-5B7F-4F3DFBBAF03F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092" name="Picture Placeholder 77">
                <a:extLst>
                  <a:ext uri="{FF2B5EF4-FFF2-40B4-BE49-F238E27FC236}">
                    <a16:creationId xmlns:a16="http://schemas.microsoft.com/office/drawing/2014/main" id="{7E43D433-70BC-395B-26CB-AC226279F174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094" name="Picture Placeholder 77">
                  <a:extLst>
                    <a:ext uri="{FF2B5EF4-FFF2-40B4-BE49-F238E27FC236}">
                      <a16:creationId xmlns:a16="http://schemas.microsoft.com/office/drawing/2014/main" id="{44A51B0C-DB50-D1F6-AF39-C45F9BC17C64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095" name="Picture Placeholder 77">
                  <a:extLst>
                    <a:ext uri="{FF2B5EF4-FFF2-40B4-BE49-F238E27FC236}">
                      <a16:creationId xmlns:a16="http://schemas.microsoft.com/office/drawing/2014/main" id="{FB792D49-1C0F-590B-1AC8-AA2F7A453AE1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096" name="Picture Placeholder 77">
                    <a:extLst>
                      <a:ext uri="{FF2B5EF4-FFF2-40B4-BE49-F238E27FC236}">
                        <a16:creationId xmlns:a16="http://schemas.microsoft.com/office/drawing/2014/main" id="{8C2FB0B0-6474-C4E6-DAA3-2266AF5F24B4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097" name="Picture Placeholder 77">
                    <a:extLst>
                      <a:ext uri="{FF2B5EF4-FFF2-40B4-BE49-F238E27FC236}">
                        <a16:creationId xmlns:a16="http://schemas.microsoft.com/office/drawing/2014/main" id="{9DED98DC-83EF-BB7F-CAEE-C6DA322446F0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098" name="Picture Placeholder 77">
                    <a:extLst>
                      <a:ext uri="{FF2B5EF4-FFF2-40B4-BE49-F238E27FC236}">
                        <a16:creationId xmlns:a16="http://schemas.microsoft.com/office/drawing/2014/main" id="{A9B0AC11-51F7-6E4D-C4DB-CA79F6CE6F2B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099" name="Picture Placeholder 77">
                    <a:extLst>
                      <a:ext uri="{FF2B5EF4-FFF2-40B4-BE49-F238E27FC236}">
                        <a16:creationId xmlns:a16="http://schemas.microsoft.com/office/drawing/2014/main" id="{4FA571AE-5169-AA96-9F52-05811A8DE8BF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093" name="Picture Placeholder 77">
                <a:extLst>
                  <a:ext uri="{FF2B5EF4-FFF2-40B4-BE49-F238E27FC236}">
                    <a16:creationId xmlns:a16="http://schemas.microsoft.com/office/drawing/2014/main" id="{3D9EC894-CB4C-6EEA-7018-FAD388BA8AEE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100" name="그룹 2099">
            <a:extLst>
              <a:ext uri="{FF2B5EF4-FFF2-40B4-BE49-F238E27FC236}">
                <a16:creationId xmlns:a16="http://schemas.microsoft.com/office/drawing/2014/main" id="{79C8AC4C-4987-2D8E-7297-28358D88EF5C}"/>
              </a:ext>
            </a:extLst>
          </p:cNvPr>
          <p:cNvGrpSpPr>
            <a:grpSpLocks noChangeAspect="1"/>
          </p:cNvGrpSpPr>
          <p:nvPr/>
        </p:nvGrpSpPr>
        <p:grpSpPr>
          <a:xfrm>
            <a:off x="1877103" y="4348110"/>
            <a:ext cx="124071" cy="159622"/>
            <a:chOff x="6434980" y="855802"/>
            <a:chExt cx="600836" cy="600837"/>
          </a:xfrm>
        </p:grpSpPr>
        <p:sp>
          <p:nvSpPr>
            <p:cNvPr id="2101" name="Picture Placeholder 77">
              <a:extLst>
                <a:ext uri="{FF2B5EF4-FFF2-40B4-BE49-F238E27FC236}">
                  <a16:creationId xmlns:a16="http://schemas.microsoft.com/office/drawing/2014/main" id="{83287753-F1CF-7E3B-3C20-16C76FCC4702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02" name="Picture Placeholder 104" descr="Virtual Machine&#10;">
              <a:extLst>
                <a:ext uri="{FF2B5EF4-FFF2-40B4-BE49-F238E27FC236}">
                  <a16:creationId xmlns:a16="http://schemas.microsoft.com/office/drawing/2014/main" id="{AD5AC9D9-BDB1-2532-6691-A0564ACA31DC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03" name="Picture Placeholder 104">
                <a:extLst>
                  <a:ext uri="{FF2B5EF4-FFF2-40B4-BE49-F238E27FC236}">
                    <a16:creationId xmlns:a16="http://schemas.microsoft.com/office/drawing/2014/main" id="{C85522E3-10FE-5FCC-0384-71681A166017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04" name="Picture Placeholder 104">
                <a:extLst>
                  <a:ext uri="{FF2B5EF4-FFF2-40B4-BE49-F238E27FC236}">
                    <a16:creationId xmlns:a16="http://schemas.microsoft.com/office/drawing/2014/main" id="{C99C71B5-95D2-D4F2-3D45-A584FB90181F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05" name="Picture Placeholder 104">
                  <a:extLst>
                    <a:ext uri="{FF2B5EF4-FFF2-40B4-BE49-F238E27FC236}">
                      <a16:creationId xmlns:a16="http://schemas.microsoft.com/office/drawing/2014/main" id="{8BE088C5-EE6E-3738-01AC-F507E2B5CC3B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06" name="Picture Placeholder 104">
                  <a:extLst>
                    <a:ext uri="{FF2B5EF4-FFF2-40B4-BE49-F238E27FC236}">
                      <a16:creationId xmlns:a16="http://schemas.microsoft.com/office/drawing/2014/main" id="{C15BD28A-83CD-41EA-72D4-06A95A37783E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107" name="그룹 2106">
            <a:extLst>
              <a:ext uri="{FF2B5EF4-FFF2-40B4-BE49-F238E27FC236}">
                <a16:creationId xmlns:a16="http://schemas.microsoft.com/office/drawing/2014/main" id="{9974BA4A-BA9B-C925-AA35-7A9B7025B6C1}"/>
              </a:ext>
            </a:extLst>
          </p:cNvPr>
          <p:cNvGrpSpPr>
            <a:grpSpLocks noChangeAspect="1"/>
          </p:cNvGrpSpPr>
          <p:nvPr/>
        </p:nvGrpSpPr>
        <p:grpSpPr>
          <a:xfrm>
            <a:off x="2007275" y="4348110"/>
            <a:ext cx="124071" cy="159622"/>
            <a:chOff x="6434980" y="855802"/>
            <a:chExt cx="600836" cy="600837"/>
          </a:xfrm>
        </p:grpSpPr>
        <p:sp>
          <p:nvSpPr>
            <p:cNvPr id="2108" name="Picture Placeholder 77">
              <a:extLst>
                <a:ext uri="{FF2B5EF4-FFF2-40B4-BE49-F238E27FC236}">
                  <a16:creationId xmlns:a16="http://schemas.microsoft.com/office/drawing/2014/main" id="{CCF2547C-0A47-52BC-9219-B9BA63403BB7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09" name="Picture Placeholder 104" descr="Virtual Machine&#10;">
              <a:extLst>
                <a:ext uri="{FF2B5EF4-FFF2-40B4-BE49-F238E27FC236}">
                  <a16:creationId xmlns:a16="http://schemas.microsoft.com/office/drawing/2014/main" id="{50AA4DCF-6566-2CC4-F97F-30E7874BDB4C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10" name="Picture Placeholder 104">
                <a:extLst>
                  <a:ext uri="{FF2B5EF4-FFF2-40B4-BE49-F238E27FC236}">
                    <a16:creationId xmlns:a16="http://schemas.microsoft.com/office/drawing/2014/main" id="{861E1174-140B-9E32-5757-5D00FB280567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11" name="Picture Placeholder 104">
                <a:extLst>
                  <a:ext uri="{FF2B5EF4-FFF2-40B4-BE49-F238E27FC236}">
                    <a16:creationId xmlns:a16="http://schemas.microsoft.com/office/drawing/2014/main" id="{6A32A722-9887-CE0B-6346-43E63F4BCB21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12" name="Picture Placeholder 104">
                  <a:extLst>
                    <a:ext uri="{FF2B5EF4-FFF2-40B4-BE49-F238E27FC236}">
                      <a16:creationId xmlns:a16="http://schemas.microsoft.com/office/drawing/2014/main" id="{6BA3B0BE-DA18-0382-79E5-84BFF07A3815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13" name="Picture Placeholder 104">
                  <a:extLst>
                    <a:ext uri="{FF2B5EF4-FFF2-40B4-BE49-F238E27FC236}">
                      <a16:creationId xmlns:a16="http://schemas.microsoft.com/office/drawing/2014/main" id="{25A47291-00FC-E9D6-D8DD-8F72902FAF70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114" name="Google Shape;1155;p37">
            <a:extLst>
              <a:ext uri="{FF2B5EF4-FFF2-40B4-BE49-F238E27FC236}">
                <a16:creationId xmlns:a16="http://schemas.microsoft.com/office/drawing/2014/main" id="{8E3F1916-5D43-F29A-00D0-60C22FE6441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812165" y="4942146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1155;p37">
            <a:extLst>
              <a:ext uri="{FF2B5EF4-FFF2-40B4-BE49-F238E27FC236}">
                <a16:creationId xmlns:a16="http://schemas.microsoft.com/office/drawing/2014/main" id="{092CDEB7-E749-D028-8231-1AF452A43FC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750010" y="4904213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6" name="Google Shape;957;g2872d9e35e1_4_15">
            <a:extLst>
              <a:ext uri="{FF2B5EF4-FFF2-40B4-BE49-F238E27FC236}">
                <a16:creationId xmlns:a16="http://schemas.microsoft.com/office/drawing/2014/main" id="{CA8B9E5A-75A0-7780-D473-5DB00CF35FAA}"/>
              </a:ext>
            </a:extLst>
          </p:cNvPr>
          <p:cNvCxnSpPr>
            <a:cxnSpLocks/>
          </p:cNvCxnSpPr>
          <p:nvPr/>
        </p:nvCxnSpPr>
        <p:spPr>
          <a:xfrm>
            <a:off x="2668126" y="5396719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7" name="Google Shape;945;g2872d9e35e1_4_15">
            <a:extLst>
              <a:ext uri="{FF2B5EF4-FFF2-40B4-BE49-F238E27FC236}">
                <a16:creationId xmlns:a16="http://schemas.microsoft.com/office/drawing/2014/main" id="{42DEEF18-8F6F-7EBE-4497-89FA2479865E}"/>
              </a:ext>
            </a:extLst>
          </p:cNvPr>
          <p:cNvSpPr/>
          <p:nvPr/>
        </p:nvSpPr>
        <p:spPr>
          <a:xfrm>
            <a:off x="2283590" y="3801065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ko-KR" altLang="en-US" sz="800" b="1" dirty="0" err="1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클라우드풀</a:t>
            </a:r>
            <a:endParaRPr lang="en-US" sz="800" b="1" dirty="0"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118" name="Google Shape;1155;p37">
            <a:extLst>
              <a:ext uri="{FF2B5EF4-FFF2-40B4-BE49-F238E27FC236}">
                <a16:creationId xmlns:a16="http://schemas.microsoft.com/office/drawing/2014/main" id="{286EBF37-4663-D967-5D19-9F8D7B95E6F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444566" y="4954759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9" name="Google Shape;1157;p37">
            <a:extLst>
              <a:ext uri="{FF2B5EF4-FFF2-40B4-BE49-F238E27FC236}">
                <a16:creationId xmlns:a16="http://schemas.microsoft.com/office/drawing/2014/main" id="{1ED4DAC1-7B30-FC4E-3F68-9FE1E016CA9B}"/>
              </a:ext>
            </a:extLst>
          </p:cNvPr>
          <p:cNvCxnSpPr>
            <a:cxnSpLocks/>
            <a:stCxn id="2162" idx="0"/>
            <a:endCxn id="2137" idx="2"/>
          </p:cNvCxnSpPr>
          <p:nvPr/>
        </p:nvCxnSpPr>
        <p:spPr>
          <a:xfrm flipH="1" flipV="1">
            <a:off x="2556921" y="4779749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0" name="Google Shape;1158;p37">
            <a:extLst>
              <a:ext uri="{FF2B5EF4-FFF2-40B4-BE49-F238E27FC236}">
                <a16:creationId xmlns:a16="http://schemas.microsoft.com/office/drawing/2014/main" id="{4CB36AA4-0F2A-4A2B-CEC3-BF88BBE543EC}"/>
              </a:ext>
            </a:extLst>
          </p:cNvPr>
          <p:cNvSpPr/>
          <p:nvPr/>
        </p:nvSpPr>
        <p:spPr>
          <a:xfrm>
            <a:off x="2332980" y="4290776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121" name="그룹 2120">
            <a:extLst>
              <a:ext uri="{FF2B5EF4-FFF2-40B4-BE49-F238E27FC236}">
                <a16:creationId xmlns:a16="http://schemas.microsoft.com/office/drawing/2014/main" id="{9C26CBAC-655F-16AA-FA80-027B587B443F}"/>
              </a:ext>
            </a:extLst>
          </p:cNvPr>
          <p:cNvGrpSpPr>
            <a:grpSpLocks noChangeAspect="1"/>
          </p:cNvGrpSpPr>
          <p:nvPr/>
        </p:nvGrpSpPr>
        <p:grpSpPr>
          <a:xfrm>
            <a:off x="2368621" y="4360722"/>
            <a:ext cx="124071" cy="159622"/>
            <a:chOff x="6434980" y="855802"/>
            <a:chExt cx="600836" cy="600837"/>
          </a:xfrm>
        </p:grpSpPr>
        <p:sp>
          <p:nvSpPr>
            <p:cNvPr id="2122" name="Picture Placeholder 77">
              <a:extLst>
                <a:ext uri="{FF2B5EF4-FFF2-40B4-BE49-F238E27FC236}">
                  <a16:creationId xmlns:a16="http://schemas.microsoft.com/office/drawing/2014/main" id="{D64BC0A6-B117-425D-E38C-BAFF2AA1186C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23" name="Picture Placeholder 104" descr="Virtual Machine&#10;">
              <a:extLst>
                <a:ext uri="{FF2B5EF4-FFF2-40B4-BE49-F238E27FC236}">
                  <a16:creationId xmlns:a16="http://schemas.microsoft.com/office/drawing/2014/main" id="{D664E01D-B598-C47F-4960-7A4C6CC98D4D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24" name="Picture Placeholder 104">
                <a:extLst>
                  <a:ext uri="{FF2B5EF4-FFF2-40B4-BE49-F238E27FC236}">
                    <a16:creationId xmlns:a16="http://schemas.microsoft.com/office/drawing/2014/main" id="{9512273E-1D29-12E3-AF21-7AD37B77B24F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25" name="Picture Placeholder 104">
                <a:extLst>
                  <a:ext uri="{FF2B5EF4-FFF2-40B4-BE49-F238E27FC236}">
                    <a16:creationId xmlns:a16="http://schemas.microsoft.com/office/drawing/2014/main" id="{D8F846E5-C77C-C092-F5F7-51D5D4BAD8A0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26" name="Picture Placeholder 104">
                  <a:extLst>
                    <a:ext uri="{FF2B5EF4-FFF2-40B4-BE49-F238E27FC236}">
                      <a16:creationId xmlns:a16="http://schemas.microsoft.com/office/drawing/2014/main" id="{952AC5CB-0A00-0897-624A-B64D91689A70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27" name="Picture Placeholder 104">
                  <a:extLst>
                    <a:ext uri="{FF2B5EF4-FFF2-40B4-BE49-F238E27FC236}">
                      <a16:creationId xmlns:a16="http://schemas.microsoft.com/office/drawing/2014/main" id="{AC300F6B-BF1C-AF8D-0D72-C480E9B3350A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128" name="그룹 2127">
            <a:extLst>
              <a:ext uri="{FF2B5EF4-FFF2-40B4-BE49-F238E27FC236}">
                <a16:creationId xmlns:a16="http://schemas.microsoft.com/office/drawing/2014/main" id="{D6E193A3-FBE1-8346-6E3F-B1D3EE6FFEDF}"/>
              </a:ext>
            </a:extLst>
          </p:cNvPr>
          <p:cNvGrpSpPr>
            <a:grpSpLocks noChangeAspect="1"/>
          </p:cNvGrpSpPr>
          <p:nvPr/>
        </p:nvGrpSpPr>
        <p:grpSpPr>
          <a:xfrm>
            <a:off x="2498794" y="4360722"/>
            <a:ext cx="124071" cy="159622"/>
            <a:chOff x="6434980" y="855802"/>
            <a:chExt cx="600836" cy="600837"/>
          </a:xfrm>
        </p:grpSpPr>
        <p:sp>
          <p:nvSpPr>
            <p:cNvPr id="2129" name="Picture Placeholder 77">
              <a:extLst>
                <a:ext uri="{FF2B5EF4-FFF2-40B4-BE49-F238E27FC236}">
                  <a16:creationId xmlns:a16="http://schemas.microsoft.com/office/drawing/2014/main" id="{93075C9F-914F-E914-70BE-56B474E97815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30" name="Picture Placeholder 104" descr="Virtual Machine&#10;">
              <a:extLst>
                <a:ext uri="{FF2B5EF4-FFF2-40B4-BE49-F238E27FC236}">
                  <a16:creationId xmlns:a16="http://schemas.microsoft.com/office/drawing/2014/main" id="{1FCBC279-DDE8-EF89-6104-DFEF0764A7B3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31" name="Picture Placeholder 104">
                <a:extLst>
                  <a:ext uri="{FF2B5EF4-FFF2-40B4-BE49-F238E27FC236}">
                    <a16:creationId xmlns:a16="http://schemas.microsoft.com/office/drawing/2014/main" id="{4F390CAA-B83B-DCA8-2249-DA0CDE172D77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32" name="Picture Placeholder 104">
                <a:extLst>
                  <a:ext uri="{FF2B5EF4-FFF2-40B4-BE49-F238E27FC236}">
                    <a16:creationId xmlns:a16="http://schemas.microsoft.com/office/drawing/2014/main" id="{BA776692-A916-B9DB-E2A8-CE203161F119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33" name="Picture Placeholder 104">
                  <a:extLst>
                    <a:ext uri="{FF2B5EF4-FFF2-40B4-BE49-F238E27FC236}">
                      <a16:creationId xmlns:a16="http://schemas.microsoft.com/office/drawing/2014/main" id="{9470C589-3320-F023-2AE7-664625D444D5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34" name="Picture Placeholder 104">
                  <a:extLst>
                    <a:ext uri="{FF2B5EF4-FFF2-40B4-BE49-F238E27FC236}">
                      <a16:creationId xmlns:a16="http://schemas.microsoft.com/office/drawing/2014/main" id="{DC5ACBAF-043E-9DD3-823E-B1DA2CCBA210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135" name="직사각형 2134">
            <a:extLst>
              <a:ext uri="{FF2B5EF4-FFF2-40B4-BE49-F238E27FC236}">
                <a16:creationId xmlns:a16="http://schemas.microsoft.com/office/drawing/2014/main" id="{2A52CBF1-5AC0-BAE4-2003-3F1C85506D11}"/>
              </a:ext>
            </a:extLst>
          </p:cNvPr>
          <p:cNvSpPr/>
          <p:nvPr/>
        </p:nvSpPr>
        <p:spPr>
          <a:xfrm>
            <a:off x="2359687" y="4543603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136" name="그룹 2135">
            <a:extLst>
              <a:ext uri="{FF2B5EF4-FFF2-40B4-BE49-F238E27FC236}">
                <a16:creationId xmlns:a16="http://schemas.microsoft.com/office/drawing/2014/main" id="{BB7CA01D-E9D6-3D91-CCBB-8FDC6BAC53C2}"/>
              </a:ext>
            </a:extLst>
          </p:cNvPr>
          <p:cNvGrpSpPr>
            <a:grpSpLocks noChangeAspect="1"/>
          </p:cNvGrpSpPr>
          <p:nvPr/>
        </p:nvGrpSpPr>
        <p:grpSpPr>
          <a:xfrm>
            <a:off x="2436608" y="4685707"/>
            <a:ext cx="240630" cy="94042"/>
            <a:chOff x="8143395" y="2987969"/>
            <a:chExt cx="600854" cy="164611"/>
          </a:xfrm>
        </p:grpSpPr>
        <p:sp>
          <p:nvSpPr>
            <p:cNvPr id="2137" name="Picture Placeholder 77">
              <a:extLst>
                <a:ext uri="{FF2B5EF4-FFF2-40B4-BE49-F238E27FC236}">
                  <a16:creationId xmlns:a16="http://schemas.microsoft.com/office/drawing/2014/main" id="{280A3E5C-060C-72D1-603A-5FF9E9093C1C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38" name="Picture Placeholder 77" descr="Rack Server 2&#10;">
              <a:extLst>
                <a:ext uri="{FF2B5EF4-FFF2-40B4-BE49-F238E27FC236}">
                  <a16:creationId xmlns:a16="http://schemas.microsoft.com/office/drawing/2014/main" id="{C01A0273-EA23-9110-67D4-3A4B5A58A12E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139" name="Picture Placeholder 77">
                <a:extLst>
                  <a:ext uri="{FF2B5EF4-FFF2-40B4-BE49-F238E27FC236}">
                    <a16:creationId xmlns:a16="http://schemas.microsoft.com/office/drawing/2014/main" id="{64184C6E-8A4E-6C0C-5313-C57D710A752F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141" name="Picture Placeholder 77">
                  <a:extLst>
                    <a:ext uri="{FF2B5EF4-FFF2-40B4-BE49-F238E27FC236}">
                      <a16:creationId xmlns:a16="http://schemas.microsoft.com/office/drawing/2014/main" id="{971E3AD7-344A-9CB0-3547-A7854928837F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142" name="Picture Placeholder 77">
                  <a:extLst>
                    <a:ext uri="{FF2B5EF4-FFF2-40B4-BE49-F238E27FC236}">
                      <a16:creationId xmlns:a16="http://schemas.microsoft.com/office/drawing/2014/main" id="{0DAD2863-6E20-321E-CE88-C9377CDEBE4B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143" name="Picture Placeholder 77">
                    <a:extLst>
                      <a:ext uri="{FF2B5EF4-FFF2-40B4-BE49-F238E27FC236}">
                        <a16:creationId xmlns:a16="http://schemas.microsoft.com/office/drawing/2014/main" id="{28464DB0-7895-AC60-118E-420D94F490E3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144" name="Picture Placeholder 77">
                    <a:extLst>
                      <a:ext uri="{FF2B5EF4-FFF2-40B4-BE49-F238E27FC236}">
                        <a16:creationId xmlns:a16="http://schemas.microsoft.com/office/drawing/2014/main" id="{B72680DB-B695-1B6D-74E8-58BF252FC9BB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145" name="Picture Placeholder 77">
                    <a:extLst>
                      <a:ext uri="{FF2B5EF4-FFF2-40B4-BE49-F238E27FC236}">
                        <a16:creationId xmlns:a16="http://schemas.microsoft.com/office/drawing/2014/main" id="{79045912-745E-E779-DC5E-9E29B1F8F38D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146" name="Picture Placeholder 77">
                    <a:extLst>
                      <a:ext uri="{FF2B5EF4-FFF2-40B4-BE49-F238E27FC236}">
                        <a16:creationId xmlns:a16="http://schemas.microsoft.com/office/drawing/2014/main" id="{9DA4DCA7-A53C-89CD-D184-462443685C0F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140" name="Picture Placeholder 77">
                <a:extLst>
                  <a:ext uri="{FF2B5EF4-FFF2-40B4-BE49-F238E27FC236}">
                    <a16:creationId xmlns:a16="http://schemas.microsoft.com/office/drawing/2014/main" id="{E5E90102-A50B-5D0B-CF78-2B9AF0FCCCA4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147" name="그룹 2146">
            <a:extLst>
              <a:ext uri="{FF2B5EF4-FFF2-40B4-BE49-F238E27FC236}">
                <a16:creationId xmlns:a16="http://schemas.microsoft.com/office/drawing/2014/main" id="{00233EC2-9EE4-0308-52FF-6362CAE9A4D0}"/>
              </a:ext>
            </a:extLst>
          </p:cNvPr>
          <p:cNvGrpSpPr>
            <a:grpSpLocks noChangeAspect="1"/>
          </p:cNvGrpSpPr>
          <p:nvPr/>
        </p:nvGrpSpPr>
        <p:grpSpPr>
          <a:xfrm>
            <a:off x="2628968" y="4360722"/>
            <a:ext cx="124071" cy="159622"/>
            <a:chOff x="6434980" y="855802"/>
            <a:chExt cx="600836" cy="600837"/>
          </a:xfrm>
        </p:grpSpPr>
        <p:sp>
          <p:nvSpPr>
            <p:cNvPr id="2148" name="Picture Placeholder 77">
              <a:extLst>
                <a:ext uri="{FF2B5EF4-FFF2-40B4-BE49-F238E27FC236}">
                  <a16:creationId xmlns:a16="http://schemas.microsoft.com/office/drawing/2014/main" id="{015D287A-62D7-FAB8-99AC-8B9C654DD3EC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49" name="Picture Placeholder 104" descr="Virtual Machine&#10;">
              <a:extLst>
                <a:ext uri="{FF2B5EF4-FFF2-40B4-BE49-F238E27FC236}">
                  <a16:creationId xmlns:a16="http://schemas.microsoft.com/office/drawing/2014/main" id="{125F3CE1-CB6C-E283-A459-255934963C1C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50" name="Picture Placeholder 104">
                <a:extLst>
                  <a:ext uri="{FF2B5EF4-FFF2-40B4-BE49-F238E27FC236}">
                    <a16:creationId xmlns:a16="http://schemas.microsoft.com/office/drawing/2014/main" id="{FB862AD9-824B-4288-962F-AF41EF803778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51" name="Picture Placeholder 104">
                <a:extLst>
                  <a:ext uri="{FF2B5EF4-FFF2-40B4-BE49-F238E27FC236}">
                    <a16:creationId xmlns:a16="http://schemas.microsoft.com/office/drawing/2014/main" id="{552C04EC-7DAA-EE1D-BBA4-3DE37C76820E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52" name="Picture Placeholder 104">
                  <a:extLst>
                    <a:ext uri="{FF2B5EF4-FFF2-40B4-BE49-F238E27FC236}">
                      <a16:creationId xmlns:a16="http://schemas.microsoft.com/office/drawing/2014/main" id="{CA7439C2-EFEF-A966-CC00-E12EA444B140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53" name="Picture Placeholder 104">
                  <a:extLst>
                    <a:ext uri="{FF2B5EF4-FFF2-40B4-BE49-F238E27FC236}">
                      <a16:creationId xmlns:a16="http://schemas.microsoft.com/office/drawing/2014/main" id="{FFAE5223-5591-D294-65F4-D08FED520ABA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154" name="그룹 2153">
            <a:extLst>
              <a:ext uri="{FF2B5EF4-FFF2-40B4-BE49-F238E27FC236}">
                <a16:creationId xmlns:a16="http://schemas.microsoft.com/office/drawing/2014/main" id="{0DF19581-C900-0DFA-2A5C-190A263B068B}"/>
              </a:ext>
            </a:extLst>
          </p:cNvPr>
          <p:cNvGrpSpPr>
            <a:grpSpLocks noChangeAspect="1"/>
          </p:cNvGrpSpPr>
          <p:nvPr/>
        </p:nvGrpSpPr>
        <p:grpSpPr>
          <a:xfrm>
            <a:off x="2759140" y="4360722"/>
            <a:ext cx="124071" cy="159622"/>
            <a:chOff x="6434980" y="855802"/>
            <a:chExt cx="600836" cy="600837"/>
          </a:xfrm>
        </p:grpSpPr>
        <p:sp>
          <p:nvSpPr>
            <p:cNvPr id="2155" name="Picture Placeholder 77">
              <a:extLst>
                <a:ext uri="{FF2B5EF4-FFF2-40B4-BE49-F238E27FC236}">
                  <a16:creationId xmlns:a16="http://schemas.microsoft.com/office/drawing/2014/main" id="{1D2C4A36-428B-BA29-EF6B-C3A2766EFACF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56" name="Picture Placeholder 104" descr="Virtual Machine&#10;">
              <a:extLst>
                <a:ext uri="{FF2B5EF4-FFF2-40B4-BE49-F238E27FC236}">
                  <a16:creationId xmlns:a16="http://schemas.microsoft.com/office/drawing/2014/main" id="{1D08EB7E-B0EA-811F-DD89-74738A06DCAD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57" name="Picture Placeholder 104">
                <a:extLst>
                  <a:ext uri="{FF2B5EF4-FFF2-40B4-BE49-F238E27FC236}">
                    <a16:creationId xmlns:a16="http://schemas.microsoft.com/office/drawing/2014/main" id="{1B442C5C-90CE-F0F4-9919-6DC56B1943BD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58" name="Picture Placeholder 104">
                <a:extLst>
                  <a:ext uri="{FF2B5EF4-FFF2-40B4-BE49-F238E27FC236}">
                    <a16:creationId xmlns:a16="http://schemas.microsoft.com/office/drawing/2014/main" id="{CF459F18-7A7C-B67D-B76E-58ECB0AE7C65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59" name="Picture Placeholder 104">
                  <a:extLst>
                    <a:ext uri="{FF2B5EF4-FFF2-40B4-BE49-F238E27FC236}">
                      <a16:creationId xmlns:a16="http://schemas.microsoft.com/office/drawing/2014/main" id="{BF597F7A-52A4-DA2A-BC03-24E655911D65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60" name="Picture Placeholder 104">
                  <a:extLst>
                    <a:ext uri="{FF2B5EF4-FFF2-40B4-BE49-F238E27FC236}">
                      <a16:creationId xmlns:a16="http://schemas.microsoft.com/office/drawing/2014/main" id="{760AC9F3-D8CD-C1D1-A83B-3167D27B53E2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161" name="Google Shape;1155;p37">
            <a:extLst>
              <a:ext uri="{FF2B5EF4-FFF2-40B4-BE49-F238E27FC236}">
                <a16:creationId xmlns:a16="http://schemas.microsoft.com/office/drawing/2014/main" id="{D56751F5-CF1A-CE5A-1B66-E1023A74851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64030" y="4954759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1155;p37">
            <a:extLst>
              <a:ext uri="{FF2B5EF4-FFF2-40B4-BE49-F238E27FC236}">
                <a16:creationId xmlns:a16="http://schemas.microsoft.com/office/drawing/2014/main" id="{D43D82F4-D5F9-D40E-80CA-117B37877BD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501875" y="4916825"/>
            <a:ext cx="111071" cy="1349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!!Rectangle 566">
            <a:extLst>
              <a:ext uri="{FF2B5EF4-FFF2-40B4-BE49-F238E27FC236}">
                <a16:creationId xmlns:a16="http://schemas.microsoft.com/office/drawing/2014/main" id="{BDF15C2E-7978-27C9-223E-EE1697624852}"/>
              </a:ext>
            </a:extLst>
          </p:cNvPr>
          <p:cNvSpPr/>
          <p:nvPr/>
        </p:nvSpPr>
        <p:spPr>
          <a:xfrm>
            <a:off x="3074418" y="3761800"/>
            <a:ext cx="1488628" cy="2083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  <a:ln w="6350">
            <a:solidFill>
              <a:schemeClr val="tx2">
                <a:lumMod val="10000"/>
              </a:schemeClr>
            </a:solidFill>
            <a:prstDash val="dash"/>
          </a:ln>
          <a:effectLst/>
        </p:spPr>
        <p:txBody>
          <a:bodyPr wrap="square" lIns="0" tIns="72000" rIns="0" bIns="10800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대구 </a:t>
            </a:r>
            <a:r>
              <a:rPr lang="en-US" altLang="ko-KR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IDC</a:t>
            </a:r>
            <a:endParaRPr lang="en-US" sz="900" kern="12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cxnSp>
        <p:nvCxnSpPr>
          <p:cNvPr id="2164" name="Google Shape;957;g2872d9e35e1_4_15">
            <a:extLst>
              <a:ext uri="{FF2B5EF4-FFF2-40B4-BE49-F238E27FC236}">
                <a16:creationId xmlns:a16="http://schemas.microsoft.com/office/drawing/2014/main" id="{769A540C-9952-C8BE-CDB7-353A1B1A95F2}"/>
              </a:ext>
            </a:extLst>
          </p:cNvPr>
          <p:cNvCxnSpPr>
            <a:cxnSpLocks/>
          </p:cNvCxnSpPr>
          <p:nvPr/>
        </p:nvCxnSpPr>
        <p:spPr>
          <a:xfrm>
            <a:off x="4247849" y="5396122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5" name="Google Shape;945;g2872d9e35e1_4_15">
            <a:extLst>
              <a:ext uri="{FF2B5EF4-FFF2-40B4-BE49-F238E27FC236}">
                <a16:creationId xmlns:a16="http://schemas.microsoft.com/office/drawing/2014/main" id="{191508AA-4127-5882-9D2A-3EC972C4551E}"/>
              </a:ext>
            </a:extLst>
          </p:cNvPr>
          <p:cNvSpPr/>
          <p:nvPr/>
        </p:nvSpPr>
        <p:spPr>
          <a:xfrm>
            <a:off x="3863312" y="3800468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MIG-DR</a:t>
            </a:r>
          </a:p>
        </p:txBody>
      </p:sp>
      <p:pic>
        <p:nvPicPr>
          <p:cNvPr id="2166" name="Google Shape;1155;p37">
            <a:extLst>
              <a:ext uri="{FF2B5EF4-FFF2-40B4-BE49-F238E27FC236}">
                <a16:creationId xmlns:a16="http://schemas.microsoft.com/office/drawing/2014/main" id="{575D3C31-3673-A97B-9F21-94A50D5E4EF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990532" y="4954162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7" name="Google Shape;1157;p37">
            <a:extLst>
              <a:ext uri="{FF2B5EF4-FFF2-40B4-BE49-F238E27FC236}">
                <a16:creationId xmlns:a16="http://schemas.microsoft.com/office/drawing/2014/main" id="{F183CA5C-89A5-1951-44DE-BC21E8CA2392}"/>
              </a:ext>
            </a:extLst>
          </p:cNvPr>
          <p:cNvCxnSpPr>
            <a:cxnSpLocks/>
          </p:cNvCxnSpPr>
          <p:nvPr/>
        </p:nvCxnSpPr>
        <p:spPr>
          <a:xfrm flipH="1" flipV="1">
            <a:off x="4102886" y="4779152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8" name="Google Shape;1158;p37">
            <a:extLst>
              <a:ext uri="{FF2B5EF4-FFF2-40B4-BE49-F238E27FC236}">
                <a16:creationId xmlns:a16="http://schemas.microsoft.com/office/drawing/2014/main" id="{523CCD93-638D-82D7-421F-D61047421381}"/>
              </a:ext>
            </a:extLst>
          </p:cNvPr>
          <p:cNvSpPr/>
          <p:nvPr/>
        </p:nvSpPr>
        <p:spPr>
          <a:xfrm>
            <a:off x="3912702" y="4290179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169" name="그룹 2168">
            <a:extLst>
              <a:ext uri="{FF2B5EF4-FFF2-40B4-BE49-F238E27FC236}">
                <a16:creationId xmlns:a16="http://schemas.microsoft.com/office/drawing/2014/main" id="{D04F3E8F-DC76-7C15-CEC5-8983B1EB09F2}"/>
              </a:ext>
            </a:extLst>
          </p:cNvPr>
          <p:cNvGrpSpPr>
            <a:grpSpLocks noChangeAspect="1"/>
          </p:cNvGrpSpPr>
          <p:nvPr/>
        </p:nvGrpSpPr>
        <p:grpSpPr>
          <a:xfrm>
            <a:off x="3942120" y="4360125"/>
            <a:ext cx="124071" cy="159622"/>
            <a:chOff x="6434980" y="855802"/>
            <a:chExt cx="600836" cy="600837"/>
          </a:xfrm>
        </p:grpSpPr>
        <p:sp>
          <p:nvSpPr>
            <p:cNvPr id="2170" name="Picture Placeholder 77">
              <a:extLst>
                <a:ext uri="{FF2B5EF4-FFF2-40B4-BE49-F238E27FC236}">
                  <a16:creationId xmlns:a16="http://schemas.microsoft.com/office/drawing/2014/main" id="{BE49D94D-CCE3-316D-200C-7F06BB371AC5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71" name="Picture Placeholder 104" descr="Virtual Machine&#10;">
              <a:extLst>
                <a:ext uri="{FF2B5EF4-FFF2-40B4-BE49-F238E27FC236}">
                  <a16:creationId xmlns:a16="http://schemas.microsoft.com/office/drawing/2014/main" id="{A1C7A988-8357-F575-3135-74CEB85FAE66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72" name="Picture Placeholder 104">
                <a:extLst>
                  <a:ext uri="{FF2B5EF4-FFF2-40B4-BE49-F238E27FC236}">
                    <a16:creationId xmlns:a16="http://schemas.microsoft.com/office/drawing/2014/main" id="{D5637BC7-E838-92C5-554A-E4E407F5051A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73" name="Picture Placeholder 104">
                <a:extLst>
                  <a:ext uri="{FF2B5EF4-FFF2-40B4-BE49-F238E27FC236}">
                    <a16:creationId xmlns:a16="http://schemas.microsoft.com/office/drawing/2014/main" id="{F80E23E6-2220-98C1-FBBE-3601FC1EF603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74" name="Picture Placeholder 104">
                  <a:extLst>
                    <a:ext uri="{FF2B5EF4-FFF2-40B4-BE49-F238E27FC236}">
                      <a16:creationId xmlns:a16="http://schemas.microsoft.com/office/drawing/2014/main" id="{6EB99B89-6B8E-6F51-B9ED-38EE1073C612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75" name="Picture Placeholder 104">
                  <a:extLst>
                    <a:ext uri="{FF2B5EF4-FFF2-40B4-BE49-F238E27FC236}">
                      <a16:creationId xmlns:a16="http://schemas.microsoft.com/office/drawing/2014/main" id="{9387538E-401C-CC76-1CF6-0290BE7385A0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176" name="그룹 2175">
            <a:extLst>
              <a:ext uri="{FF2B5EF4-FFF2-40B4-BE49-F238E27FC236}">
                <a16:creationId xmlns:a16="http://schemas.microsoft.com/office/drawing/2014/main" id="{D08A6075-94D8-D14D-F3C4-81F3DFCA312A}"/>
              </a:ext>
            </a:extLst>
          </p:cNvPr>
          <p:cNvGrpSpPr>
            <a:grpSpLocks noChangeAspect="1"/>
          </p:cNvGrpSpPr>
          <p:nvPr/>
        </p:nvGrpSpPr>
        <p:grpSpPr>
          <a:xfrm>
            <a:off x="4074367" y="4360125"/>
            <a:ext cx="124071" cy="159622"/>
            <a:chOff x="6434980" y="855802"/>
            <a:chExt cx="600836" cy="600837"/>
          </a:xfrm>
        </p:grpSpPr>
        <p:sp>
          <p:nvSpPr>
            <p:cNvPr id="2177" name="Picture Placeholder 77">
              <a:extLst>
                <a:ext uri="{FF2B5EF4-FFF2-40B4-BE49-F238E27FC236}">
                  <a16:creationId xmlns:a16="http://schemas.microsoft.com/office/drawing/2014/main" id="{F9173622-3D72-F181-520F-39CBA12E0019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78" name="Picture Placeholder 104" descr="Virtual Machine&#10;">
              <a:extLst>
                <a:ext uri="{FF2B5EF4-FFF2-40B4-BE49-F238E27FC236}">
                  <a16:creationId xmlns:a16="http://schemas.microsoft.com/office/drawing/2014/main" id="{74E31626-CC6F-1A47-54D9-A48C9E29D0A5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79" name="Picture Placeholder 104">
                <a:extLst>
                  <a:ext uri="{FF2B5EF4-FFF2-40B4-BE49-F238E27FC236}">
                    <a16:creationId xmlns:a16="http://schemas.microsoft.com/office/drawing/2014/main" id="{D7F4CF52-1F4A-A7EE-3AB1-3F451E0B8F80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80" name="Picture Placeholder 104">
                <a:extLst>
                  <a:ext uri="{FF2B5EF4-FFF2-40B4-BE49-F238E27FC236}">
                    <a16:creationId xmlns:a16="http://schemas.microsoft.com/office/drawing/2014/main" id="{E80A2E34-057C-BAAF-64E4-134EAD681359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181" name="Picture Placeholder 104">
                  <a:extLst>
                    <a:ext uri="{FF2B5EF4-FFF2-40B4-BE49-F238E27FC236}">
                      <a16:creationId xmlns:a16="http://schemas.microsoft.com/office/drawing/2014/main" id="{71B0C7C3-ABC8-B22D-FA0F-58D6DC9A9873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182" name="Picture Placeholder 104">
                  <a:extLst>
                    <a:ext uri="{FF2B5EF4-FFF2-40B4-BE49-F238E27FC236}">
                      <a16:creationId xmlns:a16="http://schemas.microsoft.com/office/drawing/2014/main" id="{45B6F76F-EFD9-CE89-8306-C9AE1C0EFCD1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183" name="직사각형 2182">
            <a:extLst>
              <a:ext uri="{FF2B5EF4-FFF2-40B4-BE49-F238E27FC236}">
                <a16:creationId xmlns:a16="http://schemas.microsoft.com/office/drawing/2014/main" id="{C0FC487A-F9D5-89E8-E01A-3D1CE15B2B73}"/>
              </a:ext>
            </a:extLst>
          </p:cNvPr>
          <p:cNvSpPr/>
          <p:nvPr/>
        </p:nvSpPr>
        <p:spPr>
          <a:xfrm>
            <a:off x="3939410" y="4543005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184" name="그룹 2183">
            <a:extLst>
              <a:ext uri="{FF2B5EF4-FFF2-40B4-BE49-F238E27FC236}">
                <a16:creationId xmlns:a16="http://schemas.microsoft.com/office/drawing/2014/main" id="{B29B3F6A-96D5-F11F-F5B6-54E9FBD968FD}"/>
              </a:ext>
            </a:extLst>
          </p:cNvPr>
          <p:cNvGrpSpPr>
            <a:grpSpLocks noChangeAspect="1"/>
          </p:cNvGrpSpPr>
          <p:nvPr/>
        </p:nvGrpSpPr>
        <p:grpSpPr>
          <a:xfrm>
            <a:off x="4016330" y="4685110"/>
            <a:ext cx="240630" cy="94042"/>
            <a:chOff x="8143395" y="2987969"/>
            <a:chExt cx="600854" cy="164611"/>
          </a:xfrm>
        </p:grpSpPr>
        <p:sp>
          <p:nvSpPr>
            <p:cNvPr id="2185" name="Picture Placeholder 77">
              <a:extLst>
                <a:ext uri="{FF2B5EF4-FFF2-40B4-BE49-F238E27FC236}">
                  <a16:creationId xmlns:a16="http://schemas.microsoft.com/office/drawing/2014/main" id="{36C63044-239D-E773-884E-797B4F50CE36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86" name="Picture Placeholder 77" descr="Rack Server 2&#10;">
              <a:extLst>
                <a:ext uri="{FF2B5EF4-FFF2-40B4-BE49-F238E27FC236}">
                  <a16:creationId xmlns:a16="http://schemas.microsoft.com/office/drawing/2014/main" id="{9AC5785D-9190-D835-BC40-FA945F58311F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187" name="Picture Placeholder 77">
                <a:extLst>
                  <a:ext uri="{FF2B5EF4-FFF2-40B4-BE49-F238E27FC236}">
                    <a16:creationId xmlns:a16="http://schemas.microsoft.com/office/drawing/2014/main" id="{43AE2AD3-4752-7DEB-F28B-AB4C3E06CEA8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189" name="Picture Placeholder 77">
                  <a:extLst>
                    <a:ext uri="{FF2B5EF4-FFF2-40B4-BE49-F238E27FC236}">
                      <a16:creationId xmlns:a16="http://schemas.microsoft.com/office/drawing/2014/main" id="{28A50844-F5E3-15C4-2FDB-78CFB0B110C6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190" name="Picture Placeholder 77">
                  <a:extLst>
                    <a:ext uri="{FF2B5EF4-FFF2-40B4-BE49-F238E27FC236}">
                      <a16:creationId xmlns:a16="http://schemas.microsoft.com/office/drawing/2014/main" id="{0FC53F0F-BF57-DC30-D255-A8F3BB6636F7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191" name="Picture Placeholder 77">
                    <a:extLst>
                      <a:ext uri="{FF2B5EF4-FFF2-40B4-BE49-F238E27FC236}">
                        <a16:creationId xmlns:a16="http://schemas.microsoft.com/office/drawing/2014/main" id="{74509973-FD83-9C2F-F2C6-DCF42D50B43E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192" name="Picture Placeholder 77">
                    <a:extLst>
                      <a:ext uri="{FF2B5EF4-FFF2-40B4-BE49-F238E27FC236}">
                        <a16:creationId xmlns:a16="http://schemas.microsoft.com/office/drawing/2014/main" id="{AF9F1DC3-1582-61B6-4FA9-DF85DCE653FA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193" name="Picture Placeholder 77">
                    <a:extLst>
                      <a:ext uri="{FF2B5EF4-FFF2-40B4-BE49-F238E27FC236}">
                        <a16:creationId xmlns:a16="http://schemas.microsoft.com/office/drawing/2014/main" id="{370E2E8C-ADD6-0A8F-64B9-53C26D3D08AC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194" name="Picture Placeholder 77">
                    <a:extLst>
                      <a:ext uri="{FF2B5EF4-FFF2-40B4-BE49-F238E27FC236}">
                        <a16:creationId xmlns:a16="http://schemas.microsoft.com/office/drawing/2014/main" id="{C4C44AED-E1F4-761F-5D95-64DBA5920B0D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188" name="Picture Placeholder 77">
                <a:extLst>
                  <a:ext uri="{FF2B5EF4-FFF2-40B4-BE49-F238E27FC236}">
                    <a16:creationId xmlns:a16="http://schemas.microsoft.com/office/drawing/2014/main" id="{9682177D-0703-38DB-6002-B0869F3E7D87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195" name="그룹 2194">
            <a:extLst>
              <a:ext uri="{FF2B5EF4-FFF2-40B4-BE49-F238E27FC236}">
                <a16:creationId xmlns:a16="http://schemas.microsoft.com/office/drawing/2014/main" id="{6F5DF170-709D-469B-56F0-DAA631F4F95B}"/>
              </a:ext>
            </a:extLst>
          </p:cNvPr>
          <p:cNvGrpSpPr>
            <a:grpSpLocks noChangeAspect="1"/>
          </p:cNvGrpSpPr>
          <p:nvPr/>
        </p:nvGrpSpPr>
        <p:grpSpPr>
          <a:xfrm>
            <a:off x="4206615" y="4360125"/>
            <a:ext cx="124071" cy="159622"/>
            <a:chOff x="6434980" y="855802"/>
            <a:chExt cx="600836" cy="600837"/>
          </a:xfrm>
        </p:grpSpPr>
        <p:sp>
          <p:nvSpPr>
            <p:cNvPr id="2196" name="Picture Placeholder 77">
              <a:extLst>
                <a:ext uri="{FF2B5EF4-FFF2-40B4-BE49-F238E27FC236}">
                  <a16:creationId xmlns:a16="http://schemas.microsoft.com/office/drawing/2014/main" id="{3D1AA2DA-7E46-FE62-E028-FEC862244A75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97" name="Picture Placeholder 104" descr="Virtual Machine&#10;">
              <a:extLst>
                <a:ext uri="{FF2B5EF4-FFF2-40B4-BE49-F238E27FC236}">
                  <a16:creationId xmlns:a16="http://schemas.microsoft.com/office/drawing/2014/main" id="{68767749-8097-6B55-C941-6A8890813E58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198" name="Picture Placeholder 104">
                <a:extLst>
                  <a:ext uri="{FF2B5EF4-FFF2-40B4-BE49-F238E27FC236}">
                    <a16:creationId xmlns:a16="http://schemas.microsoft.com/office/drawing/2014/main" id="{2B748AB6-25BC-88FE-49A1-28CF5B9F7C92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199" name="Picture Placeholder 104">
                <a:extLst>
                  <a:ext uri="{FF2B5EF4-FFF2-40B4-BE49-F238E27FC236}">
                    <a16:creationId xmlns:a16="http://schemas.microsoft.com/office/drawing/2014/main" id="{00E3BCFA-5022-6024-6F4B-B0D978D4F355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00" name="Picture Placeholder 104">
                  <a:extLst>
                    <a:ext uri="{FF2B5EF4-FFF2-40B4-BE49-F238E27FC236}">
                      <a16:creationId xmlns:a16="http://schemas.microsoft.com/office/drawing/2014/main" id="{5480EB0A-FBAE-46C2-D5BD-15F2B03405DE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01" name="Picture Placeholder 104">
                  <a:extLst>
                    <a:ext uri="{FF2B5EF4-FFF2-40B4-BE49-F238E27FC236}">
                      <a16:creationId xmlns:a16="http://schemas.microsoft.com/office/drawing/2014/main" id="{8B9CF0D7-AC4A-F836-51D5-3B093FFE45DE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202" name="그룹 2201">
            <a:extLst>
              <a:ext uri="{FF2B5EF4-FFF2-40B4-BE49-F238E27FC236}">
                <a16:creationId xmlns:a16="http://schemas.microsoft.com/office/drawing/2014/main" id="{C7870E94-91F9-EAD1-9C90-83470AB212DE}"/>
              </a:ext>
            </a:extLst>
          </p:cNvPr>
          <p:cNvGrpSpPr>
            <a:grpSpLocks noChangeAspect="1"/>
          </p:cNvGrpSpPr>
          <p:nvPr/>
        </p:nvGrpSpPr>
        <p:grpSpPr>
          <a:xfrm>
            <a:off x="4338863" y="4360125"/>
            <a:ext cx="124071" cy="159622"/>
            <a:chOff x="6434980" y="855802"/>
            <a:chExt cx="600836" cy="600837"/>
          </a:xfrm>
        </p:grpSpPr>
        <p:sp>
          <p:nvSpPr>
            <p:cNvPr id="2203" name="Picture Placeholder 77">
              <a:extLst>
                <a:ext uri="{FF2B5EF4-FFF2-40B4-BE49-F238E27FC236}">
                  <a16:creationId xmlns:a16="http://schemas.microsoft.com/office/drawing/2014/main" id="{4731F279-B0A8-9526-19F9-CD844A2B49D9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04" name="Picture Placeholder 104" descr="Virtual Machine&#10;">
              <a:extLst>
                <a:ext uri="{FF2B5EF4-FFF2-40B4-BE49-F238E27FC236}">
                  <a16:creationId xmlns:a16="http://schemas.microsoft.com/office/drawing/2014/main" id="{A067486A-C788-DAC5-5797-A797BE8635CA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05" name="Picture Placeholder 104">
                <a:extLst>
                  <a:ext uri="{FF2B5EF4-FFF2-40B4-BE49-F238E27FC236}">
                    <a16:creationId xmlns:a16="http://schemas.microsoft.com/office/drawing/2014/main" id="{F02F5901-81E2-BCB6-8300-CAFCCF260C7D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06" name="Picture Placeholder 104">
                <a:extLst>
                  <a:ext uri="{FF2B5EF4-FFF2-40B4-BE49-F238E27FC236}">
                    <a16:creationId xmlns:a16="http://schemas.microsoft.com/office/drawing/2014/main" id="{F40ADDBB-B6DA-F8E1-BC11-6E0F9E350FCF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07" name="Picture Placeholder 104">
                  <a:extLst>
                    <a:ext uri="{FF2B5EF4-FFF2-40B4-BE49-F238E27FC236}">
                      <a16:creationId xmlns:a16="http://schemas.microsoft.com/office/drawing/2014/main" id="{300B05A3-B1CA-1885-0801-8C6557FACAA4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08" name="Picture Placeholder 104">
                  <a:extLst>
                    <a:ext uri="{FF2B5EF4-FFF2-40B4-BE49-F238E27FC236}">
                      <a16:creationId xmlns:a16="http://schemas.microsoft.com/office/drawing/2014/main" id="{154B7EAA-0722-332E-2CE6-46F179A574CF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209" name="Google Shape;1155;p37">
            <a:extLst>
              <a:ext uri="{FF2B5EF4-FFF2-40B4-BE49-F238E27FC236}">
                <a16:creationId xmlns:a16="http://schemas.microsoft.com/office/drawing/2014/main" id="{EDB56439-D021-04D8-81F8-EBCAFA3184F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143753" y="4954162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0" name="Google Shape;1155;p37">
            <a:extLst>
              <a:ext uri="{FF2B5EF4-FFF2-40B4-BE49-F238E27FC236}">
                <a16:creationId xmlns:a16="http://schemas.microsoft.com/office/drawing/2014/main" id="{186273D0-013F-182A-9C27-6F2CD0D3487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081597" y="4916228"/>
            <a:ext cx="111071" cy="134991"/>
          </a:xfrm>
          <a:prstGeom prst="rect">
            <a:avLst/>
          </a:prstGeom>
          <a:noFill/>
          <a:ln>
            <a:noFill/>
          </a:ln>
        </p:spPr>
      </p:pic>
      <p:sp>
        <p:nvSpPr>
          <p:cNvPr id="2211" name="!!Rectangle 566">
            <a:extLst>
              <a:ext uri="{FF2B5EF4-FFF2-40B4-BE49-F238E27FC236}">
                <a16:creationId xmlns:a16="http://schemas.microsoft.com/office/drawing/2014/main" id="{CB5AF1C5-38B5-DEF4-F6C6-20A426E7DADA}"/>
              </a:ext>
            </a:extLst>
          </p:cNvPr>
          <p:cNvSpPr/>
          <p:nvPr/>
        </p:nvSpPr>
        <p:spPr>
          <a:xfrm>
            <a:off x="6109389" y="3761800"/>
            <a:ext cx="744814" cy="208460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  <a:ln w="6350">
            <a:solidFill>
              <a:schemeClr val="tx2">
                <a:lumMod val="10000"/>
              </a:schemeClr>
            </a:solidFill>
            <a:prstDash val="dash"/>
          </a:ln>
          <a:effectLst/>
        </p:spPr>
        <p:txBody>
          <a:bodyPr wrap="square" lIns="0" tIns="72000" rIns="0" bIns="10800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광주</a:t>
            </a:r>
            <a:endParaRPr lang="en-US" sz="900" kern="12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cxnSp>
        <p:nvCxnSpPr>
          <p:cNvPr id="2212" name="Google Shape;957;g2872d9e35e1_4_15">
            <a:extLst>
              <a:ext uri="{FF2B5EF4-FFF2-40B4-BE49-F238E27FC236}">
                <a16:creationId xmlns:a16="http://schemas.microsoft.com/office/drawing/2014/main" id="{8CC9A118-4BF3-2CCD-083D-0ED895836895}"/>
              </a:ext>
            </a:extLst>
          </p:cNvPr>
          <p:cNvCxnSpPr>
            <a:cxnSpLocks/>
          </p:cNvCxnSpPr>
          <p:nvPr/>
        </p:nvCxnSpPr>
        <p:spPr>
          <a:xfrm>
            <a:off x="6528992" y="5398279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3" name="Google Shape;945;g2872d9e35e1_4_15">
            <a:extLst>
              <a:ext uri="{FF2B5EF4-FFF2-40B4-BE49-F238E27FC236}">
                <a16:creationId xmlns:a16="http://schemas.microsoft.com/office/drawing/2014/main" id="{81E624C3-378E-165C-A5AF-6A97D86F7930}"/>
              </a:ext>
            </a:extLst>
          </p:cNvPr>
          <p:cNvSpPr/>
          <p:nvPr/>
        </p:nvSpPr>
        <p:spPr>
          <a:xfrm>
            <a:off x="6144456" y="3802625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vCenter</a:t>
            </a:r>
          </a:p>
        </p:txBody>
      </p:sp>
      <p:pic>
        <p:nvPicPr>
          <p:cNvPr id="2214" name="Google Shape;1155;p37">
            <a:extLst>
              <a:ext uri="{FF2B5EF4-FFF2-40B4-BE49-F238E27FC236}">
                <a16:creationId xmlns:a16="http://schemas.microsoft.com/office/drawing/2014/main" id="{15D934B0-B46C-8D77-3DC9-18817D02446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71675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5" name="Google Shape;1157;p37">
            <a:extLst>
              <a:ext uri="{FF2B5EF4-FFF2-40B4-BE49-F238E27FC236}">
                <a16:creationId xmlns:a16="http://schemas.microsoft.com/office/drawing/2014/main" id="{AEAF7BE2-5331-E6CF-FB9A-2921D47E6BFF}"/>
              </a:ext>
            </a:extLst>
          </p:cNvPr>
          <p:cNvCxnSpPr>
            <a:cxnSpLocks/>
          </p:cNvCxnSpPr>
          <p:nvPr/>
        </p:nvCxnSpPr>
        <p:spPr>
          <a:xfrm flipH="1" flipV="1">
            <a:off x="6384030" y="4781309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6" name="Google Shape;1158;p37">
            <a:extLst>
              <a:ext uri="{FF2B5EF4-FFF2-40B4-BE49-F238E27FC236}">
                <a16:creationId xmlns:a16="http://schemas.microsoft.com/office/drawing/2014/main" id="{5BFBCDE5-5F7D-69EB-3EA2-BBDB567D1C03}"/>
              </a:ext>
            </a:extLst>
          </p:cNvPr>
          <p:cNvSpPr/>
          <p:nvPr/>
        </p:nvSpPr>
        <p:spPr>
          <a:xfrm>
            <a:off x="6193846" y="4292336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217" name="그룹 2216">
            <a:extLst>
              <a:ext uri="{FF2B5EF4-FFF2-40B4-BE49-F238E27FC236}">
                <a16:creationId xmlns:a16="http://schemas.microsoft.com/office/drawing/2014/main" id="{A706968E-EE2D-7AA7-6AAE-C74C90EEB2BE}"/>
              </a:ext>
            </a:extLst>
          </p:cNvPr>
          <p:cNvGrpSpPr>
            <a:grpSpLocks noChangeAspect="1"/>
          </p:cNvGrpSpPr>
          <p:nvPr/>
        </p:nvGrpSpPr>
        <p:grpSpPr>
          <a:xfrm>
            <a:off x="6219820" y="4362282"/>
            <a:ext cx="124071" cy="159622"/>
            <a:chOff x="6434980" y="855802"/>
            <a:chExt cx="600836" cy="600837"/>
          </a:xfrm>
        </p:grpSpPr>
        <p:sp>
          <p:nvSpPr>
            <p:cNvPr id="2218" name="Picture Placeholder 77">
              <a:extLst>
                <a:ext uri="{FF2B5EF4-FFF2-40B4-BE49-F238E27FC236}">
                  <a16:creationId xmlns:a16="http://schemas.microsoft.com/office/drawing/2014/main" id="{30A0A94C-2495-1B52-E966-4F067B67D707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19" name="Picture Placeholder 104" descr="Virtual Machine&#10;">
              <a:extLst>
                <a:ext uri="{FF2B5EF4-FFF2-40B4-BE49-F238E27FC236}">
                  <a16:creationId xmlns:a16="http://schemas.microsoft.com/office/drawing/2014/main" id="{BE863FD0-44A6-546D-3E5B-E165AA845459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20" name="Picture Placeholder 104">
                <a:extLst>
                  <a:ext uri="{FF2B5EF4-FFF2-40B4-BE49-F238E27FC236}">
                    <a16:creationId xmlns:a16="http://schemas.microsoft.com/office/drawing/2014/main" id="{AC1B5733-BB59-830C-C7FB-BD8A485ACE80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21" name="Picture Placeholder 104">
                <a:extLst>
                  <a:ext uri="{FF2B5EF4-FFF2-40B4-BE49-F238E27FC236}">
                    <a16:creationId xmlns:a16="http://schemas.microsoft.com/office/drawing/2014/main" id="{B9C65DD7-EFF7-A0C2-2A7C-A8424ACAED29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22" name="Picture Placeholder 104">
                  <a:extLst>
                    <a:ext uri="{FF2B5EF4-FFF2-40B4-BE49-F238E27FC236}">
                      <a16:creationId xmlns:a16="http://schemas.microsoft.com/office/drawing/2014/main" id="{0FA0934E-2BDA-52D7-9349-A8A2F322F5E4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23" name="Picture Placeholder 104">
                  <a:extLst>
                    <a:ext uri="{FF2B5EF4-FFF2-40B4-BE49-F238E27FC236}">
                      <a16:creationId xmlns:a16="http://schemas.microsoft.com/office/drawing/2014/main" id="{AB956BD6-4C55-60AE-144B-5AD29BC2E86F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224" name="그룹 2223">
            <a:extLst>
              <a:ext uri="{FF2B5EF4-FFF2-40B4-BE49-F238E27FC236}">
                <a16:creationId xmlns:a16="http://schemas.microsoft.com/office/drawing/2014/main" id="{F6987355-7619-346D-848D-C7950F850882}"/>
              </a:ext>
            </a:extLst>
          </p:cNvPr>
          <p:cNvGrpSpPr>
            <a:grpSpLocks noChangeAspect="1"/>
          </p:cNvGrpSpPr>
          <p:nvPr/>
        </p:nvGrpSpPr>
        <p:grpSpPr>
          <a:xfrm>
            <a:off x="6353216" y="4362282"/>
            <a:ext cx="124071" cy="159622"/>
            <a:chOff x="6434980" y="855802"/>
            <a:chExt cx="600836" cy="600837"/>
          </a:xfrm>
        </p:grpSpPr>
        <p:sp>
          <p:nvSpPr>
            <p:cNvPr id="2225" name="Picture Placeholder 77">
              <a:extLst>
                <a:ext uri="{FF2B5EF4-FFF2-40B4-BE49-F238E27FC236}">
                  <a16:creationId xmlns:a16="http://schemas.microsoft.com/office/drawing/2014/main" id="{CF60FA7C-24B9-A4DA-9DB2-84E0B05DDFB1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26" name="Picture Placeholder 104" descr="Virtual Machine&#10;">
              <a:extLst>
                <a:ext uri="{FF2B5EF4-FFF2-40B4-BE49-F238E27FC236}">
                  <a16:creationId xmlns:a16="http://schemas.microsoft.com/office/drawing/2014/main" id="{A3CF8FF0-5BDB-C73F-356D-436024D146E8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27" name="Picture Placeholder 104">
                <a:extLst>
                  <a:ext uri="{FF2B5EF4-FFF2-40B4-BE49-F238E27FC236}">
                    <a16:creationId xmlns:a16="http://schemas.microsoft.com/office/drawing/2014/main" id="{D90A6BD6-CDAC-6A31-9B02-364C9267A935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28" name="Picture Placeholder 104">
                <a:extLst>
                  <a:ext uri="{FF2B5EF4-FFF2-40B4-BE49-F238E27FC236}">
                    <a16:creationId xmlns:a16="http://schemas.microsoft.com/office/drawing/2014/main" id="{FD5E7543-44A8-CF4A-A2AB-8A59943C6D0E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29" name="Picture Placeholder 104">
                  <a:extLst>
                    <a:ext uri="{FF2B5EF4-FFF2-40B4-BE49-F238E27FC236}">
                      <a16:creationId xmlns:a16="http://schemas.microsoft.com/office/drawing/2014/main" id="{9CFCEC5B-A713-7800-15EC-8F868B5F5440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30" name="Picture Placeholder 104">
                  <a:extLst>
                    <a:ext uri="{FF2B5EF4-FFF2-40B4-BE49-F238E27FC236}">
                      <a16:creationId xmlns:a16="http://schemas.microsoft.com/office/drawing/2014/main" id="{D8C8C1EB-88EE-3A2C-A7DF-AA9B54CD0FE0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231" name="직사각형 2230">
            <a:extLst>
              <a:ext uri="{FF2B5EF4-FFF2-40B4-BE49-F238E27FC236}">
                <a16:creationId xmlns:a16="http://schemas.microsoft.com/office/drawing/2014/main" id="{3F8517FC-A6CC-058E-D630-ABE42FC08A25}"/>
              </a:ext>
            </a:extLst>
          </p:cNvPr>
          <p:cNvSpPr/>
          <p:nvPr/>
        </p:nvSpPr>
        <p:spPr>
          <a:xfrm>
            <a:off x="6220554" y="4545163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232" name="그룹 2231">
            <a:extLst>
              <a:ext uri="{FF2B5EF4-FFF2-40B4-BE49-F238E27FC236}">
                <a16:creationId xmlns:a16="http://schemas.microsoft.com/office/drawing/2014/main" id="{8232A156-E6EE-875B-CC68-D575F1C77044}"/>
              </a:ext>
            </a:extLst>
          </p:cNvPr>
          <p:cNvGrpSpPr>
            <a:grpSpLocks noChangeAspect="1"/>
          </p:cNvGrpSpPr>
          <p:nvPr/>
        </p:nvGrpSpPr>
        <p:grpSpPr>
          <a:xfrm>
            <a:off x="6297474" y="4687267"/>
            <a:ext cx="240630" cy="94042"/>
            <a:chOff x="8143395" y="2987969"/>
            <a:chExt cx="600854" cy="164611"/>
          </a:xfrm>
        </p:grpSpPr>
        <p:sp>
          <p:nvSpPr>
            <p:cNvPr id="2233" name="Picture Placeholder 77">
              <a:extLst>
                <a:ext uri="{FF2B5EF4-FFF2-40B4-BE49-F238E27FC236}">
                  <a16:creationId xmlns:a16="http://schemas.microsoft.com/office/drawing/2014/main" id="{E5616F83-94CD-983F-E7AF-6C8B7BE9A99D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34" name="Picture Placeholder 77" descr="Rack Server 2&#10;">
              <a:extLst>
                <a:ext uri="{FF2B5EF4-FFF2-40B4-BE49-F238E27FC236}">
                  <a16:creationId xmlns:a16="http://schemas.microsoft.com/office/drawing/2014/main" id="{AC7CC8BD-5B25-AFD9-B07E-BADF0AAC38F7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235" name="Picture Placeholder 77">
                <a:extLst>
                  <a:ext uri="{FF2B5EF4-FFF2-40B4-BE49-F238E27FC236}">
                    <a16:creationId xmlns:a16="http://schemas.microsoft.com/office/drawing/2014/main" id="{668DB6BA-B977-2C98-3B1D-5FB7E945F03B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237" name="Picture Placeholder 77">
                  <a:extLst>
                    <a:ext uri="{FF2B5EF4-FFF2-40B4-BE49-F238E27FC236}">
                      <a16:creationId xmlns:a16="http://schemas.microsoft.com/office/drawing/2014/main" id="{FD1D6AE1-ACC2-5176-297A-AB9A31DC7E47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238" name="Picture Placeholder 77">
                  <a:extLst>
                    <a:ext uri="{FF2B5EF4-FFF2-40B4-BE49-F238E27FC236}">
                      <a16:creationId xmlns:a16="http://schemas.microsoft.com/office/drawing/2014/main" id="{FBDA5E9F-2C60-F9AB-C02C-14F7BD1196C6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239" name="Picture Placeholder 77">
                    <a:extLst>
                      <a:ext uri="{FF2B5EF4-FFF2-40B4-BE49-F238E27FC236}">
                        <a16:creationId xmlns:a16="http://schemas.microsoft.com/office/drawing/2014/main" id="{B2A532E2-E9FD-481D-066A-B495B963601B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240" name="Picture Placeholder 77">
                    <a:extLst>
                      <a:ext uri="{FF2B5EF4-FFF2-40B4-BE49-F238E27FC236}">
                        <a16:creationId xmlns:a16="http://schemas.microsoft.com/office/drawing/2014/main" id="{0FA94A9D-F2BD-894E-F7FD-7078E085BC14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241" name="Picture Placeholder 77">
                    <a:extLst>
                      <a:ext uri="{FF2B5EF4-FFF2-40B4-BE49-F238E27FC236}">
                        <a16:creationId xmlns:a16="http://schemas.microsoft.com/office/drawing/2014/main" id="{5C1D2587-F3A0-B640-5A0D-FF833A6DE49D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242" name="Picture Placeholder 77">
                    <a:extLst>
                      <a:ext uri="{FF2B5EF4-FFF2-40B4-BE49-F238E27FC236}">
                        <a16:creationId xmlns:a16="http://schemas.microsoft.com/office/drawing/2014/main" id="{DB5B4E6B-6883-7A80-D3A0-1B70E38AE8AA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236" name="Picture Placeholder 77">
                <a:extLst>
                  <a:ext uri="{FF2B5EF4-FFF2-40B4-BE49-F238E27FC236}">
                    <a16:creationId xmlns:a16="http://schemas.microsoft.com/office/drawing/2014/main" id="{41ABD008-ADE4-FFAD-6D85-51865B2F0877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243" name="그룹 2242">
            <a:extLst>
              <a:ext uri="{FF2B5EF4-FFF2-40B4-BE49-F238E27FC236}">
                <a16:creationId xmlns:a16="http://schemas.microsoft.com/office/drawing/2014/main" id="{B340C99E-F826-4953-C9E7-A4688C8BCCE5}"/>
              </a:ext>
            </a:extLst>
          </p:cNvPr>
          <p:cNvGrpSpPr>
            <a:grpSpLocks noChangeAspect="1"/>
          </p:cNvGrpSpPr>
          <p:nvPr/>
        </p:nvGrpSpPr>
        <p:grpSpPr>
          <a:xfrm>
            <a:off x="6486611" y="4362282"/>
            <a:ext cx="124071" cy="159622"/>
            <a:chOff x="6434980" y="855802"/>
            <a:chExt cx="600836" cy="600837"/>
          </a:xfrm>
        </p:grpSpPr>
        <p:sp>
          <p:nvSpPr>
            <p:cNvPr id="2244" name="Picture Placeholder 77">
              <a:extLst>
                <a:ext uri="{FF2B5EF4-FFF2-40B4-BE49-F238E27FC236}">
                  <a16:creationId xmlns:a16="http://schemas.microsoft.com/office/drawing/2014/main" id="{07C76F23-B85D-4F46-9601-59A82AAFC234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45" name="Picture Placeholder 104" descr="Virtual Machine&#10;">
              <a:extLst>
                <a:ext uri="{FF2B5EF4-FFF2-40B4-BE49-F238E27FC236}">
                  <a16:creationId xmlns:a16="http://schemas.microsoft.com/office/drawing/2014/main" id="{8D19DB35-7646-E57E-3F38-6C3105810004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46" name="Picture Placeholder 104">
                <a:extLst>
                  <a:ext uri="{FF2B5EF4-FFF2-40B4-BE49-F238E27FC236}">
                    <a16:creationId xmlns:a16="http://schemas.microsoft.com/office/drawing/2014/main" id="{8F4E32F6-33AE-9A3E-D99D-DF245CF3CCAB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47" name="Picture Placeholder 104">
                <a:extLst>
                  <a:ext uri="{FF2B5EF4-FFF2-40B4-BE49-F238E27FC236}">
                    <a16:creationId xmlns:a16="http://schemas.microsoft.com/office/drawing/2014/main" id="{8DD77BE6-EB42-9582-B74A-EC939CC77C74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48" name="Picture Placeholder 104">
                  <a:extLst>
                    <a:ext uri="{FF2B5EF4-FFF2-40B4-BE49-F238E27FC236}">
                      <a16:creationId xmlns:a16="http://schemas.microsoft.com/office/drawing/2014/main" id="{595A3F53-0348-94EA-3E94-FED6BD7F8663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49" name="Picture Placeholder 104">
                  <a:extLst>
                    <a:ext uri="{FF2B5EF4-FFF2-40B4-BE49-F238E27FC236}">
                      <a16:creationId xmlns:a16="http://schemas.microsoft.com/office/drawing/2014/main" id="{1C05066F-D920-7EE9-C2AC-3A83823AA64A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250" name="그룹 2249">
            <a:extLst>
              <a:ext uri="{FF2B5EF4-FFF2-40B4-BE49-F238E27FC236}">
                <a16:creationId xmlns:a16="http://schemas.microsoft.com/office/drawing/2014/main" id="{D8B4DABE-5018-4DCC-5AC1-4D605FF5A20A}"/>
              </a:ext>
            </a:extLst>
          </p:cNvPr>
          <p:cNvGrpSpPr>
            <a:grpSpLocks noChangeAspect="1"/>
          </p:cNvGrpSpPr>
          <p:nvPr/>
        </p:nvGrpSpPr>
        <p:grpSpPr>
          <a:xfrm>
            <a:off x="6620006" y="4362282"/>
            <a:ext cx="124071" cy="159622"/>
            <a:chOff x="6434980" y="855802"/>
            <a:chExt cx="600836" cy="600837"/>
          </a:xfrm>
        </p:grpSpPr>
        <p:sp>
          <p:nvSpPr>
            <p:cNvPr id="2251" name="Picture Placeholder 77">
              <a:extLst>
                <a:ext uri="{FF2B5EF4-FFF2-40B4-BE49-F238E27FC236}">
                  <a16:creationId xmlns:a16="http://schemas.microsoft.com/office/drawing/2014/main" id="{689C63C7-CBF3-D9D8-812B-EE1F2675FF26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52" name="Picture Placeholder 104" descr="Virtual Machine&#10;">
              <a:extLst>
                <a:ext uri="{FF2B5EF4-FFF2-40B4-BE49-F238E27FC236}">
                  <a16:creationId xmlns:a16="http://schemas.microsoft.com/office/drawing/2014/main" id="{33775D52-838B-F685-2151-DA5C94BA7F7F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53" name="Picture Placeholder 104">
                <a:extLst>
                  <a:ext uri="{FF2B5EF4-FFF2-40B4-BE49-F238E27FC236}">
                    <a16:creationId xmlns:a16="http://schemas.microsoft.com/office/drawing/2014/main" id="{AEFCCC0E-86BC-331E-B27A-00415C92A494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54" name="Picture Placeholder 104">
                <a:extLst>
                  <a:ext uri="{FF2B5EF4-FFF2-40B4-BE49-F238E27FC236}">
                    <a16:creationId xmlns:a16="http://schemas.microsoft.com/office/drawing/2014/main" id="{DD531968-1A59-0AFB-4FB5-ADE6D8D4388B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55" name="Picture Placeholder 104">
                  <a:extLst>
                    <a:ext uri="{FF2B5EF4-FFF2-40B4-BE49-F238E27FC236}">
                      <a16:creationId xmlns:a16="http://schemas.microsoft.com/office/drawing/2014/main" id="{77243E56-423E-09D2-47C3-AA5DDDAEF928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56" name="Picture Placeholder 104">
                  <a:extLst>
                    <a:ext uri="{FF2B5EF4-FFF2-40B4-BE49-F238E27FC236}">
                      <a16:creationId xmlns:a16="http://schemas.microsoft.com/office/drawing/2014/main" id="{907710C2-0D3A-0530-01E7-41F032810773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257" name="Google Shape;1155;p37">
            <a:extLst>
              <a:ext uri="{FF2B5EF4-FFF2-40B4-BE49-F238E27FC236}">
                <a16:creationId xmlns:a16="http://schemas.microsoft.com/office/drawing/2014/main" id="{C0A3EC08-1B9B-B556-B541-7501560F1D1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424897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8" name="Google Shape;1155;p37">
            <a:extLst>
              <a:ext uri="{FF2B5EF4-FFF2-40B4-BE49-F238E27FC236}">
                <a16:creationId xmlns:a16="http://schemas.microsoft.com/office/drawing/2014/main" id="{64762290-92C4-9CF1-746E-50BB9DC1AE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362741" y="4918385"/>
            <a:ext cx="111071" cy="134991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!!Rectangle 566">
            <a:extLst>
              <a:ext uri="{FF2B5EF4-FFF2-40B4-BE49-F238E27FC236}">
                <a16:creationId xmlns:a16="http://schemas.microsoft.com/office/drawing/2014/main" id="{3C749489-0A8D-8C23-A3D0-29F6061FE7D3}"/>
              </a:ext>
            </a:extLst>
          </p:cNvPr>
          <p:cNvSpPr/>
          <p:nvPr/>
        </p:nvSpPr>
        <p:spPr>
          <a:xfrm>
            <a:off x="7624750" y="3761800"/>
            <a:ext cx="718462" cy="2083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  <a:ln w="6350">
            <a:solidFill>
              <a:schemeClr val="tx2">
                <a:lumMod val="10000"/>
              </a:schemeClr>
            </a:solidFill>
            <a:prstDash val="dash"/>
          </a:ln>
          <a:effectLst/>
        </p:spPr>
        <p:txBody>
          <a:bodyPr wrap="square" lIns="0" tIns="72000" rIns="0" bIns="10800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ko-KR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</a:br>
            <a:r>
              <a:rPr lang="ko-KR" alt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천안</a:t>
            </a:r>
            <a:endParaRPr lang="en-US" sz="900" kern="12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cxnSp>
        <p:nvCxnSpPr>
          <p:cNvPr id="2260" name="Google Shape;957;g2872d9e35e1_4_15">
            <a:extLst>
              <a:ext uri="{FF2B5EF4-FFF2-40B4-BE49-F238E27FC236}">
                <a16:creationId xmlns:a16="http://schemas.microsoft.com/office/drawing/2014/main" id="{6494B15E-8D8D-5A93-7FEF-9D9AFE7A6E1A}"/>
              </a:ext>
            </a:extLst>
          </p:cNvPr>
          <p:cNvCxnSpPr>
            <a:cxnSpLocks/>
          </p:cNvCxnSpPr>
          <p:nvPr/>
        </p:nvCxnSpPr>
        <p:spPr>
          <a:xfrm>
            <a:off x="8010752" y="5398279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1" name="Google Shape;945;g2872d9e35e1_4_15">
            <a:extLst>
              <a:ext uri="{FF2B5EF4-FFF2-40B4-BE49-F238E27FC236}">
                <a16:creationId xmlns:a16="http://schemas.microsoft.com/office/drawing/2014/main" id="{B088EF98-517F-504B-5221-270BAAE94F78}"/>
              </a:ext>
            </a:extLst>
          </p:cNvPr>
          <p:cNvSpPr/>
          <p:nvPr/>
        </p:nvSpPr>
        <p:spPr>
          <a:xfrm>
            <a:off x="7626215" y="3802625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vCenter</a:t>
            </a:r>
          </a:p>
        </p:txBody>
      </p:sp>
      <p:pic>
        <p:nvPicPr>
          <p:cNvPr id="2262" name="Google Shape;1155;p37">
            <a:extLst>
              <a:ext uri="{FF2B5EF4-FFF2-40B4-BE49-F238E27FC236}">
                <a16:creationId xmlns:a16="http://schemas.microsoft.com/office/drawing/2014/main" id="{047A3628-2F98-BD58-D54F-7855C08374F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753435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3" name="Google Shape;1157;p37">
            <a:extLst>
              <a:ext uri="{FF2B5EF4-FFF2-40B4-BE49-F238E27FC236}">
                <a16:creationId xmlns:a16="http://schemas.microsoft.com/office/drawing/2014/main" id="{D9E8CF1B-D63E-E631-A0C6-79B9FE5E9F1F}"/>
              </a:ext>
            </a:extLst>
          </p:cNvPr>
          <p:cNvCxnSpPr>
            <a:cxnSpLocks/>
          </p:cNvCxnSpPr>
          <p:nvPr/>
        </p:nvCxnSpPr>
        <p:spPr>
          <a:xfrm flipH="1" flipV="1">
            <a:off x="7865789" y="4781309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4" name="Google Shape;1158;p37">
            <a:extLst>
              <a:ext uri="{FF2B5EF4-FFF2-40B4-BE49-F238E27FC236}">
                <a16:creationId xmlns:a16="http://schemas.microsoft.com/office/drawing/2014/main" id="{0895639B-1BE1-498B-B816-7E182136FEB8}"/>
              </a:ext>
            </a:extLst>
          </p:cNvPr>
          <p:cNvSpPr/>
          <p:nvPr/>
        </p:nvSpPr>
        <p:spPr>
          <a:xfrm>
            <a:off x="7675605" y="4292336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265" name="그룹 2264">
            <a:extLst>
              <a:ext uri="{FF2B5EF4-FFF2-40B4-BE49-F238E27FC236}">
                <a16:creationId xmlns:a16="http://schemas.microsoft.com/office/drawing/2014/main" id="{680D09AC-BA36-7A19-EBF7-D55310EF8DFC}"/>
              </a:ext>
            </a:extLst>
          </p:cNvPr>
          <p:cNvGrpSpPr>
            <a:grpSpLocks noChangeAspect="1"/>
          </p:cNvGrpSpPr>
          <p:nvPr/>
        </p:nvGrpSpPr>
        <p:grpSpPr>
          <a:xfrm>
            <a:off x="7698139" y="4362282"/>
            <a:ext cx="124071" cy="159622"/>
            <a:chOff x="6434980" y="855802"/>
            <a:chExt cx="600836" cy="600837"/>
          </a:xfrm>
        </p:grpSpPr>
        <p:sp>
          <p:nvSpPr>
            <p:cNvPr id="2266" name="Picture Placeholder 77">
              <a:extLst>
                <a:ext uri="{FF2B5EF4-FFF2-40B4-BE49-F238E27FC236}">
                  <a16:creationId xmlns:a16="http://schemas.microsoft.com/office/drawing/2014/main" id="{4D0ECA30-946E-6BD4-E01E-B87BB035DB60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67" name="Picture Placeholder 104" descr="Virtual Machine&#10;">
              <a:extLst>
                <a:ext uri="{FF2B5EF4-FFF2-40B4-BE49-F238E27FC236}">
                  <a16:creationId xmlns:a16="http://schemas.microsoft.com/office/drawing/2014/main" id="{3E1DFFCD-D6D7-AFCA-D5A0-DDB29A68B7B8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68" name="Picture Placeholder 104">
                <a:extLst>
                  <a:ext uri="{FF2B5EF4-FFF2-40B4-BE49-F238E27FC236}">
                    <a16:creationId xmlns:a16="http://schemas.microsoft.com/office/drawing/2014/main" id="{7A497668-A569-1F53-6678-22739DAAD541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69" name="Picture Placeholder 104">
                <a:extLst>
                  <a:ext uri="{FF2B5EF4-FFF2-40B4-BE49-F238E27FC236}">
                    <a16:creationId xmlns:a16="http://schemas.microsoft.com/office/drawing/2014/main" id="{EA88C534-16AE-752E-4C68-3973C5527049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70" name="Picture Placeholder 104">
                  <a:extLst>
                    <a:ext uri="{FF2B5EF4-FFF2-40B4-BE49-F238E27FC236}">
                      <a16:creationId xmlns:a16="http://schemas.microsoft.com/office/drawing/2014/main" id="{04EE9DB4-B1DC-C0B5-6230-C5A58CFF58F7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71" name="Picture Placeholder 104">
                  <a:extLst>
                    <a:ext uri="{FF2B5EF4-FFF2-40B4-BE49-F238E27FC236}">
                      <a16:creationId xmlns:a16="http://schemas.microsoft.com/office/drawing/2014/main" id="{D297D8D5-DFFC-5262-3767-06B876FC97E2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272" name="그룹 2271">
            <a:extLst>
              <a:ext uri="{FF2B5EF4-FFF2-40B4-BE49-F238E27FC236}">
                <a16:creationId xmlns:a16="http://schemas.microsoft.com/office/drawing/2014/main" id="{237A08C8-37DC-82B8-AEF7-8593F0873A86}"/>
              </a:ext>
            </a:extLst>
          </p:cNvPr>
          <p:cNvGrpSpPr>
            <a:grpSpLocks noChangeAspect="1"/>
          </p:cNvGrpSpPr>
          <p:nvPr/>
        </p:nvGrpSpPr>
        <p:grpSpPr>
          <a:xfrm>
            <a:off x="7832681" y="4362282"/>
            <a:ext cx="124071" cy="159622"/>
            <a:chOff x="6434980" y="855802"/>
            <a:chExt cx="600836" cy="600837"/>
          </a:xfrm>
        </p:grpSpPr>
        <p:sp>
          <p:nvSpPr>
            <p:cNvPr id="2273" name="Picture Placeholder 77">
              <a:extLst>
                <a:ext uri="{FF2B5EF4-FFF2-40B4-BE49-F238E27FC236}">
                  <a16:creationId xmlns:a16="http://schemas.microsoft.com/office/drawing/2014/main" id="{1CAD4FF8-8308-816B-3236-DE7926024662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74" name="Picture Placeholder 104" descr="Virtual Machine&#10;">
              <a:extLst>
                <a:ext uri="{FF2B5EF4-FFF2-40B4-BE49-F238E27FC236}">
                  <a16:creationId xmlns:a16="http://schemas.microsoft.com/office/drawing/2014/main" id="{77192F7A-5F8E-C876-2628-6EBA44247EE3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75" name="Picture Placeholder 104">
                <a:extLst>
                  <a:ext uri="{FF2B5EF4-FFF2-40B4-BE49-F238E27FC236}">
                    <a16:creationId xmlns:a16="http://schemas.microsoft.com/office/drawing/2014/main" id="{3166D3C3-A7DF-1509-93A9-88E4DD6831E6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76" name="Picture Placeholder 104">
                <a:extLst>
                  <a:ext uri="{FF2B5EF4-FFF2-40B4-BE49-F238E27FC236}">
                    <a16:creationId xmlns:a16="http://schemas.microsoft.com/office/drawing/2014/main" id="{F1A6CBE9-7F58-2357-8C0F-174527FE3346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77" name="Picture Placeholder 104">
                  <a:extLst>
                    <a:ext uri="{FF2B5EF4-FFF2-40B4-BE49-F238E27FC236}">
                      <a16:creationId xmlns:a16="http://schemas.microsoft.com/office/drawing/2014/main" id="{5E449798-834B-A661-AF4D-029458B15BD3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78" name="Picture Placeholder 104">
                  <a:extLst>
                    <a:ext uri="{FF2B5EF4-FFF2-40B4-BE49-F238E27FC236}">
                      <a16:creationId xmlns:a16="http://schemas.microsoft.com/office/drawing/2014/main" id="{4E2B6801-2009-4C20-DF11-509A0B66F435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279" name="직사각형 2278">
            <a:extLst>
              <a:ext uri="{FF2B5EF4-FFF2-40B4-BE49-F238E27FC236}">
                <a16:creationId xmlns:a16="http://schemas.microsoft.com/office/drawing/2014/main" id="{D1C9E9C4-6931-C300-5127-CF74BC7510F7}"/>
              </a:ext>
            </a:extLst>
          </p:cNvPr>
          <p:cNvSpPr/>
          <p:nvPr/>
        </p:nvSpPr>
        <p:spPr>
          <a:xfrm>
            <a:off x="7702312" y="4545163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280" name="그룹 2279">
            <a:extLst>
              <a:ext uri="{FF2B5EF4-FFF2-40B4-BE49-F238E27FC236}">
                <a16:creationId xmlns:a16="http://schemas.microsoft.com/office/drawing/2014/main" id="{BFDAEF41-0ED0-C505-943C-FEC3C2167C4A}"/>
              </a:ext>
            </a:extLst>
          </p:cNvPr>
          <p:cNvGrpSpPr>
            <a:grpSpLocks noChangeAspect="1"/>
          </p:cNvGrpSpPr>
          <p:nvPr/>
        </p:nvGrpSpPr>
        <p:grpSpPr>
          <a:xfrm>
            <a:off x="7779234" y="4687267"/>
            <a:ext cx="240630" cy="94042"/>
            <a:chOff x="8143395" y="2987969"/>
            <a:chExt cx="600854" cy="164611"/>
          </a:xfrm>
        </p:grpSpPr>
        <p:sp>
          <p:nvSpPr>
            <p:cNvPr id="2281" name="Picture Placeholder 77">
              <a:extLst>
                <a:ext uri="{FF2B5EF4-FFF2-40B4-BE49-F238E27FC236}">
                  <a16:creationId xmlns:a16="http://schemas.microsoft.com/office/drawing/2014/main" id="{F4B38CD9-9B5B-7A96-14C3-B205F62DAB05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82" name="Picture Placeholder 77" descr="Rack Server 2&#10;">
              <a:extLst>
                <a:ext uri="{FF2B5EF4-FFF2-40B4-BE49-F238E27FC236}">
                  <a16:creationId xmlns:a16="http://schemas.microsoft.com/office/drawing/2014/main" id="{D2D8063D-5007-5E66-D213-0BEF0D9BE4B0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283" name="Picture Placeholder 77">
                <a:extLst>
                  <a:ext uri="{FF2B5EF4-FFF2-40B4-BE49-F238E27FC236}">
                    <a16:creationId xmlns:a16="http://schemas.microsoft.com/office/drawing/2014/main" id="{D89FE07B-D750-7028-0F81-419D554F053B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285" name="Picture Placeholder 77">
                  <a:extLst>
                    <a:ext uri="{FF2B5EF4-FFF2-40B4-BE49-F238E27FC236}">
                      <a16:creationId xmlns:a16="http://schemas.microsoft.com/office/drawing/2014/main" id="{9F850720-8828-7F0B-C978-054C5BBE8BEA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286" name="Picture Placeholder 77">
                  <a:extLst>
                    <a:ext uri="{FF2B5EF4-FFF2-40B4-BE49-F238E27FC236}">
                      <a16:creationId xmlns:a16="http://schemas.microsoft.com/office/drawing/2014/main" id="{ADC95F33-5B5D-09C3-4907-B1673CC69144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287" name="Picture Placeholder 77">
                    <a:extLst>
                      <a:ext uri="{FF2B5EF4-FFF2-40B4-BE49-F238E27FC236}">
                        <a16:creationId xmlns:a16="http://schemas.microsoft.com/office/drawing/2014/main" id="{ECB163A3-929A-B392-46A4-38571F3EB83C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288" name="Picture Placeholder 77">
                    <a:extLst>
                      <a:ext uri="{FF2B5EF4-FFF2-40B4-BE49-F238E27FC236}">
                        <a16:creationId xmlns:a16="http://schemas.microsoft.com/office/drawing/2014/main" id="{E2DF3403-B4BD-95C5-1E44-1C959F87762C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289" name="Picture Placeholder 77">
                    <a:extLst>
                      <a:ext uri="{FF2B5EF4-FFF2-40B4-BE49-F238E27FC236}">
                        <a16:creationId xmlns:a16="http://schemas.microsoft.com/office/drawing/2014/main" id="{8F363515-D5CE-D028-1CA6-2B03AF693DD1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290" name="Picture Placeholder 77">
                    <a:extLst>
                      <a:ext uri="{FF2B5EF4-FFF2-40B4-BE49-F238E27FC236}">
                        <a16:creationId xmlns:a16="http://schemas.microsoft.com/office/drawing/2014/main" id="{85CEA401-9AED-A823-C2E0-1A240A116CA3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284" name="Picture Placeholder 77">
                <a:extLst>
                  <a:ext uri="{FF2B5EF4-FFF2-40B4-BE49-F238E27FC236}">
                    <a16:creationId xmlns:a16="http://schemas.microsoft.com/office/drawing/2014/main" id="{ACCF65B7-C250-45BE-830E-CE0E5FE8BBDB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291" name="그룹 2290">
            <a:extLst>
              <a:ext uri="{FF2B5EF4-FFF2-40B4-BE49-F238E27FC236}">
                <a16:creationId xmlns:a16="http://schemas.microsoft.com/office/drawing/2014/main" id="{0E7C931E-B81E-40F3-70A6-97A2E1360516}"/>
              </a:ext>
            </a:extLst>
          </p:cNvPr>
          <p:cNvGrpSpPr>
            <a:grpSpLocks noChangeAspect="1"/>
          </p:cNvGrpSpPr>
          <p:nvPr/>
        </p:nvGrpSpPr>
        <p:grpSpPr>
          <a:xfrm>
            <a:off x="7967223" y="4362282"/>
            <a:ext cx="124071" cy="159622"/>
            <a:chOff x="6434980" y="855802"/>
            <a:chExt cx="600836" cy="600837"/>
          </a:xfrm>
        </p:grpSpPr>
        <p:sp>
          <p:nvSpPr>
            <p:cNvPr id="2292" name="Picture Placeholder 77">
              <a:extLst>
                <a:ext uri="{FF2B5EF4-FFF2-40B4-BE49-F238E27FC236}">
                  <a16:creationId xmlns:a16="http://schemas.microsoft.com/office/drawing/2014/main" id="{778FBFB8-B172-D808-2211-1727C83E5A10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293" name="Picture Placeholder 104" descr="Virtual Machine&#10;">
              <a:extLst>
                <a:ext uri="{FF2B5EF4-FFF2-40B4-BE49-F238E27FC236}">
                  <a16:creationId xmlns:a16="http://schemas.microsoft.com/office/drawing/2014/main" id="{87A41020-2220-FE9B-474D-10F2B1A6488A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294" name="Picture Placeholder 104">
                <a:extLst>
                  <a:ext uri="{FF2B5EF4-FFF2-40B4-BE49-F238E27FC236}">
                    <a16:creationId xmlns:a16="http://schemas.microsoft.com/office/drawing/2014/main" id="{4407C2CE-8748-4D3F-C48C-1808CC2B9F2A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295" name="Picture Placeholder 104">
                <a:extLst>
                  <a:ext uri="{FF2B5EF4-FFF2-40B4-BE49-F238E27FC236}">
                    <a16:creationId xmlns:a16="http://schemas.microsoft.com/office/drawing/2014/main" id="{712B13D7-A664-4387-F1B2-61A6A6FA9ED6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296" name="Picture Placeholder 104">
                  <a:extLst>
                    <a:ext uri="{FF2B5EF4-FFF2-40B4-BE49-F238E27FC236}">
                      <a16:creationId xmlns:a16="http://schemas.microsoft.com/office/drawing/2014/main" id="{7F03399E-9807-3B6D-FC49-B9D153AEC14E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297" name="Picture Placeholder 104">
                  <a:extLst>
                    <a:ext uri="{FF2B5EF4-FFF2-40B4-BE49-F238E27FC236}">
                      <a16:creationId xmlns:a16="http://schemas.microsoft.com/office/drawing/2014/main" id="{C69EE00D-4A5E-1295-AA97-35A877FD6BC7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298" name="그룹 2297">
            <a:extLst>
              <a:ext uri="{FF2B5EF4-FFF2-40B4-BE49-F238E27FC236}">
                <a16:creationId xmlns:a16="http://schemas.microsoft.com/office/drawing/2014/main" id="{5F6A6149-4093-4D85-49FB-F48ACBCDB237}"/>
              </a:ext>
            </a:extLst>
          </p:cNvPr>
          <p:cNvGrpSpPr>
            <a:grpSpLocks noChangeAspect="1"/>
          </p:cNvGrpSpPr>
          <p:nvPr/>
        </p:nvGrpSpPr>
        <p:grpSpPr>
          <a:xfrm>
            <a:off x="8101766" y="4362282"/>
            <a:ext cx="124071" cy="159622"/>
            <a:chOff x="6434980" y="855802"/>
            <a:chExt cx="600836" cy="600837"/>
          </a:xfrm>
        </p:grpSpPr>
        <p:sp>
          <p:nvSpPr>
            <p:cNvPr id="2299" name="Picture Placeholder 77">
              <a:extLst>
                <a:ext uri="{FF2B5EF4-FFF2-40B4-BE49-F238E27FC236}">
                  <a16:creationId xmlns:a16="http://schemas.microsoft.com/office/drawing/2014/main" id="{CA349A1D-4F24-6496-1064-90FDC4889EFA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300" name="Picture Placeholder 104" descr="Virtual Machine&#10;">
              <a:extLst>
                <a:ext uri="{FF2B5EF4-FFF2-40B4-BE49-F238E27FC236}">
                  <a16:creationId xmlns:a16="http://schemas.microsoft.com/office/drawing/2014/main" id="{2E34B026-91DB-AD55-0E3F-38ABD9722DBF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301" name="Picture Placeholder 104">
                <a:extLst>
                  <a:ext uri="{FF2B5EF4-FFF2-40B4-BE49-F238E27FC236}">
                    <a16:creationId xmlns:a16="http://schemas.microsoft.com/office/drawing/2014/main" id="{AA78706E-0367-2C25-B363-BDA33E31E42C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302" name="Picture Placeholder 104">
                <a:extLst>
                  <a:ext uri="{FF2B5EF4-FFF2-40B4-BE49-F238E27FC236}">
                    <a16:creationId xmlns:a16="http://schemas.microsoft.com/office/drawing/2014/main" id="{FBE1C95D-9572-9B15-DEB9-915F914891E6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303" name="Picture Placeholder 104">
                  <a:extLst>
                    <a:ext uri="{FF2B5EF4-FFF2-40B4-BE49-F238E27FC236}">
                      <a16:creationId xmlns:a16="http://schemas.microsoft.com/office/drawing/2014/main" id="{23E94FEF-25E1-8DB4-2175-4905D7BF0B10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304" name="Picture Placeholder 104">
                  <a:extLst>
                    <a:ext uri="{FF2B5EF4-FFF2-40B4-BE49-F238E27FC236}">
                      <a16:creationId xmlns:a16="http://schemas.microsoft.com/office/drawing/2014/main" id="{B4BEF023-EC30-A6F1-54F9-EEFE3F8FFC13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305" name="Google Shape;1155;p37">
            <a:extLst>
              <a:ext uri="{FF2B5EF4-FFF2-40B4-BE49-F238E27FC236}">
                <a16:creationId xmlns:a16="http://schemas.microsoft.com/office/drawing/2014/main" id="{FF93DD59-C09D-2200-07CF-DE00B9829E3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906656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6" name="Google Shape;1155;p37">
            <a:extLst>
              <a:ext uri="{FF2B5EF4-FFF2-40B4-BE49-F238E27FC236}">
                <a16:creationId xmlns:a16="http://schemas.microsoft.com/office/drawing/2014/main" id="{DFD31619-316B-241D-2125-4722D4F4E9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44500" y="4918385"/>
            <a:ext cx="111071" cy="134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7" name="그룹 2306">
            <a:extLst>
              <a:ext uri="{FF2B5EF4-FFF2-40B4-BE49-F238E27FC236}">
                <a16:creationId xmlns:a16="http://schemas.microsoft.com/office/drawing/2014/main" id="{7D5C99E7-3C7F-212A-B560-8B2145EE8CEB}"/>
              </a:ext>
            </a:extLst>
          </p:cNvPr>
          <p:cNvGrpSpPr/>
          <p:nvPr/>
        </p:nvGrpSpPr>
        <p:grpSpPr>
          <a:xfrm>
            <a:off x="2334522" y="3894110"/>
            <a:ext cx="578311" cy="286718"/>
            <a:chOff x="2466582" y="3909292"/>
            <a:chExt cx="596924" cy="305852"/>
          </a:xfrm>
        </p:grpSpPr>
        <p:sp>
          <p:nvSpPr>
            <p:cNvPr id="2308" name="Google Shape;945;g2872d9e35e1_4_15">
              <a:extLst>
                <a:ext uri="{FF2B5EF4-FFF2-40B4-BE49-F238E27FC236}">
                  <a16:creationId xmlns:a16="http://schemas.microsoft.com/office/drawing/2014/main" id="{E73468A3-01ED-26EE-9360-2042179E2116}"/>
                </a:ext>
              </a:extLst>
            </p:cNvPr>
            <p:cNvSpPr/>
            <p:nvPr/>
          </p:nvSpPr>
          <p:spPr>
            <a:xfrm>
              <a:off x="2466582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309" name="Google Shape;945;g2872d9e35e1_4_15">
              <a:extLst>
                <a:ext uri="{FF2B5EF4-FFF2-40B4-BE49-F238E27FC236}">
                  <a16:creationId xmlns:a16="http://schemas.microsoft.com/office/drawing/2014/main" id="{F7872830-3C35-F431-01C0-BD9B710F1BE3}"/>
                </a:ext>
              </a:extLst>
            </p:cNvPr>
            <p:cNvSpPr/>
            <p:nvPr/>
          </p:nvSpPr>
          <p:spPr>
            <a:xfrm>
              <a:off x="2791810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grpSp>
        <p:nvGrpSpPr>
          <p:cNvPr id="2310" name="그룹 2309">
            <a:extLst>
              <a:ext uri="{FF2B5EF4-FFF2-40B4-BE49-F238E27FC236}">
                <a16:creationId xmlns:a16="http://schemas.microsoft.com/office/drawing/2014/main" id="{3CF1B4AE-CEBF-D095-27E5-5469AC15B819}"/>
              </a:ext>
            </a:extLst>
          </p:cNvPr>
          <p:cNvGrpSpPr/>
          <p:nvPr/>
        </p:nvGrpSpPr>
        <p:grpSpPr>
          <a:xfrm>
            <a:off x="3914245" y="3894110"/>
            <a:ext cx="578311" cy="286718"/>
            <a:chOff x="4087710" y="3909292"/>
            <a:chExt cx="596924" cy="305852"/>
          </a:xfrm>
        </p:grpSpPr>
        <p:sp>
          <p:nvSpPr>
            <p:cNvPr id="2311" name="Google Shape;945;g2872d9e35e1_4_15">
              <a:extLst>
                <a:ext uri="{FF2B5EF4-FFF2-40B4-BE49-F238E27FC236}">
                  <a16:creationId xmlns:a16="http://schemas.microsoft.com/office/drawing/2014/main" id="{4FF2F9D3-D1A9-11C1-D6C5-00DFA9AB3468}"/>
                </a:ext>
              </a:extLst>
            </p:cNvPr>
            <p:cNvSpPr/>
            <p:nvPr/>
          </p:nvSpPr>
          <p:spPr>
            <a:xfrm>
              <a:off x="4087710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312" name="Google Shape;945;g2872d9e35e1_4_15">
              <a:extLst>
                <a:ext uri="{FF2B5EF4-FFF2-40B4-BE49-F238E27FC236}">
                  <a16:creationId xmlns:a16="http://schemas.microsoft.com/office/drawing/2014/main" id="{63DA1A3F-0C5D-E387-D5A7-ABBCFCAAFA12}"/>
                </a:ext>
              </a:extLst>
            </p:cNvPr>
            <p:cNvSpPr/>
            <p:nvPr/>
          </p:nvSpPr>
          <p:spPr>
            <a:xfrm>
              <a:off x="4412938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grpSp>
        <p:nvGrpSpPr>
          <p:cNvPr id="2313" name="그룹 2312">
            <a:extLst>
              <a:ext uri="{FF2B5EF4-FFF2-40B4-BE49-F238E27FC236}">
                <a16:creationId xmlns:a16="http://schemas.microsoft.com/office/drawing/2014/main" id="{6B72AC5F-4014-3FD5-EEC4-0748EACC940E}"/>
              </a:ext>
            </a:extLst>
          </p:cNvPr>
          <p:cNvGrpSpPr/>
          <p:nvPr/>
        </p:nvGrpSpPr>
        <p:grpSpPr>
          <a:xfrm>
            <a:off x="6195389" y="3894110"/>
            <a:ext cx="578311" cy="286718"/>
            <a:chOff x="6395082" y="3909292"/>
            <a:chExt cx="596924" cy="305852"/>
          </a:xfrm>
        </p:grpSpPr>
        <p:sp>
          <p:nvSpPr>
            <p:cNvPr id="2314" name="Google Shape;945;g2872d9e35e1_4_15">
              <a:extLst>
                <a:ext uri="{FF2B5EF4-FFF2-40B4-BE49-F238E27FC236}">
                  <a16:creationId xmlns:a16="http://schemas.microsoft.com/office/drawing/2014/main" id="{C992EBB0-3655-E83F-FAC5-C8978D33AD0F}"/>
                </a:ext>
              </a:extLst>
            </p:cNvPr>
            <p:cNvSpPr/>
            <p:nvPr/>
          </p:nvSpPr>
          <p:spPr>
            <a:xfrm>
              <a:off x="6395082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315" name="Google Shape;945;g2872d9e35e1_4_15">
              <a:extLst>
                <a:ext uri="{FF2B5EF4-FFF2-40B4-BE49-F238E27FC236}">
                  <a16:creationId xmlns:a16="http://schemas.microsoft.com/office/drawing/2014/main" id="{91FB3E68-AD84-4FFD-28DB-2D5895B26677}"/>
                </a:ext>
              </a:extLst>
            </p:cNvPr>
            <p:cNvSpPr/>
            <p:nvPr/>
          </p:nvSpPr>
          <p:spPr>
            <a:xfrm>
              <a:off x="6720310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grpSp>
        <p:nvGrpSpPr>
          <p:cNvPr id="2316" name="그룹 2315">
            <a:extLst>
              <a:ext uri="{FF2B5EF4-FFF2-40B4-BE49-F238E27FC236}">
                <a16:creationId xmlns:a16="http://schemas.microsoft.com/office/drawing/2014/main" id="{12AB6B3D-9BF0-37BF-AB90-55652AF71E3D}"/>
              </a:ext>
            </a:extLst>
          </p:cNvPr>
          <p:cNvGrpSpPr/>
          <p:nvPr/>
        </p:nvGrpSpPr>
        <p:grpSpPr>
          <a:xfrm>
            <a:off x="7677148" y="3894110"/>
            <a:ext cx="578311" cy="286718"/>
            <a:chOff x="7924533" y="3909292"/>
            <a:chExt cx="596924" cy="305852"/>
          </a:xfrm>
        </p:grpSpPr>
        <p:sp>
          <p:nvSpPr>
            <p:cNvPr id="2317" name="Google Shape;945;g2872d9e35e1_4_15">
              <a:extLst>
                <a:ext uri="{FF2B5EF4-FFF2-40B4-BE49-F238E27FC236}">
                  <a16:creationId xmlns:a16="http://schemas.microsoft.com/office/drawing/2014/main" id="{F4597372-C774-32E8-6626-76D1690992BA}"/>
                </a:ext>
              </a:extLst>
            </p:cNvPr>
            <p:cNvSpPr/>
            <p:nvPr/>
          </p:nvSpPr>
          <p:spPr>
            <a:xfrm>
              <a:off x="7924533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318" name="Google Shape;945;g2872d9e35e1_4_15">
              <a:extLst>
                <a:ext uri="{FF2B5EF4-FFF2-40B4-BE49-F238E27FC236}">
                  <a16:creationId xmlns:a16="http://schemas.microsoft.com/office/drawing/2014/main" id="{A0B35A62-CCB8-E0F5-AEFA-B184D2798269}"/>
                </a:ext>
              </a:extLst>
            </p:cNvPr>
            <p:cNvSpPr/>
            <p:nvPr/>
          </p:nvSpPr>
          <p:spPr>
            <a:xfrm>
              <a:off x="8249761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grpSp>
        <p:nvGrpSpPr>
          <p:cNvPr id="2319" name="그룹 2318">
            <a:extLst>
              <a:ext uri="{FF2B5EF4-FFF2-40B4-BE49-F238E27FC236}">
                <a16:creationId xmlns:a16="http://schemas.microsoft.com/office/drawing/2014/main" id="{658A36DE-8BFE-A6AD-67CA-A0715B6FDDB5}"/>
              </a:ext>
            </a:extLst>
          </p:cNvPr>
          <p:cNvGrpSpPr/>
          <p:nvPr/>
        </p:nvGrpSpPr>
        <p:grpSpPr>
          <a:xfrm>
            <a:off x="875072" y="3894110"/>
            <a:ext cx="578311" cy="286718"/>
            <a:chOff x="903529" y="3909292"/>
            <a:chExt cx="596924" cy="305852"/>
          </a:xfrm>
        </p:grpSpPr>
        <p:sp>
          <p:nvSpPr>
            <p:cNvPr id="2320" name="Google Shape;945;g2872d9e35e1_4_15">
              <a:extLst>
                <a:ext uri="{FF2B5EF4-FFF2-40B4-BE49-F238E27FC236}">
                  <a16:creationId xmlns:a16="http://schemas.microsoft.com/office/drawing/2014/main" id="{9078F23B-FC7E-39C7-55CD-58F2A2D58CAF}"/>
                </a:ext>
              </a:extLst>
            </p:cNvPr>
            <p:cNvSpPr/>
            <p:nvPr/>
          </p:nvSpPr>
          <p:spPr>
            <a:xfrm>
              <a:off x="903529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321" name="Google Shape;945;g2872d9e35e1_4_15">
              <a:extLst>
                <a:ext uri="{FF2B5EF4-FFF2-40B4-BE49-F238E27FC236}">
                  <a16:creationId xmlns:a16="http://schemas.microsoft.com/office/drawing/2014/main" id="{7E890136-2D2C-7542-2050-6A30626D8AE1}"/>
                </a:ext>
              </a:extLst>
            </p:cNvPr>
            <p:cNvSpPr/>
            <p:nvPr/>
          </p:nvSpPr>
          <p:spPr>
            <a:xfrm>
              <a:off x="1228757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grpSp>
        <p:nvGrpSpPr>
          <p:cNvPr id="2322" name="그룹 2321">
            <a:extLst>
              <a:ext uri="{FF2B5EF4-FFF2-40B4-BE49-F238E27FC236}">
                <a16:creationId xmlns:a16="http://schemas.microsoft.com/office/drawing/2014/main" id="{65AEBEC3-629A-00CF-8C91-0D7382A00B0B}"/>
              </a:ext>
            </a:extLst>
          </p:cNvPr>
          <p:cNvGrpSpPr/>
          <p:nvPr/>
        </p:nvGrpSpPr>
        <p:grpSpPr>
          <a:xfrm>
            <a:off x="1588188" y="3894110"/>
            <a:ext cx="578311" cy="286718"/>
            <a:chOff x="1639597" y="3909292"/>
            <a:chExt cx="596924" cy="305852"/>
          </a:xfrm>
        </p:grpSpPr>
        <p:sp>
          <p:nvSpPr>
            <p:cNvPr id="2323" name="Google Shape;945;g2872d9e35e1_4_15">
              <a:extLst>
                <a:ext uri="{FF2B5EF4-FFF2-40B4-BE49-F238E27FC236}">
                  <a16:creationId xmlns:a16="http://schemas.microsoft.com/office/drawing/2014/main" id="{0292E9EC-992A-E37A-38E7-45B3FD3E64B1}"/>
                </a:ext>
              </a:extLst>
            </p:cNvPr>
            <p:cNvSpPr/>
            <p:nvPr/>
          </p:nvSpPr>
          <p:spPr>
            <a:xfrm>
              <a:off x="1639597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324" name="Google Shape;945;g2872d9e35e1_4_15">
              <a:extLst>
                <a:ext uri="{FF2B5EF4-FFF2-40B4-BE49-F238E27FC236}">
                  <a16:creationId xmlns:a16="http://schemas.microsoft.com/office/drawing/2014/main" id="{188351A3-0E0F-85B9-5BCE-93708578905A}"/>
                </a:ext>
              </a:extLst>
            </p:cNvPr>
            <p:cNvSpPr/>
            <p:nvPr/>
          </p:nvSpPr>
          <p:spPr>
            <a:xfrm>
              <a:off x="1964825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cxnSp>
        <p:nvCxnSpPr>
          <p:cNvPr id="2325" name="연결선: 구부러짐 272">
            <a:extLst>
              <a:ext uri="{FF2B5EF4-FFF2-40B4-BE49-F238E27FC236}">
                <a16:creationId xmlns:a16="http://schemas.microsoft.com/office/drawing/2014/main" id="{B5751A6B-6CB4-979A-B2F5-B492D29CC59B}"/>
              </a:ext>
            </a:extLst>
          </p:cNvPr>
          <p:cNvCxnSpPr>
            <a:cxnSpLocks/>
          </p:cNvCxnSpPr>
          <p:nvPr/>
        </p:nvCxnSpPr>
        <p:spPr>
          <a:xfrm flipV="1">
            <a:off x="1163457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6" name="연결선: 구부러짐 272">
            <a:extLst>
              <a:ext uri="{FF2B5EF4-FFF2-40B4-BE49-F238E27FC236}">
                <a16:creationId xmlns:a16="http://schemas.microsoft.com/office/drawing/2014/main" id="{51971BEC-E26C-23A6-4751-1E287DC44928}"/>
              </a:ext>
            </a:extLst>
          </p:cNvPr>
          <p:cNvCxnSpPr>
            <a:cxnSpLocks/>
          </p:cNvCxnSpPr>
          <p:nvPr/>
        </p:nvCxnSpPr>
        <p:spPr>
          <a:xfrm flipV="1">
            <a:off x="1875559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7" name="연결선: 구부러짐 272">
            <a:extLst>
              <a:ext uri="{FF2B5EF4-FFF2-40B4-BE49-F238E27FC236}">
                <a16:creationId xmlns:a16="http://schemas.microsoft.com/office/drawing/2014/main" id="{4AB9350B-2ECB-DE8F-0AA4-23659908271E}"/>
              </a:ext>
            </a:extLst>
          </p:cNvPr>
          <p:cNvCxnSpPr>
            <a:cxnSpLocks/>
          </p:cNvCxnSpPr>
          <p:nvPr/>
        </p:nvCxnSpPr>
        <p:spPr>
          <a:xfrm flipV="1">
            <a:off x="2630452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8" name="연결선: 구부러짐 272">
            <a:extLst>
              <a:ext uri="{FF2B5EF4-FFF2-40B4-BE49-F238E27FC236}">
                <a16:creationId xmlns:a16="http://schemas.microsoft.com/office/drawing/2014/main" id="{36946B74-4C9D-761D-DAE1-B9BD27053123}"/>
              </a:ext>
            </a:extLst>
          </p:cNvPr>
          <p:cNvCxnSpPr>
            <a:cxnSpLocks/>
          </p:cNvCxnSpPr>
          <p:nvPr/>
        </p:nvCxnSpPr>
        <p:spPr>
          <a:xfrm flipV="1">
            <a:off x="4203893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9" name="연결선: 구부러짐 272">
            <a:extLst>
              <a:ext uri="{FF2B5EF4-FFF2-40B4-BE49-F238E27FC236}">
                <a16:creationId xmlns:a16="http://schemas.microsoft.com/office/drawing/2014/main" id="{EC1FDC49-9CF9-01C2-477F-03FE3F3B681E}"/>
              </a:ext>
            </a:extLst>
          </p:cNvPr>
          <p:cNvCxnSpPr>
            <a:cxnSpLocks/>
          </p:cNvCxnSpPr>
          <p:nvPr/>
        </p:nvCxnSpPr>
        <p:spPr>
          <a:xfrm flipV="1">
            <a:off x="6485218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0" name="연결선: 구부러짐 272">
            <a:extLst>
              <a:ext uri="{FF2B5EF4-FFF2-40B4-BE49-F238E27FC236}">
                <a16:creationId xmlns:a16="http://schemas.microsoft.com/office/drawing/2014/main" id="{F0899DD2-280A-CC99-E538-E6AFDB2A2BEF}"/>
              </a:ext>
            </a:extLst>
          </p:cNvPr>
          <p:cNvCxnSpPr>
            <a:cxnSpLocks/>
          </p:cNvCxnSpPr>
          <p:nvPr/>
        </p:nvCxnSpPr>
        <p:spPr>
          <a:xfrm flipV="1">
            <a:off x="7967849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1" name="직선 연결선 280">
            <a:extLst>
              <a:ext uri="{FF2B5EF4-FFF2-40B4-BE49-F238E27FC236}">
                <a16:creationId xmlns:a16="http://schemas.microsoft.com/office/drawing/2014/main" id="{85A5BE67-B41B-44B2-BA66-5E471FCFBD4F}"/>
              </a:ext>
            </a:extLst>
          </p:cNvPr>
          <p:cNvCxnSpPr>
            <a:cxnSpLocks/>
          </p:cNvCxnSpPr>
          <p:nvPr/>
        </p:nvCxnSpPr>
        <p:spPr>
          <a:xfrm>
            <a:off x="824139" y="3443866"/>
            <a:ext cx="7585672" cy="0"/>
          </a:xfrm>
          <a:prstGeom prst="line">
            <a:avLst/>
          </a:prstGeom>
          <a:ln w="6350"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2" name="직선 연결선 283">
            <a:extLst>
              <a:ext uri="{FF2B5EF4-FFF2-40B4-BE49-F238E27FC236}">
                <a16:creationId xmlns:a16="http://schemas.microsoft.com/office/drawing/2014/main" id="{7F5C6A99-7CC7-2921-476E-772CE68F527B}"/>
              </a:ext>
            </a:extLst>
          </p:cNvPr>
          <p:cNvCxnSpPr>
            <a:cxnSpLocks/>
          </p:cNvCxnSpPr>
          <p:nvPr/>
        </p:nvCxnSpPr>
        <p:spPr>
          <a:xfrm>
            <a:off x="1208676" y="3586731"/>
            <a:ext cx="7264764" cy="2289"/>
          </a:xfrm>
          <a:prstGeom prst="line">
            <a:avLst/>
          </a:prstGeom>
          <a:ln w="6350">
            <a:solidFill>
              <a:srgbClr val="254062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" name="Google Shape;957;g2872d9e35e1_4_15">
            <a:extLst>
              <a:ext uri="{FF2B5EF4-FFF2-40B4-BE49-F238E27FC236}">
                <a16:creationId xmlns:a16="http://schemas.microsoft.com/office/drawing/2014/main" id="{D66EDF19-483B-C3F2-721F-5ACB4A086565}"/>
              </a:ext>
            </a:extLst>
          </p:cNvPr>
          <p:cNvCxnSpPr>
            <a:cxnSpLocks/>
          </p:cNvCxnSpPr>
          <p:nvPr/>
        </p:nvCxnSpPr>
        <p:spPr>
          <a:xfrm>
            <a:off x="3509357" y="5398279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6" name="Google Shape;945;g2872d9e35e1_4_15">
            <a:extLst>
              <a:ext uri="{FF2B5EF4-FFF2-40B4-BE49-F238E27FC236}">
                <a16:creationId xmlns:a16="http://schemas.microsoft.com/office/drawing/2014/main" id="{02E56975-B299-6A10-8FD3-C4C26F41A182}"/>
              </a:ext>
            </a:extLst>
          </p:cNvPr>
          <p:cNvSpPr/>
          <p:nvPr/>
        </p:nvSpPr>
        <p:spPr>
          <a:xfrm>
            <a:off x="3124820" y="3802625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ko-KR" alt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제조</a:t>
            </a: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-DR</a:t>
            </a:r>
          </a:p>
        </p:txBody>
      </p:sp>
      <p:pic>
        <p:nvPicPr>
          <p:cNvPr id="2357" name="Google Shape;1155;p37">
            <a:extLst>
              <a:ext uri="{FF2B5EF4-FFF2-40B4-BE49-F238E27FC236}">
                <a16:creationId xmlns:a16="http://schemas.microsoft.com/office/drawing/2014/main" id="{2BC09B2A-E421-C176-80F1-42C2BCA58C9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285796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8" name="Google Shape;1157;p37">
            <a:extLst>
              <a:ext uri="{FF2B5EF4-FFF2-40B4-BE49-F238E27FC236}">
                <a16:creationId xmlns:a16="http://schemas.microsoft.com/office/drawing/2014/main" id="{B7F13FE8-9692-BE75-E5FE-2045347586F5}"/>
              </a:ext>
            </a:extLst>
          </p:cNvPr>
          <p:cNvCxnSpPr>
            <a:cxnSpLocks/>
            <a:stCxn id="2401" idx="0"/>
            <a:endCxn id="2376" idx="2"/>
          </p:cNvCxnSpPr>
          <p:nvPr/>
        </p:nvCxnSpPr>
        <p:spPr>
          <a:xfrm flipH="1" flipV="1">
            <a:off x="3398151" y="4781309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9" name="Google Shape;1158;p37">
            <a:extLst>
              <a:ext uri="{FF2B5EF4-FFF2-40B4-BE49-F238E27FC236}">
                <a16:creationId xmlns:a16="http://schemas.microsoft.com/office/drawing/2014/main" id="{47D32C94-5EAF-D548-9955-FD1586B19D8C}"/>
              </a:ext>
            </a:extLst>
          </p:cNvPr>
          <p:cNvSpPr/>
          <p:nvPr/>
        </p:nvSpPr>
        <p:spPr>
          <a:xfrm>
            <a:off x="3174211" y="4292336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360" name="그룹 2359">
            <a:extLst>
              <a:ext uri="{FF2B5EF4-FFF2-40B4-BE49-F238E27FC236}">
                <a16:creationId xmlns:a16="http://schemas.microsoft.com/office/drawing/2014/main" id="{5BEA62FD-82EF-81DD-2702-858785F79CCA}"/>
              </a:ext>
            </a:extLst>
          </p:cNvPr>
          <p:cNvGrpSpPr>
            <a:grpSpLocks noChangeAspect="1"/>
          </p:cNvGrpSpPr>
          <p:nvPr/>
        </p:nvGrpSpPr>
        <p:grpSpPr>
          <a:xfrm>
            <a:off x="3209852" y="4362282"/>
            <a:ext cx="124071" cy="159622"/>
            <a:chOff x="6434980" y="855802"/>
            <a:chExt cx="600836" cy="600837"/>
          </a:xfrm>
        </p:grpSpPr>
        <p:sp>
          <p:nvSpPr>
            <p:cNvPr id="2361" name="Picture Placeholder 77">
              <a:extLst>
                <a:ext uri="{FF2B5EF4-FFF2-40B4-BE49-F238E27FC236}">
                  <a16:creationId xmlns:a16="http://schemas.microsoft.com/office/drawing/2014/main" id="{D680856C-2348-2CE1-A225-8FAFD7342061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362" name="Picture Placeholder 104" descr="Virtual Machine&#10;">
              <a:extLst>
                <a:ext uri="{FF2B5EF4-FFF2-40B4-BE49-F238E27FC236}">
                  <a16:creationId xmlns:a16="http://schemas.microsoft.com/office/drawing/2014/main" id="{C1894FE6-9736-37FF-42C8-6FF380B41CC7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363" name="Picture Placeholder 104">
                <a:extLst>
                  <a:ext uri="{FF2B5EF4-FFF2-40B4-BE49-F238E27FC236}">
                    <a16:creationId xmlns:a16="http://schemas.microsoft.com/office/drawing/2014/main" id="{C94FEFA2-2D02-D1EF-6F50-B4047E26C0E6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364" name="Picture Placeholder 104">
                <a:extLst>
                  <a:ext uri="{FF2B5EF4-FFF2-40B4-BE49-F238E27FC236}">
                    <a16:creationId xmlns:a16="http://schemas.microsoft.com/office/drawing/2014/main" id="{AAE770A4-7B4B-3418-7586-C1AC7238E78E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365" name="Picture Placeholder 104">
                  <a:extLst>
                    <a:ext uri="{FF2B5EF4-FFF2-40B4-BE49-F238E27FC236}">
                      <a16:creationId xmlns:a16="http://schemas.microsoft.com/office/drawing/2014/main" id="{AB5B8529-17CF-ABAD-A2D0-FD3D10AD632B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366" name="Picture Placeholder 104">
                  <a:extLst>
                    <a:ext uri="{FF2B5EF4-FFF2-40B4-BE49-F238E27FC236}">
                      <a16:creationId xmlns:a16="http://schemas.microsoft.com/office/drawing/2014/main" id="{536E48DF-7863-02EA-1099-BA412054E601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367" name="그룹 2366">
            <a:extLst>
              <a:ext uri="{FF2B5EF4-FFF2-40B4-BE49-F238E27FC236}">
                <a16:creationId xmlns:a16="http://schemas.microsoft.com/office/drawing/2014/main" id="{C32BE344-5FA9-8900-89EA-BE0012740910}"/>
              </a:ext>
            </a:extLst>
          </p:cNvPr>
          <p:cNvGrpSpPr>
            <a:grpSpLocks noChangeAspect="1"/>
          </p:cNvGrpSpPr>
          <p:nvPr/>
        </p:nvGrpSpPr>
        <p:grpSpPr>
          <a:xfrm>
            <a:off x="3340025" y="4362282"/>
            <a:ext cx="124071" cy="159622"/>
            <a:chOff x="6434980" y="855802"/>
            <a:chExt cx="600836" cy="600837"/>
          </a:xfrm>
        </p:grpSpPr>
        <p:sp>
          <p:nvSpPr>
            <p:cNvPr id="2368" name="Picture Placeholder 77">
              <a:extLst>
                <a:ext uri="{FF2B5EF4-FFF2-40B4-BE49-F238E27FC236}">
                  <a16:creationId xmlns:a16="http://schemas.microsoft.com/office/drawing/2014/main" id="{81FD7C9A-B72F-366D-73A7-7431E375871F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369" name="Picture Placeholder 104" descr="Virtual Machine&#10;">
              <a:extLst>
                <a:ext uri="{FF2B5EF4-FFF2-40B4-BE49-F238E27FC236}">
                  <a16:creationId xmlns:a16="http://schemas.microsoft.com/office/drawing/2014/main" id="{8C8F32CC-E19A-1429-2724-3F4A88B18E12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370" name="Picture Placeholder 104">
                <a:extLst>
                  <a:ext uri="{FF2B5EF4-FFF2-40B4-BE49-F238E27FC236}">
                    <a16:creationId xmlns:a16="http://schemas.microsoft.com/office/drawing/2014/main" id="{CEA291E0-30E2-DF86-9EA4-64901F89CDD5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371" name="Picture Placeholder 104">
                <a:extLst>
                  <a:ext uri="{FF2B5EF4-FFF2-40B4-BE49-F238E27FC236}">
                    <a16:creationId xmlns:a16="http://schemas.microsoft.com/office/drawing/2014/main" id="{2976342F-D518-78F8-1236-B2B610FFE935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372" name="Picture Placeholder 104">
                  <a:extLst>
                    <a:ext uri="{FF2B5EF4-FFF2-40B4-BE49-F238E27FC236}">
                      <a16:creationId xmlns:a16="http://schemas.microsoft.com/office/drawing/2014/main" id="{2E087BB3-0B09-8DC5-B460-7F4188D553DE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373" name="Picture Placeholder 104">
                  <a:extLst>
                    <a:ext uri="{FF2B5EF4-FFF2-40B4-BE49-F238E27FC236}">
                      <a16:creationId xmlns:a16="http://schemas.microsoft.com/office/drawing/2014/main" id="{7BBCB71F-8DE2-CD08-4DE7-6F4B0BC944F6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374" name="직사각형 2373">
            <a:extLst>
              <a:ext uri="{FF2B5EF4-FFF2-40B4-BE49-F238E27FC236}">
                <a16:creationId xmlns:a16="http://schemas.microsoft.com/office/drawing/2014/main" id="{795250D1-A63E-BE17-9BC5-CA45A119E111}"/>
              </a:ext>
            </a:extLst>
          </p:cNvPr>
          <p:cNvSpPr/>
          <p:nvPr/>
        </p:nvSpPr>
        <p:spPr>
          <a:xfrm>
            <a:off x="3200918" y="4545163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375" name="그룹 2374">
            <a:extLst>
              <a:ext uri="{FF2B5EF4-FFF2-40B4-BE49-F238E27FC236}">
                <a16:creationId xmlns:a16="http://schemas.microsoft.com/office/drawing/2014/main" id="{CB06CAE7-AA6E-0D6C-0D39-8B780729AAEA}"/>
              </a:ext>
            </a:extLst>
          </p:cNvPr>
          <p:cNvGrpSpPr>
            <a:grpSpLocks noChangeAspect="1"/>
          </p:cNvGrpSpPr>
          <p:nvPr/>
        </p:nvGrpSpPr>
        <p:grpSpPr>
          <a:xfrm>
            <a:off x="3277838" y="4687267"/>
            <a:ext cx="240630" cy="94042"/>
            <a:chOff x="8143395" y="2987969"/>
            <a:chExt cx="600854" cy="164611"/>
          </a:xfrm>
        </p:grpSpPr>
        <p:sp>
          <p:nvSpPr>
            <p:cNvPr id="2376" name="Picture Placeholder 77">
              <a:extLst>
                <a:ext uri="{FF2B5EF4-FFF2-40B4-BE49-F238E27FC236}">
                  <a16:creationId xmlns:a16="http://schemas.microsoft.com/office/drawing/2014/main" id="{880338E8-19C6-A62B-F378-F25369E279A3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377" name="Picture Placeholder 77" descr="Rack Server 2&#10;">
              <a:extLst>
                <a:ext uri="{FF2B5EF4-FFF2-40B4-BE49-F238E27FC236}">
                  <a16:creationId xmlns:a16="http://schemas.microsoft.com/office/drawing/2014/main" id="{95F41E53-0FEA-4D6C-9734-DC572E260A72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378" name="Picture Placeholder 77">
                <a:extLst>
                  <a:ext uri="{FF2B5EF4-FFF2-40B4-BE49-F238E27FC236}">
                    <a16:creationId xmlns:a16="http://schemas.microsoft.com/office/drawing/2014/main" id="{83DF148E-D121-8E23-A187-DFAA25B53E9B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380" name="Picture Placeholder 77">
                  <a:extLst>
                    <a:ext uri="{FF2B5EF4-FFF2-40B4-BE49-F238E27FC236}">
                      <a16:creationId xmlns:a16="http://schemas.microsoft.com/office/drawing/2014/main" id="{4C6AE20A-DE99-1508-6619-D6DFE4E3519D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381" name="Picture Placeholder 77">
                  <a:extLst>
                    <a:ext uri="{FF2B5EF4-FFF2-40B4-BE49-F238E27FC236}">
                      <a16:creationId xmlns:a16="http://schemas.microsoft.com/office/drawing/2014/main" id="{7BB38A97-5CDC-FB64-2D1A-7BF667B08817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382" name="Picture Placeholder 77">
                    <a:extLst>
                      <a:ext uri="{FF2B5EF4-FFF2-40B4-BE49-F238E27FC236}">
                        <a16:creationId xmlns:a16="http://schemas.microsoft.com/office/drawing/2014/main" id="{70187B6D-CF11-83D9-133A-196464AB5A97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383" name="Picture Placeholder 77">
                    <a:extLst>
                      <a:ext uri="{FF2B5EF4-FFF2-40B4-BE49-F238E27FC236}">
                        <a16:creationId xmlns:a16="http://schemas.microsoft.com/office/drawing/2014/main" id="{4B4CA54C-8788-E928-D94C-C61C400E9CE2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384" name="Picture Placeholder 77">
                    <a:extLst>
                      <a:ext uri="{FF2B5EF4-FFF2-40B4-BE49-F238E27FC236}">
                        <a16:creationId xmlns:a16="http://schemas.microsoft.com/office/drawing/2014/main" id="{CF5356F2-C8CD-F91B-0C5D-C610F4FF3573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385" name="Picture Placeholder 77">
                    <a:extLst>
                      <a:ext uri="{FF2B5EF4-FFF2-40B4-BE49-F238E27FC236}">
                        <a16:creationId xmlns:a16="http://schemas.microsoft.com/office/drawing/2014/main" id="{83240F2D-519C-2853-1024-165FCA9F50EC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379" name="Picture Placeholder 77">
                <a:extLst>
                  <a:ext uri="{FF2B5EF4-FFF2-40B4-BE49-F238E27FC236}">
                    <a16:creationId xmlns:a16="http://schemas.microsoft.com/office/drawing/2014/main" id="{9D8D40A0-74ED-ADA8-97E1-A4BB9E4C3E26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386" name="그룹 2385">
            <a:extLst>
              <a:ext uri="{FF2B5EF4-FFF2-40B4-BE49-F238E27FC236}">
                <a16:creationId xmlns:a16="http://schemas.microsoft.com/office/drawing/2014/main" id="{FF905C7A-1C5C-2504-2320-A1F55F242A90}"/>
              </a:ext>
            </a:extLst>
          </p:cNvPr>
          <p:cNvGrpSpPr>
            <a:grpSpLocks noChangeAspect="1"/>
          </p:cNvGrpSpPr>
          <p:nvPr/>
        </p:nvGrpSpPr>
        <p:grpSpPr>
          <a:xfrm>
            <a:off x="3470198" y="4362282"/>
            <a:ext cx="124071" cy="159622"/>
            <a:chOff x="6434980" y="855802"/>
            <a:chExt cx="600836" cy="600837"/>
          </a:xfrm>
        </p:grpSpPr>
        <p:sp>
          <p:nvSpPr>
            <p:cNvPr id="2387" name="Picture Placeholder 77">
              <a:extLst>
                <a:ext uri="{FF2B5EF4-FFF2-40B4-BE49-F238E27FC236}">
                  <a16:creationId xmlns:a16="http://schemas.microsoft.com/office/drawing/2014/main" id="{51D08546-441D-466B-1EB6-AFDC5D43DA5D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388" name="Picture Placeholder 104" descr="Virtual Machine&#10;">
              <a:extLst>
                <a:ext uri="{FF2B5EF4-FFF2-40B4-BE49-F238E27FC236}">
                  <a16:creationId xmlns:a16="http://schemas.microsoft.com/office/drawing/2014/main" id="{4E028990-52AA-49B6-B5D4-B68F486D83FA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389" name="Picture Placeholder 104">
                <a:extLst>
                  <a:ext uri="{FF2B5EF4-FFF2-40B4-BE49-F238E27FC236}">
                    <a16:creationId xmlns:a16="http://schemas.microsoft.com/office/drawing/2014/main" id="{AE63D280-F37E-1298-6392-7B6499B56F6C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390" name="Picture Placeholder 104">
                <a:extLst>
                  <a:ext uri="{FF2B5EF4-FFF2-40B4-BE49-F238E27FC236}">
                    <a16:creationId xmlns:a16="http://schemas.microsoft.com/office/drawing/2014/main" id="{5915BCFE-FA5E-FCA4-3DFE-7A72A64320B0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391" name="Picture Placeholder 104">
                  <a:extLst>
                    <a:ext uri="{FF2B5EF4-FFF2-40B4-BE49-F238E27FC236}">
                      <a16:creationId xmlns:a16="http://schemas.microsoft.com/office/drawing/2014/main" id="{FE9B32AE-C1B9-ED57-154F-3C921E7D934B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392" name="Picture Placeholder 104">
                  <a:extLst>
                    <a:ext uri="{FF2B5EF4-FFF2-40B4-BE49-F238E27FC236}">
                      <a16:creationId xmlns:a16="http://schemas.microsoft.com/office/drawing/2014/main" id="{5925357B-3F50-CDDC-8D77-F4225518B07B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393" name="그룹 2392">
            <a:extLst>
              <a:ext uri="{FF2B5EF4-FFF2-40B4-BE49-F238E27FC236}">
                <a16:creationId xmlns:a16="http://schemas.microsoft.com/office/drawing/2014/main" id="{1DDA41F2-6348-55DB-A0EF-0C2BAD0C55CF}"/>
              </a:ext>
            </a:extLst>
          </p:cNvPr>
          <p:cNvGrpSpPr>
            <a:grpSpLocks noChangeAspect="1"/>
          </p:cNvGrpSpPr>
          <p:nvPr/>
        </p:nvGrpSpPr>
        <p:grpSpPr>
          <a:xfrm>
            <a:off x="3600370" y="4362282"/>
            <a:ext cx="124071" cy="159622"/>
            <a:chOff x="6434980" y="855802"/>
            <a:chExt cx="600836" cy="600837"/>
          </a:xfrm>
        </p:grpSpPr>
        <p:sp>
          <p:nvSpPr>
            <p:cNvPr id="2394" name="Picture Placeholder 77">
              <a:extLst>
                <a:ext uri="{FF2B5EF4-FFF2-40B4-BE49-F238E27FC236}">
                  <a16:creationId xmlns:a16="http://schemas.microsoft.com/office/drawing/2014/main" id="{03875E73-D0B5-47B8-A88C-B111A7B2E338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395" name="Picture Placeholder 104" descr="Virtual Machine&#10;">
              <a:extLst>
                <a:ext uri="{FF2B5EF4-FFF2-40B4-BE49-F238E27FC236}">
                  <a16:creationId xmlns:a16="http://schemas.microsoft.com/office/drawing/2014/main" id="{C7ECB633-B32B-2CC2-7F32-EFFE6330E4B7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396" name="Picture Placeholder 104">
                <a:extLst>
                  <a:ext uri="{FF2B5EF4-FFF2-40B4-BE49-F238E27FC236}">
                    <a16:creationId xmlns:a16="http://schemas.microsoft.com/office/drawing/2014/main" id="{CE82F881-BCFD-ADAB-5348-CEBFAA050672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397" name="Picture Placeholder 104">
                <a:extLst>
                  <a:ext uri="{FF2B5EF4-FFF2-40B4-BE49-F238E27FC236}">
                    <a16:creationId xmlns:a16="http://schemas.microsoft.com/office/drawing/2014/main" id="{23D4EBED-DAF5-6FD7-F777-964583046DCB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398" name="Picture Placeholder 104">
                  <a:extLst>
                    <a:ext uri="{FF2B5EF4-FFF2-40B4-BE49-F238E27FC236}">
                      <a16:creationId xmlns:a16="http://schemas.microsoft.com/office/drawing/2014/main" id="{CC1A4538-2B82-800A-C1DB-D7F4E9D832F3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399" name="Picture Placeholder 104">
                  <a:extLst>
                    <a:ext uri="{FF2B5EF4-FFF2-40B4-BE49-F238E27FC236}">
                      <a16:creationId xmlns:a16="http://schemas.microsoft.com/office/drawing/2014/main" id="{0A994E15-C087-0929-1909-E2AF4EBF9666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400" name="Google Shape;1155;p37">
            <a:extLst>
              <a:ext uri="{FF2B5EF4-FFF2-40B4-BE49-F238E27FC236}">
                <a16:creationId xmlns:a16="http://schemas.microsoft.com/office/drawing/2014/main" id="{C56231F1-A82B-CE4D-AE53-7E917611AA2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3405261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1155;p37">
            <a:extLst>
              <a:ext uri="{FF2B5EF4-FFF2-40B4-BE49-F238E27FC236}">
                <a16:creationId xmlns:a16="http://schemas.microsoft.com/office/drawing/2014/main" id="{2BCD26C5-64EB-0C9E-727B-EB012963115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343106" y="4918385"/>
            <a:ext cx="111071" cy="134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2" name="그룹 2401">
            <a:extLst>
              <a:ext uri="{FF2B5EF4-FFF2-40B4-BE49-F238E27FC236}">
                <a16:creationId xmlns:a16="http://schemas.microsoft.com/office/drawing/2014/main" id="{2671148F-A273-1666-57CA-E01759872779}"/>
              </a:ext>
            </a:extLst>
          </p:cNvPr>
          <p:cNvGrpSpPr/>
          <p:nvPr/>
        </p:nvGrpSpPr>
        <p:grpSpPr>
          <a:xfrm>
            <a:off x="3175753" y="3894110"/>
            <a:ext cx="578311" cy="286718"/>
            <a:chOff x="3278258" y="3909292"/>
            <a:chExt cx="596924" cy="305852"/>
          </a:xfrm>
        </p:grpSpPr>
        <p:sp>
          <p:nvSpPr>
            <p:cNvPr id="2403" name="Google Shape;945;g2872d9e35e1_4_15">
              <a:extLst>
                <a:ext uri="{FF2B5EF4-FFF2-40B4-BE49-F238E27FC236}">
                  <a16:creationId xmlns:a16="http://schemas.microsoft.com/office/drawing/2014/main" id="{FA9EB130-A865-ED8E-F49C-AC7E4F023B5C}"/>
                </a:ext>
              </a:extLst>
            </p:cNvPr>
            <p:cNvSpPr/>
            <p:nvPr/>
          </p:nvSpPr>
          <p:spPr>
            <a:xfrm>
              <a:off x="3278258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404" name="Google Shape;945;g2872d9e35e1_4_15">
              <a:extLst>
                <a:ext uri="{FF2B5EF4-FFF2-40B4-BE49-F238E27FC236}">
                  <a16:creationId xmlns:a16="http://schemas.microsoft.com/office/drawing/2014/main" id="{127960D4-A0CD-E4FA-CB4C-0EF0281CD042}"/>
                </a:ext>
              </a:extLst>
            </p:cNvPr>
            <p:cNvSpPr/>
            <p:nvPr/>
          </p:nvSpPr>
          <p:spPr>
            <a:xfrm>
              <a:off x="3603486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cxnSp>
        <p:nvCxnSpPr>
          <p:cNvPr id="2405" name="연결선: 구부러짐 272">
            <a:extLst>
              <a:ext uri="{FF2B5EF4-FFF2-40B4-BE49-F238E27FC236}">
                <a16:creationId xmlns:a16="http://schemas.microsoft.com/office/drawing/2014/main" id="{B74385F2-F604-F386-BAA8-60E5FDEC9FB4}"/>
              </a:ext>
            </a:extLst>
          </p:cNvPr>
          <p:cNvCxnSpPr>
            <a:cxnSpLocks/>
          </p:cNvCxnSpPr>
          <p:nvPr/>
        </p:nvCxnSpPr>
        <p:spPr>
          <a:xfrm flipV="1">
            <a:off x="3463658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6" name="!!Rectangle 566">
            <a:extLst>
              <a:ext uri="{FF2B5EF4-FFF2-40B4-BE49-F238E27FC236}">
                <a16:creationId xmlns:a16="http://schemas.microsoft.com/office/drawing/2014/main" id="{EFBB4A73-D1BF-81C4-3CC1-02F7C89E139E}"/>
              </a:ext>
            </a:extLst>
          </p:cNvPr>
          <p:cNvSpPr/>
          <p:nvPr/>
        </p:nvSpPr>
        <p:spPr>
          <a:xfrm>
            <a:off x="4588560" y="3761800"/>
            <a:ext cx="1495581" cy="208460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  <a:ln w="6350">
            <a:solidFill>
              <a:schemeClr val="tx2">
                <a:lumMod val="10000"/>
              </a:schemeClr>
            </a:solidFill>
            <a:prstDash val="dash"/>
          </a:ln>
          <a:effectLst/>
        </p:spPr>
        <p:txBody>
          <a:bodyPr wrap="square" lIns="0" tIns="72000" rIns="0" bIns="10800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대전</a:t>
            </a:r>
            <a:r>
              <a:rPr 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 IDC</a:t>
            </a:r>
          </a:p>
        </p:txBody>
      </p:sp>
      <p:cxnSp>
        <p:nvCxnSpPr>
          <p:cNvPr id="2407" name="Google Shape;957;g2872d9e35e1_4_15">
            <a:extLst>
              <a:ext uri="{FF2B5EF4-FFF2-40B4-BE49-F238E27FC236}">
                <a16:creationId xmlns:a16="http://schemas.microsoft.com/office/drawing/2014/main" id="{B86D902A-BCF5-969C-4510-EC9A70E6005D}"/>
              </a:ext>
            </a:extLst>
          </p:cNvPr>
          <p:cNvCxnSpPr>
            <a:cxnSpLocks/>
          </p:cNvCxnSpPr>
          <p:nvPr/>
        </p:nvCxnSpPr>
        <p:spPr>
          <a:xfrm>
            <a:off x="4997412" y="5397270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8" name="Google Shape;945;g2872d9e35e1_4_15">
            <a:extLst>
              <a:ext uri="{FF2B5EF4-FFF2-40B4-BE49-F238E27FC236}">
                <a16:creationId xmlns:a16="http://schemas.microsoft.com/office/drawing/2014/main" id="{B0F9C307-75DC-6419-CA0F-580957885BC9}"/>
              </a:ext>
            </a:extLst>
          </p:cNvPr>
          <p:cNvSpPr/>
          <p:nvPr/>
        </p:nvSpPr>
        <p:spPr>
          <a:xfrm>
            <a:off x="4612876" y="3801616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vCenter</a:t>
            </a:r>
          </a:p>
        </p:txBody>
      </p:sp>
      <p:pic>
        <p:nvPicPr>
          <p:cNvPr id="2409" name="Google Shape;1155;p37">
            <a:extLst>
              <a:ext uri="{FF2B5EF4-FFF2-40B4-BE49-F238E27FC236}">
                <a16:creationId xmlns:a16="http://schemas.microsoft.com/office/drawing/2014/main" id="{EBD81DF5-499E-6CBD-15AC-20EC5DC4FC5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773853" y="4955310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0" name="Google Shape;1157;p37">
            <a:extLst>
              <a:ext uri="{FF2B5EF4-FFF2-40B4-BE49-F238E27FC236}">
                <a16:creationId xmlns:a16="http://schemas.microsoft.com/office/drawing/2014/main" id="{E1F95CE6-77C2-71EA-BC36-18FE5DDCAB20}"/>
              </a:ext>
            </a:extLst>
          </p:cNvPr>
          <p:cNvCxnSpPr>
            <a:cxnSpLocks/>
            <a:stCxn id="2453" idx="0"/>
            <a:endCxn id="2428" idx="2"/>
          </p:cNvCxnSpPr>
          <p:nvPr/>
        </p:nvCxnSpPr>
        <p:spPr>
          <a:xfrm flipH="1" flipV="1">
            <a:off x="4886206" y="4780300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1" name="Google Shape;1158;p37">
            <a:extLst>
              <a:ext uri="{FF2B5EF4-FFF2-40B4-BE49-F238E27FC236}">
                <a16:creationId xmlns:a16="http://schemas.microsoft.com/office/drawing/2014/main" id="{E5B84287-C45F-4BDF-59B6-FD387C665E50}"/>
              </a:ext>
            </a:extLst>
          </p:cNvPr>
          <p:cNvSpPr/>
          <p:nvPr/>
        </p:nvSpPr>
        <p:spPr>
          <a:xfrm>
            <a:off x="4662266" y="4291327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412" name="그룹 2411">
            <a:extLst>
              <a:ext uri="{FF2B5EF4-FFF2-40B4-BE49-F238E27FC236}">
                <a16:creationId xmlns:a16="http://schemas.microsoft.com/office/drawing/2014/main" id="{65BBC6B9-A51B-3054-EDB4-B0A8C571F38B}"/>
              </a:ext>
            </a:extLst>
          </p:cNvPr>
          <p:cNvGrpSpPr>
            <a:grpSpLocks noChangeAspect="1"/>
          </p:cNvGrpSpPr>
          <p:nvPr/>
        </p:nvGrpSpPr>
        <p:grpSpPr>
          <a:xfrm>
            <a:off x="4697908" y="4361274"/>
            <a:ext cx="124071" cy="159622"/>
            <a:chOff x="6434980" y="855802"/>
            <a:chExt cx="600836" cy="600837"/>
          </a:xfrm>
        </p:grpSpPr>
        <p:sp>
          <p:nvSpPr>
            <p:cNvPr id="2413" name="Picture Placeholder 77">
              <a:extLst>
                <a:ext uri="{FF2B5EF4-FFF2-40B4-BE49-F238E27FC236}">
                  <a16:creationId xmlns:a16="http://schemas.microsoft.com/office/drawing/2014/main" id="{FC8C2A3E-2486-37FB-E04A-1B65EF53248E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14" name="Picture Placeholder 104" descr="Virtual Machine&#10;">
              <a:extLst>
                <a:ext uri="{FF2B5EF4-FFF2-40B4-BE49-F238E27FC236}">
                  <a16:creationId xmlns:a16="http://schemas.microsoft.com/office/drawing/2014/main" id="{E74525B7-BBB7-0C02-FCEC-B67CCD029544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15" name="Picture Placeholder 104">
                <a:extLst>
                  <a:ext uri="{FF2B5EF4-FFF2-40B4-BE49-F238E27FC236}">
                    <a16:creationId xmlns:a16="http://schemas.microsoft.com/office/drawing/2014/main" id="{FC627D53-F7C5-5C00-DF26-9EB9B5A1FDD4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16" name="Picture Placeholder 104">
                <a:extLst>
                  <a:ext uri="{FF2B5EF4-FFF2-40B4-BE49-F238E27FC236}">
                    <a16:creationId xmlns:a16="http://schemas.microsoft.com/office/drawing/2014/main" id="{CFE5D23F-6C51-C8E7-DC90-73AD36CAE204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17" name="Picture Placeholder 104">
                  <a:extLst>
                    <a:ext uri="{FF2B5EF4-FFF2-40B4-BE49-F238E27FC236}">
                      <a16:creationId xmlns:a16="http://schemas.microsoft.com/office/drawing/2014/main" id="{58262A37-C027-C8B0-EECA-3997F5824531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18" name="Picture Placeholder 104">
                  <a:extLst>
                    <a:ext uri="{FF2B5EF4-FFF2-40B4-BE49-F238E27FC236}">
                      <a16:creationId xmlns:a16="http://schemas.microsoft.com/office/drawing/2014/main" id="{C5B77C8C-D235-2A11-B264-8EBD98142B0E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419" name="그룹 2418">
            <a:extLst>
              <a:ext uri="{FF2B5EF4-FFF2-40B4-BE49-F238E27FC236}">
                <a16:creationId xmlns:a16="http://schemas.microsoft.com/office/drawing/2014/main" id="{C82F391D-C0B4-CF96-D3D1-C472D0CB9C7F}"/>
              </a:ext>
            </a:extLst>
          </p:cNvPr>
          <p:cNvGrpSpPr>
            <a:grpSpLocks noChangeAspect="1"/>
          </p:cNvGrpSpPr>
          <p:nvPr/>
        </p:nvGrpSpPr>
        <p:grpSpPr>
          <a:xfrm>
            <a:off x="4828081" y="4361274"/>
            <a:ext cx="124071" cy="159622"/>
            <a:chOff x="6434980" y="855802"/>
            <a:chExt cx="600836" cy="600837"/>
          </a:xfrm>
        </p:grpSpPr>
        <p:sp>
          <p:nvSpPr>
            <p:cNvPr id="2420" name="Picture Placeholder 77">
              <a:extLst>
                <a:ext uri="{FF2B5EF4-FFF2-40B4-BE49-F238E27FC236}">
                  <a16:creationId xmlns:a16="http://schemas.microsoft.com/office/drawing/2014/main" id="{A1B1BBD5-DA5E-A523-A369-50F4E75106F7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21" name="Picture Placeholder 104" descr="Virtual Machine&#10;">
              <a:extLst>
                <a:ext uri="{FF2B5EF4-FFF2-40B4-BE49-F238E27FC236}">
                  <a16:creationId xmlns:a16="http://schemas.microsoft.com/office/drawing/2014/main" id="{881DED07-3ED2-8628-2C51-542AE0130452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22" name="Picture Placeholder 104">
                <a:extLst>
                  <a:ext uri="{FF2B5EF4-FFF2-40B4-BE49-F238E27FC236}">
                    <a16:creationId xmlns:a16="http://schemas.microsoft.com/office/drawing/2014/main" id="{DCDF0954-2F6A-72CD-877E-A37BBA4709D8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23" name="Picture Placeholder 104">
                <a:extLst>
                  <a:ext uri="{FF2B5EF4-FFF2-40B4-BE49-F238E27FC236}">
                    <a16:creationId xmlns:a16="http://schemas.microsoft.com/office/drawing/2014/main" id="{33172BFD-A379-C915-637D-6C1851ADC972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24" name="Picture Placeholder 104">
                  <a:extLst>
                    <a:ext uri="{FF2B5EF4-FFF2-40B4-BE49-F238E27FC236}">
                      <a16:creationId xmlns:a16="http://schemas.microsoft.com/office/drawing/2014/main" id="{3A6420B1-34BF-BCF6-5B9B-D91CE30AD4D5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25" name="Picture Placeholder 104">
                  <a:extLst>
                    <a:ext uri="{FF2B5EF4-FFF2-40B4-BE49-F238E27FC236}">
                      <a16:creationId xmlns:a16="http://schemas.microsoft.com/office/drawing/2014/main" id="{DF876442-EA5A-94D5-8B14-6613EC13707D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426" name="직사각형 2425">
            <a:extLst>
              <a:ext uri="{FF2B5EF4-FFF2-40B4-BE49-F238E27FC236}">
                <a16:creationId xmlns:a16="http://schemas.microsoft.com/office/drawing/2014/main" id="{EE750F01-F4A9-35DD-D8EA-4F5F881CAD09}"/>
              </a:ext>
            </a:extLst>
          </p:cNvPr>
          <p:cNvSpPr/>
          <p:nvPr/>
        </p:nvSpPr>
        <p:spPr>
          <a:xfrm>
            <a:off x="4688974" y="4544154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427" name="그룹 2426">
            <a:extLst>
              <a:ext uri="{FF2B5EF4-FFF2-40B4-BE49-F238E27FC236}">
                <a16:creationId xmlns:a16="http://schemas.microsoft.com/office/drawing/2014/main" id="{DA17E004-A141-BEAB-5C03-4E180DEACFD4}"/>
              </a:ext>
            </a:extLst>
          </p:cNvPr>
          <p:cNvGrpSpPr>
            <a:grpSpLocks noChangeAspect="1"/>
          </p:cNvGrpSpPr>
          <p:nvPr/>
        </p:nvGrpSpPr>
        <p:grpSpPr>
          <a:xfrm>
            <a:off x="4765894" y="4686258"/>
            <a:ext cx="240630" cy="94042"/>
            <a:chOff x="8143395" y="2987969"/>
            <a:chExt cx="600854" cy="164611"/>
          </a:xfrm>
        </p:grpSpPr>
        <p:sp>
          <p:nvSpPr>
            <p:cNvPr id="2428" name="Picture Placeholder 77">
              <a:extLst>
                <a:ext uri="{FF2B5EF4-FFF2-40B4-BE49-F238E27FC236}">
                  <a16:creationId xmlns:a16="http://schemas.microsoft.com/office/drawing/2014/main" id="{6492F377-527E-D2D2-0ED7-340A2719A315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29" name="Picture Placeholder 77" descr="Rack Server 2&#10;">
              <a:extLst>
                <a:ext uri="{FF2B5EF4-FFF2-40B4-BE49-F238E27FC236}">
                  <a16:creationId xmlns:a16="http://schemas.microsoft.com/office/drawing/2014/main" id="{B957682A-0BA4-1F06-DCF6-8CB56D70FC90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430" name="Picture Placeholder 77">
                <a:extLst>
                  <a:ext uri="{FF2B5EF4-FFF2-40B4-BE49-F238E27FC236}">
                    <a16:creationId xmlns:a16="http://schemas.microsoft.com/office/drawing/2014/main" id="{FBFA52AA-0D56-2E4A-061E-CA6481463C24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432" name="Picture Placeholder 77">
                  <a:extLst>
                    <a:ext uri="{FF2B5EF4-FFF2-40B4-BE49-F238E27FC236}">
                      <a16:creationId xmlns:a16="http://schemas.microsoft.com/office/drawing/2014/main" id="{60325392-B70C-DE10-CD1D-41A6800821EC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433" name="Picture Placeholder 77">
                  <a:extLst>
                    <a:ext uri="{FF2B5EF4-FFF2-40B4-BE49-F238E27FC236}">
                      <a16:creationId xmlns:a16="http://schemas.microsoft.com/office/drawing/2014/main" id="{D69E0D9F-B181-C9E0-9E23-CCF1304DC162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434" name="Picture Placeholder 77">
                    <a:extLst>
                      <a:ext uri="{FF2B5EF4-FFF2-40B4-BE49-F238E27FC236}">
                        <a16:creationId xmlns:a16="http://schemas.microsoft.com/office/drawing/2014/main" id="{A9A2958E-A54E-5F1A-5B7B-1AAB43076D7E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435" name="Picture Placeholder 77">
                    <a:extLst>
                      <a:ext uri="{FF2B5EF4-FFF2-40B4-BE49-F238E27FC236}">
                        <a16:creationId xmlns:a16="http://schemas.microsoft.com/office/drawing/2014/main" id="{1BA77175-D7FF-EBFF-912B-A0FEF3E6948D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436" name="Picture Placeholder 77">
                    <a:extLst>
                      <a:ext uri="{FF2B5EF4-FFF2-40B4-BE49-F238E27FC236}">
                        <a16:creationId xmlns:a16="http://schemas.microsoft.com/office/drawing/2014/main" id="{61AABBF6-52C6-F899-7540-D573C98B3947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437" name="Picture Placeholder 77">
                    <a:extLst>
                      <a:ext uri="{FF2B5EF4-FFF2-40B4-BE49-F238E27FC236}">
                        <a16:creationId xmlns:a16="http://schemas.microsoft.com/office/drawing/2014/main" id="{98BC712C-DE1D-787B-EFA7-194A2EC885B8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431" name="Picture Placeholder 77">
                <a:extLst>
                  <a:ext uri="{FF2B5EF4-FFF2-40B4-BE49-F238E27FC236}">
                    <a16:creationId xmlns:a16="http://schemas.microsoft.com/office/drawing/2014/main" id="{B0A6D76A-1490-57D1-1738-840DD54F4EBC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438" name="그룹 2437">
            <a:extLst>
              <a:ext uri="{FF2B5EF4-FFF2-40B4-BE49-F238E27FC236}">
                <a16:creationId xmlns:a16="http://schemas.microsoft.com/office/drawing/2014/main" id="{05D5EFE1-B33C-F5DA-29D6-1AB176D46CB4}"/>
              </a:ext>
            </a:extLst>
          </p:cNvPr>
          <p:cNvGrpSpPr>
            <a:grpSpLocks noChangeAspect="1"/>
          </p:cNvGrpSpPr>
          <p:nvPr/>
        </p:nvGrpSpPr>
        <p:grpSpPr>
          <a:xfrm>
            <a:off x="4958255" y="4361274"/>
            <a:ext cx="124071" cy="159622"/>
            <a:chOff x="6434980" y="855802"/>
            <a:chExt cx="600836" cy="600837"/>
          </a:xfrm>
        </p:grpSpPr>
        <p:sp>
          <p:nvSpPr>
            <p:cNvPr id="2439" name="Picture Placeholder 77">
              <a:extLst>
                <a:ext uri="{FF2B5EF4-FFF2-40B4-BE49-F238E27FC236}">
                  <a16:creationId xmlns:a16="http://schemas.microsoft.com/office/drawing/2014/main" id="{155913DD-1F2E-2A8B-7527-0FCD2C22FA5E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40" name="Picture Placeholder 104" descr="Virtual Machine&#10;">
              <a:extLst>
                <a:ext uri="{FF2B5EF4-FFF2-40B4-BE49-F238E27FC236}">
                  <a16:creationId xmlns:a16="http://schemas.microsoft.com/office/drawing/2014/main" id="{F240C771-D7A5-30C4-CCA1-CF56EC3B47E9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41" name="Picture Placeholder 104">
                <a:extLst>
                  <a:ext uri="{FF2B5EF4-FFF2-40B4-BE49-F238E27FC236}">
                    <a16:creationId xmlns:a16="http://schemas.microsoft.com/office/drawing/2014/main" id="{4948313F-0323-6D8E-9026-E49CA5D02B8D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42" name="Picture Placeholder 104">
                <a:extLst>
                  <a:ext uri="{FF2B5EF4-FFF2-40B4-BE49-F238E27FC236}">
                    <a16:creationId xmlns:a16="http://schemas.microsoft.com/office/drawing/2014/main" id="{E7E9D6D0-5ADF-F90D-BCE4-1D61C0FB60D4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43" name="Picture Placeholder 104">
                  <a:extLst>
                    <a:ext uri="{FF2B5EF4-FFF2-40B4-BE49-F238E27FC236}">
                      <a16:creationId xmlns:a16="http://schemas.microsoft.com/office/drawing/2014/main" id="{96F06601-A99C-87E2-207B-0BB764B5313C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44" name="Picture Placeholder 104">
                  <a:extLst>
                    <a:ext uri="{FF2B5EF4-FFF2-40B4-BE49-F238E27FC236}">
                      <a16:creationId xmlns:a16="http://schemas.microsoft.com/office/drawing/2014/main" id="{D6085090-BB27-D878-6E50-B27E85172DA4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445" name="그룹 2444">
            <a:extLst>
              <a:ext uri="{FF2B5EF4-FFF2-40B4-BE49-F238E27FC236}">
                <a16:creationId xmlns:a16="http://schemas.microsoft.com/office/drawing/2014/main" id="{FA415DD3-83B9-CEA3-D7A0-45651B6B0107}"/>
              </a:ext>
            </a:extLst>
          </p:cNvPr>
          <p:cNvGrpSpPr>
            <a:grpSpLocks noChangeAspect="1"/>
          </p:cNvGrpSpPr>
          <p:nvPr/>
        </p:nvGrpSpPr>
        <p:grpSpPr>
          <a:xfrm>
            <a:off x="5088427" y="4361274"/>
            <a:ext cx="124071" cy="159622"/>
            <a:chOff x="6434980" y="855802"/>
            <a:chExt cx="600836" cy="600837"/>
          </a:xfrm>
        </p:grpSpPr>
        <p:sp>
          <p:nvSpPr>
            <p:cNvPr id="2446" name="Picture Placeholder 77">
              <a:extLst>
                <a:ext uri="{FF2B5EF4-FFF2-40B4-BE49-F238E27FC236}">
                  <a16:creationId xmlns:a16="http://schemas.microsoft.com/office/drawing/2014/main" id="{6814E778-CE13-34AB-D713-A7EE5E29EEEB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47" name="Picture Placeholder 104" descr="Virtual Machine&#10;">
              <a:extLst>
                <a:ext uri="{FF2B5EF4-FFF2-40B4-BE49-F238E27FC236}">
                  <a16:creationId xmlns:a16="http://schemas.microsoft.com/office/drawing/2014/main" id="{AECD4156-87AB-C5DB-C67E-EF345C8C2BFA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48" name="Picture Placeholder 104">
                <a:extLst>
                  <a:ext uri="{FF2B5EF4-FFF2-40B4-BE49-F238E27FC236}">
                    <a16:creationId xmlns:a16="http://schemas.microsoft.com/office/drawing/2014/main" id="{4A155E06-BA34-9F60-AE2C-E9F958E5A86D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49" name="Picture Placeholder 104">
                <a:extLst>
                  <a:ext uri="{FF2B5EF4-FFF2-40B4-BE49-F238E27FC236}">
                    <a16:creationId xmlns:a16="http://schemas.microsoft.com/office/drawing/2014/main" id="{E6F0053F-494F-E473-BBB5-A5D84259F1FB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50" name="Picture Placeholder 104">
                  <a:extLst>
                    <a:ext uri="{FF2B5EF4-FFF2-40B4-BE49-F238E27FC236}">
                      <a16:creationId xmlns:a16="http://schemas.microsoft.com/office/drawing/2014/main" id="{1995E677-6E9B-4CFB-0756-02D9B20F2EE0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51" name="Picture Placeholder 104">
                  <a:extLst>
                    <a:ext uri="{FF2B5EF4-FFF2-40B4-BE49-F238E27FC236}">
                      <a16:creationId xmlns:a16="http://schemas.microsoft.com/office/drawing/2014/main" id="{FE77430B-6EA3-231B-D102-147C1A49780A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452" name="Google Shape;1155;p37">
            <a:extLst>
              <a:ext uri="{FF2B5EF4-FFF2-40B4-BE49-F238E27FC236}">
                <a16:creationId xmlns:a16="http://schemas.microsoft.com/office/drawing/2014/main" id="{2FF1CBF7-54C1-3F7D-EEEC-790BF3B0766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893317" y="4955310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3" name="Google Shape;1155;p37">
            <a:extLst>
              <a:ext uri="{FF2B5EF4-FFF2-40B4-BE49-F238E27FC236}">
                <a16:creationId xmlns:a16="http://schemas.microsoft.com/office/drawing/2014/main" id="{679B1023-E883-D3DF-3B15-1DCC401520E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831161" y="4917376"/>
            <a:ext cx="111071" cy="134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4" name="그룹 2453">
            <a:extLst>
              <a:ext uri="{FF2B5EF4-FFF2-40B4-BE49-F238E27FC236}">
                <a16:creationId xmlns:a16="http://schemas.microsoft.com/office/drawing/2014/main" id="{294DAB5F-BDFD-50FA-7F79-A625A84E08AD}"/>
              </a:ext>
            </a:extLst>
          </p:cNvPr>
          <p:cNvGrpSpPr/>
          <p:nvPr/>
        </p:nvGrpSpPr>
        <p:grpSpPr>
          <a:xfrm>
            <a:off x="4663809" y="3894110"/>
            <a:ext cx="578311" cy="286718"/>
            <a:chOff x="4804770" y="3909292"/>
            <a:chExt cx="596924" cy="305852"/>
          </a:xfrm>
        </p:grpSpPr>
        <p:sp>
          <p:nvSpPr>
            <p:cNvPr id="2455" name="Google Shape;945;g2872d9e35e1_4_15">
              <a:extLst>
                <a:ext uri="{FF2B5EF4-FFF2-40B4-BE49-F238E27FC236}">
                  <a16:creationId xmlns:a16="http://schemas.microsoft.com/office/drawing/2014/main" id="{CF3CDFA9-F091-20B0-54C8-944D91FB8521}"/>
                </a:ext>
              </a:extLst>
            </p:cNvPr>
            <p:cNvSpPr/>
            <p:nvPr/>
          </p:nvSpPr>
          <p:spPr>
            <a:xfrm>
              <a:off x="4804770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456" name="Google Shape;945;g2872d9e35e1_4_15">
              <a:extLst>
                <a:ext uri="{FF2B5EF4-FFF2-40B4-BE49-F238E27FC236}">
                  <a16:creationId xmlns:a16="http://schemas.microsoft.com/office/drawing/2014/main" id="{623C9FA5-4A20-7D1F-98D7-7F03F628C2C4}"/>
                </a:ext>
              </a:extLst>
            </p:cNvPr>
            <p:cNvSpPr/>
            <p:nvPr/>
          </p:nvSpPr>
          <p:spPr>
            <a:xfrm>
              <a:off x="5129998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cxnSp>
        <p:nvCxnSpPr>
          <p:cNvPr id="2457" name="연결선: 구부러짐 272">
            <a:extLst>
              <a:ext uri="{FF2B5EF4-FFF2-40B4-BE49-F238E27FC236}">
                <a16:creationId xmlns:a16="http://schemas.microsoft.com/office/drawing/2014/main" id="{24590183-12DF-7A30-932F-EC872E6B6AD5}"/>
              </a:ext>
            </a:extLst>
          </p:cNvPr>
          <p:cNvCxnSpPr>
            <a:cxnSpLocks/>
          </p:cNvCxnSpPr>
          <p:nvPr/>
        </p:nvCxnSpPr>
        <p:spPr>
          <a:xfrm flipV="1">
            <a:off x="4952404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8" name="Google Shape;957;g2872d9e35e1_4_15">
            <a:extLst>
              <a:ext uri="{FF2B5EF4-FFF2-40B4-BE49-F238E27FC236}">
                <a16:creationId xmlns:a16="http://schemas.microsoft.com/office/drawing/2014/main" id="{37AB2DD2-5290-AC4B-0FF5-1256C1AE62A4}"/>
              </a:ext>
            </a:extLst>
          </p:cNvPr>
          <p:cNvCxnSpPr>
            <a:cxnSpLocks/>
          </p:cNvCxnSpPr>
          <p:nvPr/>
        </p:nvCxnSpPr>
        <p:spPr>
          <a:xfrm>
            <a:off x="5758653" y="5398279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9" name="Google Shape;945;g2872d9e35e1_4_15">
            <a:extLst>
              <a:ext uri="{FF2B5EF4-FFF2-40B4-BE49-F238E27FC236}">
                <a16:creationId xmlns:a16="http://schemas.microsoft.com/office/drawing/2014/main" id="{269E8EEF-C71A-5E04-2B6E-89FCB24F0EB1}"/>
              </a:ext>
            </a:extLst>
          </p:cNvPr>
          <p:cNvSpPr/>
          <p:nvPr/>
        </p:nvSpPr>
        <p:spPr>
          <a:xfrm>
            <a:off x="5374117" y="3802625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vCenter</a:t>
            </a:r>
          </a:p>
        </p:txBody>
      </p:sp>
      <p:pic>
        <p:nvPicPr>
          <p:cNvPr id="2460" name="Google Shape;1155;p37">
            <a:extLst>
              <a:ext uri="{FF2B5EF4-FFF2-40B4-BE49-F238E27FC236}">
                <a16:creationId xmlns:a16="http://schemas.microsoft.com/office/drawing/2014/main" id="{6763F4D7-DADB-9D1F-29A5-C334A746D11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501337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1" name="Google Shape;1157;p37">
            <a:extLst>
              <a:ext uri="{FF2B5EF4-FFF2-40B4-BE49-F238E27FC236}">
                <a16:creationId xmlns:a16="http://schemas.microsoft.com/office/drawing/2014/main" id="{60A14464-2BB4-2DD4-5111-1F76241F8C54}"/>
              </a:ext>
            </a:extLst>
          </p:cNvPr>
          <p:cNvCxnSpPr>
            <a:cxnSpLocks/>
          </p:cNvCxnSpPr>
          <p:nvPr/>
        </p:nvCxnSpPr>
        <p:spPr>
          <a:xfrm flipH="1" flipV="1">
            <a:off x="5613691" y="4781309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2" name="Google Shape;1158;p37">
            <a:extLst>
              <a:ext uri="{FF2B5EF4-FFF2-40B4-BE49-F238E27FC236}">
                <a16:creationId xmlns:a16="http://schemas.microsoft.com/office/drawing/2014/main" id="{1836834E-B0ED-991B-E6FA-3E59FCA1D043}"/>
              </a:ext>
            </a:extLst>
          </p:cNvPr>
          <p:cNvSpPr/>
          <p:nvPr/>
        </p:nvSpPr>
        <p:spPr>
          <a:xfrm>
            <a:off x="5423507" y="4292336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 dirty="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463" name="그룹 2462">
            <a:extLst>
              <a:ext uri="{FF2B5EF4-FFF2-40B4-BE49-F238E27FC236}">
                <a16:creationId xmlns:a16="http://schemas.microsoft.com/office/drawing/2014/main" id="{960A3C07-1497-71C8-B0FE-ADBFC49E6C58}"/>
              </a:ext>
            </a:extLst>
          </p:cNvPr>
          <p:cNvGrpSpPr>
            <a:grpSpLocks noChangeAspect="1"/>
          </p:cNvGrpSpPr>
          <p:nvPr/>
        </p:nvGrpSpPr>
        <p:grpSpPr>
          <a:xfrm>
            <a:off x="5446040" y="4362282"/>
            <a:ext cx="124071" cy="159622"/>
            <a:chOff x="6434980" y="855802"/>
            <a:chExt cx="600836" cy="600837"/>
          </a:xfrm>
        </p:grpSpPr>
        <p:sp>
          <p:nvSpPr>
            <p:cNvPr id="2464" name="Picture Placeholder 77">
              <a:extLst>
                <a:ext uri="{FF2B5EF4-FFF2-40B4-BE49-F238E27FC236}">
                  <a16:creationId xmlns:a16="http://schemas.microsoft.com/office/drawing/2014/main" id="{89848F5B-9CD0-33C5-885F-5D1E8B411451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65" name="Picture Placeholder 104" descr="Virtual Machine&#10;">
              <a:extLst>
                <a:ext uri="{FF2B5EF4-FFF2-40B4-BE49-F238E27FC236}">
                  <a16:creationId xmlns:a16="http://schemas.microsoft.com/office/drawing/2014/main" id="{0EE47800-ECD6-1DAE-7D3E-29B8A64E7D6F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66" name="Picture Placeholder 104">
                <a:extLst>
                  <a:ext uri="{FF2B5EF4-FFF2-40B4-BE49-F238E27FC236}">
                    <a16:creationId xmlns:a16="http://schemas.microsoft.com/office/drawing/2014/main" id="{8EC55322-6BF7-B0AB-4584-08D6F38F3F34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67" name="Picture Placeholder 104">
                <a:extLst>
                  <a:ext uri="{FF2B5EF4-FFF2-40B4-BE49-F238E27FC236}">
                    <a16:creationId xmlns:a16="http://schemas.microsoft.com/office/drawing/2014/main" id="{49A98CDE-6D78-88D3-B7D0-8998117FD63E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68" name="Picture Placeholder 104">
                  <a:extLst>
                    <a:ext uri="{FF2B5EF4-FFF2-40B4-BE49-F238E27FC236}">
                      <a16:creationId xmlns:a16="http://schemas.microsoft.com/office/drawing/2014/main" id="{EADA4048-3E20-C098-D54C-E6B97C2B1891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69" name="Picture Placeholder 104">
                  <a:extLst>
                    <a:ext uri="{FF2B5EF4-FFF2-40B4-BE49-F238E27FC236}">
                      <a16:creationId xmlns:a16="http://schemas.microsoft.com/office/drawing/2014/main" id="{A179B48D-7B7F-FF54-A019-C8A66E289403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470" name="그룹 2469">
            <a:extLst>
              <a:ext uri="{FF2B5EF4-FFF2-40B4-BE49-F238E27FC236}">
                <a16:creationId xmlns:a16="http://schemas.microsoft.com/office/drawing/2014/main" id="{CA205A5F-AFF9-3320-B8D3-E79034FDDEBC}"/>
              </a:ext>
            </a:extLst>
          </p:cNvPr>
          <p:cNvGrpSpPr>
            <a:grpSpLocks noChangeAspect="1"/>
          </p:cNvGrpSpPr>
          <p:nvPr/>
        </p:nvGrpSpPr>
        <p:grpSpPr>
          <a:xfrm>
            <a:off x="5580583" y="4362282"/>
            <a:ext cx="124071" cy="159622"/>
            <a:chOff x="6434980" y="855802"/>
            <a:chExt cx="600836" cy="600837"/>
          </a:xfrm>
        </p:grpSpPr>
        <p:sp>
          <p:nvSpPr>
            <p:cNvPr id="2471" name="Picture Placeholder 77">
              <a:extLst>
                <a:ext uri="{FF2B5EF4-FFF2-40B4-BE49-F238E27FC236}">
                  <a16:creationId xmlns:a16="http://schemas.microsoft.com/office/drawing/2014/main" id="{AB8A98D3-8F2D-037C-672E-DB7F7E6525F3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72" name="Picture Placeholder 104" descr="Virtual Machine&#10;">
              <a:extLst>
                <a:ext uri="{FF2B5EF4-FFF2-40B4-BE49-F238E27FC236}">
                  <a16:creationId xmlns:a16="http://schemas.microsoft.com/office/drawing/2014/main" id="{7EDC55F0-10F2-BE06-54AC-6941751A6B36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73" name="Picture Placeholder 104">
                <a:extLst>
                  <a:ext uri="{FF2B5EF4-FFF2-40B4-BE49-F238E27FC236}">
                    <a16:creationId xmlns:a16="http://schemas.microsoft.com/office/drawing/2014/main" id="{2DF736A3-DC34-0D3F-519C-076334504808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74" name="Picture Placeholder 104">
                <a:extLst>
                  <a:ext uri="{FF2B5EF4-FFF2-40B4-BE49-F238E27FC236}">
                    <a16:creationId xmlns:a16="http://schemas.microsoft.com/office/drawing/2014/main" id="{59878E8B-EAB1-FE34-333D-209FB927B13E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75" name="Picture Placeholder 104">
                  <a:extLst>
                    <a:ext uri="{FF2B5EF4-FFF2-40B4-BE49-F238E27FC236}">
                      <a16:creationId xmlns:a16="http://schemas.microsoft.com/office/drawing/2014/main" id="{C3EE8617-2B74-FB40-372E-79703ACDD1D7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76" name="Picture Placeholder 104">
                  <a:extLst>
                    <a:ext uri="{FF2B5EF4-FFF2-40B4-BE49-F238E27FC236}">
                      <a16:creationId xmlns:a16="http://schemas.microsoft.com/office/drawing/2014/main" id="{788187F5-0884-C423-5D1C-C60F8124B33D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477" name="직사각형 2476">
            <a:extLst>
              <a:ext uri="{FF2B5EF4-FFF2-40B4-BE49-F238E27FC236}">
                <a16:creationId xmlns:a16="http://schemas.microsoft.com/office/drawing/2014/main" id="{B6F1AFBE-AF6C-9A91-8BB5-334075EF5AF9}"/>
              </a:ext>
            </a:extLst>
          </p:cNvPr>
          <p:cNvSpPr/>
          <p:nvPr/>
        </p:nvSpPr>
        <p:spPr>
          <a:xfrm>
            <a:off x="5450215" y="4545163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478" name="그룹 2477">
            <a:extLst>
              <a:ext uri="{FF2B5EF4-FFF2-40B4-BE49-F238E27FC236}">
                <a16:creationId xmlns:a16="http://schemas.microsoft.com/office/drawing/2014/main" id="{80FE01AB-A682-BCE3-F27C-3FB2ACC4FC06}"/>
              </a:ext>
            </a:extLst>
          </p:cNvPr>
          <p:cNvGrpSpPr>
            <a:grpSpLocks noChangeAspect="1"/>
          </p:cNvGrpSpPr>
          <p:nvPr/>
        </p:nvGrpSpPr>
        <p:grpSpPr>
          <a:xfrm>
            <a:off x="5527135" y="4687267"/>
            <a:ext cx="240630" cy="94042"/>
            <a:chOff x="8143395" y="2987969"/>
            <a:chExt cx="600854" cy="164611"/>
          </a:xfrm>
        </p:grpSpPr>
        <p:sp>
          <p:nvSpPr>
            <p:cNvPr id="2479" name="Picture Placeholder 77">
              <a:extLst>
                <a:ext uri="{FF2B5EF4-FFF2-40B4-BE49-F238E27FC236}">
                  <a16:creationId xmlns:a16="http://schemas.microsoft.com/office/drawing/2014/main" id="{4F163655-C8BC-4B5B-9ED3-A1D3D21BF565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80" name="Picture Placeholder 77" descr="Rack Server 2&#10;">
              <a:extLst>
                <a:ext uri="{FF2B5EF4-FFF2-40B4-BE49-F238E27FC236}">
                  <a16:creationId xmlns:a16="http://schemas.microsoft.com/office/drawing/2014/main" id="{51166B61-C2A0-897E-806F-A84C1E141879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481" name="Picture Placeholder 77">
                <a:extLst>
                  <a:ext uri="{FF2B5EF4-FFF2-40B4-BE49-F238E27FC236}">
                    <a16:creationId xmlns:a16="http://schemas.microsoft.com/office/drawing/2014/main" id="{0976E0E6-04D7-0C4D-8D40-BEF7F08D5ED0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483" name="Picture Placeholder 77">
                  <a:extLst>
                    <a:ext uri="{FF2B5EF4-FFF2-40B4-BE49-F238E27FC236}">
                      <a16:creationId xmlns:a16="http://schemas.microsoft.com/office/drawing/2014/main" id="{B40185F5-3AAD-7515-E2BA-60B590F22837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484" name="Picture Placeholder 77">
                  <a:extLst>
                    <a:ext uri="{FF2B5EF4-FFF2-40B4-BE49-F238E27FC236}">
                      <a16:creationId xmlns:a16="http://schemas.microsoft.com/office/drawing/2014/main" id="{71B3850A-BE17-4522-35BD-7474DC180E66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485" name="Picture Placeholder 77">
                    <a:extLst>
                      <a:ext uri="{FF2B5EF4-FFF2-40B4-BE49-F238E27FC236}">
                        <a16:creationId xmlns:a16="http://schemas.microsoft.com/office/drawing/2014/main" id="{9EEFFFE1-72D4-6195-84A5-8A65B5892851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486" name="Picture Placeholder 77">
                    <a:extLst>
                      <a:ext uri="{FF2B5EF4-FFF2-40B4-BE49-F238E27FC236}">
                        <a16:creationId xmlns:a16="http://schemas.microsoft.com/office/drawing/2014/main" id="{7EC85BD2-D54E-D08F-AD49-8BA2192DDCB5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487" name="Picture Placeholder 77">
                    <a:extLst>
                      <a:ext uri="{FF2B5EF4-FFF2-40B4-BE49-F238E27FC236}">
                        <a16:creationId xmlns:a16="http://schemas.microsoft.com/office/drawing/2014/main" id="{BDC06B20-8844-B336-C0E5-7C8864E04942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488" name="Picture Placeholder 77">
                    <a:extLst>
                      <a:ext uri="{FF2B5EF4-FFF2-40B4-BE49-F238E27FC236}">
                        <a16:creationId xmlns:a16="http://schemas.microsoft.com/office/drawing/2014/main" id="{0CB41742-1726-DF2F-6D5B-E3FC5C837C82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482" name="Picture Placeholder 77">
                <a:extLst>
                  <a:ext uri="{FF2B5EF4-FFF2-40B4-BE49-F238E27FC236}">
                    <a16:creationId xmlns:a16="http://schemas.microsoft.com/office/drawing/2014/main" id="{8E3BA889-DBAC-47AA-1723-85D3CDA60A50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489" name="그룹 2488">
            <a:extLst>
              <a:ext uri="{FF2B5EF4-FFF2-40B4-BE49-F238E27FC236}">
                <a16:creationId xmlns:a16="http://schemas.microsoft.com/office/drawing/2014/main" id="{4469A329-D268-58EB-6562-2881D9F2C58D}"/>
              </a:ext>
            </a:extLst>
          </p:cNvPr>
          <p:cNvGrpSpPr>
            <a:grpSpLocks noChangeAspect="1"/>
          </p:cNvGrpSpPr>
          <p:nvPr/>
        </p:nvGrpSpPr>
        <p:grpSpPr>
          <a:xfrm>
            <a:off x="5715125" y="4362282"/>
            <a:ext cx="124071" cy="159622"/>
            <a:chOff x="6434980" y="855802"/>
            <a:chExt cx="600836" cy="600837"/>
          </a:xfrm>
        </p:grpSpPr>
        <p:sp>
          <p:nvSpPr>
            <p:cNvPr id="2490" name="Picture Placeholder 77">
              <a:extLst>
                <a:ext uri="{FF2B5EF4-FFF2-40B4-BE49-F238E27FC236}">
                  <a16:creationId xmlns:a16="http://schemas.microsoft.com/office/drawing/2014/main" id="{97A8CC8F-5949-5CF2-3A6B-C989D087D5CD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91" name="Picture Placeholder 104" descr="Virtual Machine&#10;">
              <a:extLst>
                <a:ext uri="{FF2B5EF4-FFF2-40B4-BE49-F238E27FC236}">
                  <a16:creationId xmlns:a16="http://schemas.microsoft.com/office/drawing/2014/main" id="{EE3806B8-3E78-4ECE-5080-65C80D62AE26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92" name="Picture Placeholder 104">
                <a:extLst>
                  <a:ext uri="{FF2B5EF4-FFF2-40B4-BE49-F238E27FC236}">
                    <a16:creationId xmlns:a16="http://schemas.microsoft.com/office/drawing/2014/main" id="{FC82CFD3-828D-20CB-1E20-1B6A2146BF87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493" name="Picture Placeholder 104">
                <a:extLst>
                  <a:ext uri="{FF2B5EF4-FFF2-40B4-BE49-F238E27FC236}">
                    <a16:creationId xmlns:a16="http://schemas.microsoft.com/office/drawing/2014/main" id="{9DD29DFC-91F9-0D0A-44CD-8588C5735EA7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494" name="Picture Placeholder 104">
                  <a:extLst>
                    <a:ext uri="{FF2B5EF4-FFF2-40B4-BE49-F238E27FC236}">
                      <a16:creationId xmlns:a16="http://schemas.microsoft.com/office/drawing/2014/main" id="{A3CEA064-FE7B-4E8F-A950-CACD96184800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495" name="Picture Placeholder 104">
                  <a:extLst>
                    <a:ext uri="{FF2B5EF4-FFF2-40B4-BE49-F238E27FC236}">
                      <a16:creationId xmlns:a16="http://schemas.microsoft.com/office/drawing/2014/main" id="{4A5B6515-97F6-5B28-9FC3-88A46F99D91E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496" name="그룹 2495">
            <a:extLst>
              <a:ext uri="{FF2B5EF4-FFF2-40B4-BE49-F238E27FC236}">
                <a16:creationId xmlns:a16="http://schemas.microsoft.com/office/drawing/2014/main" id="{0B0B4093-894D-6CAF-9D30-6802943BE751}"/>
              </a:ext>
            </a:extLst>
          </p:cNvPr>
          <p:cNvGrpSpPr>
            <a:grpSpLocks noChangeAspect="1"/>
          </p:cNvGrpSpPr>
          <p:nvPr/>
        </p:nvGrpSpPr>
        <p:grpSpPr>
          <a:xfrm>
            <a:off x="5849668" y="4362282"/>
            <a:ext cx="124071" cy="159622"/>
            <a:chOff x="6434980" y="855802"/>
            <a:chExt cx="600836" cy="600837"/>
          </a:xfrm>
        </p:grpSpPr>
        <p:sp>
          <p:nvSpPr>
            <p:cNvPr id="2497" name="Picture Placeholder 77">
              <a:extLst>
                <a:ext uri="{FF2B5EF4-FFF2-40B4-BE49-F238E27FC236}">
                  <a16:creationId xmlns:a16="http://schemas.microsoft.com/office/drawing/2014/main" id="{14E63F28-669A-450F-D2CB-3B3FE6054D8C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98" name="Picture Placeholder 104" descr="Virtual Machine&#10;">
              <a:extLst>
                <a:ext uri="{FF2B5EF4-FFF2-40B4-BE49-F238E27FC236}">
                  <a16:creationId xmlns:a16="http://schemas.microsoft.com/office/drawing/2014/main" id="{060E1A67-3F98-EDA7-8F08-B5CB16EA196D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499" name="Picture Placeholder 104">
                <a:extLst>
                  <a:ext uri="{FF2B5EF4-FFF2-40B4-BE49-F238E27FC236}">
                    <a16:creationId xmlns:a16="http://schemas.microsoft.com/office/drawing/2014/main" id="{E93DED57-AF28-C25F-5396-3FDD84EDACA6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500" name="Picture Placeholder 104">
                <a:extLst>
                  <a:ext uri="{FF2B5EF4-FFF2-40B4-BE49-F238E27FC236}">
                    <a16:creationId xmlns:a16="http://schemas.microsoft.com/office/drawing/2014/main" id="{489A95D3-0C96-B2B8-A58A-D940A6CB2D01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501" name="Picture Placeholder 104">
                  <a:extLst>
                    <a:ext uri="{FF2B5EF4-FFF2-40B4-BE49-F238E27FC236}">
                      <a16:creationId xmlns:a16="http://schemas.microsoft.com/office/drawing/2014/main" id="{1B2485C5-DD74-AEBA-54CD-11FFDD2E975B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502" name="Picture Placeholder 104">
                  <a:extLst>
                    <a:ext uri="{FF2B5EF4-FFF2-40B4-BE49-F238E27FC236}">
                      <a16:creationId xmlns:a16="http://schemas.microsoft.com/office/drawing/2014/main" id="{565385CD-81BF-2C4D-C3D9-E081FC14B5E2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503" name="Google Shape;1155;p37">
            <a:extLst>
              <a:ext uri="{FF2B5EF4-FFF2-40B4-BE49-F238E27FC236}">
                <a16:creationId xmlns:a16="http://schemas.microsoft.com/office/drawing/2014/main" id="{6555CA51-4EA9-8C03-5105-825264AE66B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654558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4" name="Google Shape;1155;p37">
            <a:extLst>
              <a:ext uri="{FF2B5EF4-FFF2-40B4-BE49-F238E27FC236}">
                <a16:creationId xmlns:a16="http://schemas.microsoft.com/office/drawing/2014/main" id="{D46F046A-7F31-8465-317E-55C1B7E5ED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592402" y="4918385"/>
            <a:ext cx="111071" cy="134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5" name="그룹 2504">
            <a:extLst>
              <a:ext uri="{FF2B5EF4-FFF2-40B4-BE49-F238E27FC236}">
                <a16:creationId xmlns:a16="http://schemas.microsoft.com/office/drawing/2014/main" id="{C6A566D9-F613-A75B-A301-1C6656513EF4}"/>
              </a:ext>
            </a:extLst>
          </p:cNvPr>
          <p:cNvGrpSpPr/>
          <p:nvPr/>
        </p:nvGrpSpPr>
        <p:grpSpPr>
          <a:xfrm>
            <a:off x="5425051" y="3894110"/>
            <a:ext cx="578311" cy="286718"/>
            <a:chOff x="5590512" y="3909292"/>
            <a:chExt cx="596924" cy="305852"/>
          </a:xfrm>
        </p:grpSpPr>
        <p:sp>
          <p:nvSpPr>
            <p:cNvPr id="2506" name="Google Shape;945;g2872d9e35e1_4_15">
              <a:extLst>
                <a:ext uri="{FF2B5EF4-FFF2-40B4-BE49-F238E27FC236}">
                  <a16:creationId xmlns:a16="http://schemas.microsoft.com/office/drawing/2014/main" id="{FCDEB2AB-BF54-4125-78CE-210BBD9A5A9D}"/>
                </a:ext>
              </a:extLst>
            </p:cNvPr>
            <p:cNvSpPr/>
            <p:nvPr/>
          </p:nvSpPr>
          <p:spPr>
            <a:xfrm>
              <a:off x="5590512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507" name="Google Shape;945;g2872d9e35e1_4_15">
              <a:extLst>
                <a:ext uri="{FF2B5EF4-FFF2-40B4-BE49-F238E27FC236}">
                  <a16:creationId xmlns:a16="http://schemas.microsoft.com/office/drawing/2014/main" id="{D608191B-7542-6196-EE6D-6C72D9F34DDD}"/>
                </a:ext>
              </a:extLst>
            </p:cNvPr>
            <p:cNvSpPr/>
            <p:nvPr/>
          </p:nvSpPr>
          <p:spPr>
            <a:xfrm>
              <a:off x="5915740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cxnSp>
        <p:nvCxnSpPr>
          <p:cNvPr id="2508" name="연결선: 구부러짐 272">
            <a:extLst>
              <a:ext uri="{FF2B5EF4-FFF2-40B4-BE49-F238E27FC236}">
                <a16:creationId xmlns:a16="http://schemas.microsoft.com/office/drawing/2014/main" id="{40DDDC9A-98D7-2FB3-7466-BB4ED20E6829}"/>
              </a:ext>
            </a:extLst>
          </p:cNvPr>
          <p:cNvCxnSpPr>
            <a:cxnSpLocks/>
          </p:cNvCxnSpPr>
          <p:nvPr/>
        </p:nvCxnSpPr>
        <p:spPr>
          <a:xfrm flipV="1">
            <a:off x="5712945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9" name="!!Rectangle 566">
            <a:extLst>
              <a:ext uri="{FF2B5EF4-FFF2-40B4-BE49-F238E27FC236}">
                <a16:creationId xmlns:a16="http://schemas.microsoft.com/office/drawing/2014/main" id="{60EF2AF3-4D99-E019-CB3E-128DA5602598}"/>
              </a:ext>
            </a:extLst>
          </p:cNvPr>
          <p:cNvSpPr/>
          <p:nvPr/>
        </p:nvSpPr>
        <p:spPr>
          <a:xfrm>
            <a:off x="6890954" y="3761800"/>
            <a:ext cx="718462" cy="2083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  <a:ln w="6350">
            <a:solidFill>
              <a:schemeClr val="tx2">
                <a:lumMod val="10000"/>
              </a:schemeClr>
            </a:solidFill>
            <a:prstDash val="dash"/>
          </a:ln>
          <a:effectLst/>
        </p:spPr>
        <p:txBody>
          <a:bodyPr wrap="square" lIns="0" tIns="72000" rIns="0" bIns="108000" rtlCol="0" anchor="b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ko-KR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</a:br>
            <a:r>
              <a:rPr lang="ko-KR" altLang="en-US" sz="900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rPr>
              <a:t>강릉</a:t>
            </a:r>
            <a:endParaRPr lang="en-US" sz="900" kern="12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2">
                  <a:lumMod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cxnSp>
        <p:nvCxnSpPr>
          <p:cNvPr id="2510" name="Google Shape;957;g2872d9e35e1_4_15">
            <a:extLst>
              <a:ext uri="{FF2B5EF4-FFF2-40B4-BE49-F238E27FC236}">
                <a16:creationId xmlns:a16="http://schemas.microsoft.com/office/drawing/2014/main" id="{616BD4F7-E7CA-BA19-F1EA-C5BBB17B6C57}"/>
              </a:ext>
            </a:extLst>
          </p:cNvPr>
          <p:cNvCxnSpPr>
            <a:cxnSpLocks/>
          </p:cNvCxnSpPr>
          <p:nvPr/>
        </p:nvCxnSpPr>
        <p:spPr>
          <a:xfrm>
            <a:off x="7304941" y="5398279"/>
            <a:ext cx="0" cy="1441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1" name="Google Shape;945;g2872d9e35e1_4_15">
            <a:extLst>
              <a:ext uri="{FF2B5EF4-FFF2-40B4-BE49-F238E27FC236}">
                <a16:creationId xmlns:a16="http://schemas.microsoft.com/office/drawing/2014/main" id="{517DC2D3-AA79-5882-0EA0-56891367AB88}"/>
              </a:ext>
            </a:extLst>
          </p:cNvPr>
          <p:cNvSpPr/>
          <p:nvPr/>
        </p:nvSpPr>
        <p:spPr>
          <a:xfrm>
            <a:off x="6920405" y="3802625"/>
            <a:ext cx="677638" cy="170205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36000" anchor="b" anchorCtr="0">
            <a:noAutofit/>
          </a:bodyPr>
          <a:lstStyle/>
          <a:p>
            <a:pPr algn="ctr"/>
            <a:b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sz="800" b="1" dirty="0">
                <a:solidFill>
                  <a:schemeClr val="tx2">
                    <a:lumMod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vCenter</a:t>
            </a:r>
          </a:p>
        </p:txBody>
      </p:sp>
      <p:pic>
        <p:nvPicPr>
          <p:cNvPr id="2512" name="Google Shape;1155;p37">
            <a:extLst>
              <a:ext uri="{FF2B5EF4-FFF2-40B4-BE49-F238E27FC236}">
                <a16:creationId xmlns:a16="http://schemas.microsoft.com/office/drawing/2014/main" id="{57A73369-18C5-ABE5-9961-EDF9F85DDFA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047624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3" name="Google Shape;1157;p37">
            <a:extLst>
              <a:ext uri="{FF2B5EF4-FFF2-40B4-BE49-F238E27FC236}">
                <a16:creationId xmlns:a16="http://schemas.microsoft.com/office/drawing/2014/main" id="{0D53932B-5570-B8BB-1B5D-8260860DE2C9}"/>
              </a:ext>
            </a:extLst>
          </p:cNvPr>
          <p:cNvCxnSpPr>
            <a:cxnSpLocks/>
          </p:cNvCxnSpPr>
          <p:nvPr/>
        </p:nvCxnSpPr>
        <p:spPr>
          <a:xfrm flipH="1" flipV="1">
            <a:off x="7159979" y="4781309"/>
            <a:ext cx="490" cy="137076"/>
          </a:xfrm>
          <a:prstGeom prst="straightConnector1">
            <a:avLst/>
          </a:prstGeom>
          <a:noFill/>
          <a:ln w="63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4" name="Google Shape;1158;p37">
            <a:extLst>
              <a:ext uri="{FF2B5EF4-FFF2-40B4-BE49-F238E27FC236}">
                <a16:creationId xmlns:a16="http://schemas.microsoft.com/office/drawing/2014/main" id="{E1F6792D-FD67-61D8-B399-A78356E6C612}"/>
              </a:ext>
            </a:extLst>
          </p:cNvPr>
          <p:cNvSpPr/>
          <p:nvPr/>
        </p:nvSpPr>
        <p:spPr>
          <a:xfrm>
            <a:off x="6969795" y="4292336"/>
            <a:ext cx="579854" cy="900729"/>
          </a:xfrm>
          <a:prstGeom prst="rect">
            <a:avLst/>
          </a:prstGeom>
          <a:noFill/>
          <a:ln w="6350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Arial"/>
            </a:endParaRPr>
          </a:p>
        </p:txBody>
      </p:sp>
      <p:grpSp>
        <p:nvGrpSpPr>
          <p:cNvPr id="2515" name="그룹 2514">
            <a:extLst>
              <a:ext uri="{FF2B5EF4-FFF2-40B4-BE49-F238E27FC236}">
                <a16:creationId xmlns:a16="http://schemas.microsoft.com/office/drawing/2014/main" id="{571FF904-24C5-1415-AB6A-C3A1AC0976A4}"/>
              </a:ext>
            </a:extLst>
          </p:cNvPr>
          <p:cNvGrpSpPr>
            <a:grpSpLocks noChangeAspect="1"/>
          </p:cNvGrpSpPr>
          <p:nvPr/>
        </p:nvGrpSpPr>
        <p:grpSpPr>
          <a:xfrm>
            <a:off x="6995770" y="4362282"/>
            <a:ext cx="124071" cy="159622"/>
            <a:chOff x="6434980" y="855802"/>
            <a:chExt cx="600836" cy="600837"/>
          </a:xfrm>
        </p:grpSpPr>
        <p:sp>
          <p:nvSpPr>
            <p:cNvPr id="2516" name="Picture Placeholder 77">
              <a:extLst>
                <a:ext uri="{FF2B5EF4-FFF2-40B4-BE49-F238E27FC236}">
                  <a16:creationId xmlns:a16="http://schemas.microsoft.com/office/drawing/2014/main" id="{27A8196A-7493-9F17-6A15-369E18244D8F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17" name="Picture Placeholder 104" descr="Virtual Machine&#10;">
              <a:extLst>
                <a:ext uri="{FF2B5EF4-FFF2-40B4-BE49-F238E27FC236}">
                  <a16:creationId xmlns:a16="http://schemas.microsoft.com/office/drawing/2014/main" id="{DC0623A4-C2E3-419A-8A6B-483F3DAF1F41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518" name="Picture Placeholder 104">
                <a:extLst>
                  <a:ext uri="{FF2B5EF4-FFF2-40B4-BE49-F238E27FC236}">
                    <a16:creationId xmlns:a16="http://schemas.microsoft.com/office/drawing/2014/main" id="{6BE071DD-006B-4218-1E9A-E756F0D13779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519" name="Picture Placeholder 104">
                <a:extLst>
                  <a:ext uri="{FF2B5EF4-FFF2-40B4-BE49-F238E27FC236}">
                    <a16:creationId xmlns:a16="http://schemas.microsoft.com/office/drawing/2014/main" id="{255FE00C-81A6-2832-9BD2-FF669A147FF4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520" name="Picture Placeholder 104">
                  <a:extLst>
                    <a:ext uri="{FF2B5EF4-FFF2-40B4-BE49-F238E27FC236}">
                      <a16:creationId xmlns:a16="http://schemas.microsoft.com/office/drawing/2014/main" id="{4B710E76-CC16-EDD3-ABEC-B72BDF1E74A4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521" name="Picture Placeholder 104">
                  <a:extLst>
                    <a:ext uri="{FF2B5EF4-FFF2-40B4-BE49-F238E27FC236}">
                      <a16:creationId xmlns:a16="http://schemas.microsoft.com/office/drawing/2014/main" id="{AE5A6C3E-6EAD-68EF-41D5-7FAD41AD3C33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522" name="그룹 2521">
            <a:extLst>
              <a:ext uri="{FF2B5EF4-FFF2-40B4-BE49-F238E27FC236}">
                <a16:creationId xmlns:a16="http://schemas.microsoft.com/office/drawing/2014/main" id="{66936DDA-30CC-E241-7AAA-D4CBA4452712}"/>
              </a:ext>
            </a:extLst>
          </p:cNvPr>
          <p:cNvGrpSpPr>
            <a:grpSpLocks noChangeAspect="1"/>
          </p:cNvGrpSpPr>
          <p:nvPr/>
        </p:nvGrpSpPr>
        <p:grpSpPr>
          <a:xfrm>
            <a:off x="7129165" y="4362282"/>
            <a:ext cx="124071" cy="159622"/>
            <a:chOff x="6434980" y="855802"/>
            <a:chExt cx="600836" cy="600837"/>
          </a:xfrm>
        </p:grpSpPr>
        <p:sp>
          <p:nvSpPr>
            <p:cNvPr id="2523" name="Picture Placeholder 77">
              <a:extLst>
                <a:ext uri="{FF2B5EF4-FFF2-40B4-BE49-F238E27FC236}">
                  <a16:creationId xmlns:a16="http://schemas.microsoft.com/office/drawing/2014/main" id="{6A1D00E3-32FB-A557-7DD8-212A8E6BAA44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24" name="Picture Placeholder 104" descr="Virtual Machine&#10;">
              <a:extLst>
                <a:ext uri="{FF2B5EF4-FFF2-40B4-BE49-F238E27FC236}">
                  <a16:creationId xmlns:a16="http://schemas.microsoft.com/office/drawing/2014/main" id="{748B5A85-BB87-CA75-432D-C76939912E45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525" name="Picture Placeholder 104">
                <a:extLst>
                  <a:ext uri="{FF2B5EF4-FFF2-40B4-BE49-F238E27FC236}">
                    <a16:creationId xmlns:a16="http://schemas.microsoft.com/office/drawing/2014/main" id="{2962934F-4E13-0CD3-A0B3-9889403A8AD5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526" name="Picture Placeholder 104">
                <a:extLst>
                  <a:ext uri="{FF2B5EF4-FFF2-40B4-BE49-F238E27FC236}">
                    <a16:creationId xmlns:a16="http://schemas.microsoft.com/office/drawing/2014/main" id="{C6A1B386-EC6E-3576-E60F-85C86C7B32A3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527" name="Picture Placeholder 104">
                  <a:extLst>
                    <a:ext uri="{FF2B5EF4-FFF2-40B4-BE49-F238E27FC236}">
                      <a16:creationId xmlns:a16="http://schemas.microsoft.com/office/drawing/2014/main" id="{9087B04D-8CA0-A3A3-D8A3-38613722B10A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528" name="Picture Placeholder 104">
                  <a:extLst>
                    <a:ext uri="{FF2B5EF4-FFF2-40B4-BE49-F238E27FC236}">
                      <a16:creationId xmlns:a16="http://schemas.microsoft.com/office/drawing/2014/main" id="{4D4F404F-52BF-92A4-8905-CADC158A3E8C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sp>
        <p:nvSpPr>
          <p:cNvPr id="2529" name="직사각형 2528">
            <a:extLst>
              <a:ext uri="{FF2B5EF4-FFF2-40B4-BE49-F238E27FC236}">
                <a16:creationId xmlns:a16="http://schemas.microsoft.com/office/drawing/2014/main" id="{604A6D28-EF3F-B922-7DFC-8C7F0B8F2BD1}"/>
              </a:ext>
            </a:extLst>
          </p:cNvPr>
          <p:cNvSpPr/>
          <p:nvPr/>
        </p:nvSpPr>
        <p:spPr>
          <a:xfrm>
            <a:off x="6996502" y="4545163"/>
            <a:ext cx="532276" cy="2564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500" spc="100" dirty="0" err="1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ESXi</a:t>
            </a:r>
            <a:r>
              <a:rPr lang="en-US" sz="500" spc="100" dirty="0">
                <a:solidFill>
                  <a:schemeClr val="tx1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Host</a:t>
            </a:r>
          </a:p>
        </p:txBody>
      </p:sp>
      <p:grpSp>
        <p:nvGrpSpPr>
          <p:cNvPr id="2530" name="그룹 2529">
            <a:extLst>
              <a:ext uri="{FF2B5EF4-FFF2-40B4-BE49-F238E27FC236}">
                <a16:creationId xmlns:a16="http://schemas.microsoft.com/office/drawing/2014/main" id="{0FC9D45C-F307-0AD2-7127-D23D84B87BFA}"/>
              </a:ext>
            </a:extLst>
          </p:cNvPr>
          <p:cNvGrpSpPr>
            <a:grpSpLocks noChangeAspect="1"/>
          </p:cNvGrpSpPr>
          <p:nvPr/>
        </p:nvGrpSpPr>
        <p:grpSpPr>
          <a:xfrm>
            <a:off x="7073423" y="4687267"/>
            <a:ext cx="240630" cy="94042"/>
            <a:chOff x="8143395" y="2987969"/>
            <a:chExt cx="600854" cy="164611"/>
          </a:xfrm>
        </p:grpSpPr>
        <p:sp>
          <p:nvSpPr>
            <p:cNvPr id="2531" name="Picture Placeholder 77">
              <a:extLst>
                <a:ext uri="{FF2B5EF4-FFF2-40B4-BE49-F238E27FC236}">
                  <a16:creationId xmlns:a16="http://schemas.microsoft.com/office/drawing/2014/main" id="{83451F5B-ABA0-A607-F773-5906A66DB5AA}"/>
                </a:ext>
              </a:extLst>
            </p:cNvPr>
            <p:cNvSpPr/>
            <p:nvPr/>
          </p:nvSpPr>
          <p:spPr>
            <a:xfrm>
              <a:off x="8143395" y="2987969"/>
              <a:ext cx="600838" cy="16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32" name="Picture Placeholder 77" descr="Rack Server 2&#10;">
              <a:extLst>
                <a:ext uri="{FF2B5EF4-FFF2-40B4-BE49-F238E27FC236}">
                  <a16:creationId xmlns:a16="http://schemas.microsoft.com/office/drawing/2014/main" id="{371928A8-00BE-3E89-8DCC-F531E9A92133}"/>
                </a:ext>
              </a:extLst>
            </p:cNvPr>
            <p:cNvGrpSpPr/>
            <p:nvPr/>
          </p:nvGrpSpPr>
          <p:grpSpPr>
            <a:xfrm>
              <a:off x="8143412" y="2987969"/>
              <a:ext cx="600837" cy="164611"/>
              <a:chOff x="4485210" y="928983"/>
              <a:chExt cx="600837" cy="158115"/>
            </a:xfrm>
            <a:solidFill>
              <a:schemeClr val="tx1">
                <a:lumMod val="75000"/>
              </a:schemeClr>
            </a:solidFill>
          </p:grpSpPr>
          <p:grpSp>
            <p:nvGrpSpPr>
              <p:cNvPr id="2533" name="Picture Placeholder 77">
                <a:extLst>
                  <a:ext uri="{FF2B5EF4-FFF2-40B4-BE49-F238E27FC236}">
                    <a16:creationId xmlns:a16="http://schemas.microsoft.com/office/drawing/2014/main" id="{2376C469-5932-4C11-0E6E-8802999D8C46}"/>
                  </a:ext>
                </a:extLst>
              </p:cNvPr>
              <p:cNvGrpSpPr/>
              <p:nvPr/>
            </p:nvGrpSpPr>
            <p:grpSpPr>
              <a:xfrm>
                <a:off x="4485210" y="928983"/>
                <a:ext cx="600837" cy="158115"/>
                <a:chOff x="4485210" y="928983"/>
                <a:chExt cx="600837" cy="158115"/>
              </a:xfrm>
              <a:grpFill/>
            </p:grpSpPr>
            <p:sp>
              <p:nvSpPr>
                <p:cNvPr id="2535" name="Picture Placeholder 77">
                  <a:extLst>
                    <a:ext uri="{FF2B5EF4-FFF2-40B4-BE49-F238E27FC236}">
                      <a16:creationId xmlns:a16="http://schemas.microsoft.com/office/drawing/2014/main" id="{E992EBE5-EF06-5986-403A-59C0DE66FB0F}"/>
                    </a:ext>
                  </a:extLst>
                </p:cNvPr>
                <p:cNvSpPr/>
                <p:nvPr/>
              </p:nvSpPr>
              <p:spPr>
                <a:xfrm>
                  <a:off x="4485210" y="928983"/>
                  <a:ext cx="600837" cy="158115"/>
                </a:xfrm>
                <a:custGeom>
                  <a:avLst/>
                  <a:gdLst>
                    <a:gd name="connsiteX0" fmla="*/ 584393 w 600837"/>
                    <a:gd name="connsiteY0" fmla="*/ 15812 h 158115"/>
                    <a:gd name="connsiteX1" fmla="*/ 585026 w 600837"/>
                    <a:gd name="connsiteY1" fmla="*/ 142304 h 158115"/>
                    <a:gd name="connsiteX2" fmla="*/ 17076 w 600837"/>
                    <a:gd name="connsiteY2" fmla="*/ 142304 h 158115"/>
                    <a:gd name="connsiteX3" fmla="*/ 16444 w 600837"/>
                    <a:gd name="connsiteY3" fmla="*/ 15812 h 158115"/>
                    <a:gd name="connsiteX4" fmla="*/ 584393 w 600837"/>
                    <a:gd name="connsiteY4" fmla="*/ 15812 h 158115"/>
                    <a:gd name="connsiteX5" fmla="*/ 600205 w 600837"/>
                    <a:gd name="connsiteY5" fmla="*/ 0 h 158115"/>
                    <a:gd name="connsiteX6" fmla="*/ 0 w 600837"/>
                    <a:gd name="connsiteY6" fmla="*/ 0 h 158115"/>
                    <a:gd name="connsiteX7" fmla="*/ 632 w 600837"/>
                    <a:gd name="connsiteY7" fmla="*/ 158115 h 158115"/>
                    <a:gd name="connsiteX8" fmla="*/ 600837 w 600837"/>
                    <a:gd name="connsiteY8" fmla="*/ 158115 h 158115"/>
                    <a:gd name="connsiteX9" fmla="*/ 600205 w 600837"/>
                    <a:gd name="connsiteY9" fmla="*/ 0 h 158115"/>
                    <a:gd name="connsiteX10" fmla="*/ 600205 w 600837"/>
                    <a:gd name="connsiteY10" fmla="*/ 0 h 15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00837" h="158115">
                      <a:moveTo>
                        <a:pt x="584393" y="15812"/>
                      </a:moveTo>
                      <a:lnTo>
                        <a:pt x="585026" y="142304"/>
                      </a:lnTo>
                      <a:lnTo>
                        <a:pt x="17076" y="142304"/>
                      </a:lnTo>
                      <a:lnTo>
                        <a:pt x="16444" y="15812"/>
                      </a:lnTo>
                      <a:lnTo>
                        <a:pt x="584393" y="15812"/>
                      </a:lnTo>
                      <a:moveTo>
                        <a:pt x="600205" y="0"/>
                      </a:moveTo>
                      <a:lnTo>
                        <a:pt x="0" y="0"/>
                      </a:lnTo>
                      <a:lnTo>
                        <a:pt x="632" y="158115"/>
                      </a:lnTo>
                      <a:lnTo>
                        <a:pt x="600837" y="158115"/>
                      </a:lnTo>
                      <a:lnTo>
                        <a:pt x="600205" y="0"/>
                      </a:lnTo>
                      <a:lnTo>
                        <a:pt x="600205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grpSp>
              <p:nvGrpSpPr>
                <p:cNvPr id="2536" name="Picture Placeholder 77">
                  <a:extLst>
                    <a:ext uri="{FF2B5EF4-FFF2-40B4-BE49-F238E27FC236}">
                      <a16:creationId xmlns:a16="http://schemas.microsoft.com/office/drawing/2014/main" id="{69264F4E-69E1-4AF0-8F90-687EFCFBDE12}"/>
                    </a:ext>
                  </a:extLst>
                </p:cNvPr>
                <p:cNvGrpSpPr/>
                <p:nvPr/>
              </p:nvGrpSpPr>
              <p:grpSpPr>
                <a:xfrm>
                  <a:off x="4537072" y="976418"/>
                  <a:ext cx="110680" cy="63246"/>
                  <a:chOff x="4537072" y="976418"/>
                  <a:chExt cx="110680" cy="63246"/>
                </a:xfrm>
                <a:grpFill/>
              </p:grpSpPr>
              <p:sp>
                <p:nvSpPr>
                  <p:cNvPr id="2537" name="Picture Placeholder 77">
                    <a:extLst>
                      <a:ext uri="{FF2B5EF4-FFF2-40B4-BE49-F238E27FC236}">
                        <a16:creationId xmlns:a16="http://schemas.microsoft.com/office/drawing/2014/main" id="{5B749FB4-E3CF-012C-CF36-B58DDBACA6E0}"/>
                      </a:ext>
                    </a:extLst>
                  </p:cNvPr>
                  <p:cNvSpPr/>
                  <p:nvPr/>
                </p:nvSpPr>
                <p:spPr>
                  <a:xfrm>
                    <a:off x="4537072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538" name="Picture Placeholder 77">
                    <a:extLst>
                      <a:ext uri="{FF2B5EF4-FFF2-40B4-BE49-F238E27FC236}">
                        <a16:creationId xmlns:a16="http://schemas.microsoft.com/office/drawing/2014/main" id="{3D010CA9-4E21-70C4-61BE-E8DB984D141A}"/>
                      </a:ext>
                    </a:extLst>
                  </p:cNvPr>
                  <p:cNvSpPr/>
                  <p:nvPr/>
                </p:nvSpPr>
                <p:spPr>
                  <a:xfrm>
                    <a:off x="4568695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2 w 15811"/>
                      <a:gd name="connsiteY1" fmla="*/ 0 h 63246"/>
                      <a:gd name="connsiteX2" fmla="*/ 15812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2" y="0"/>
                        </a:lnTo>
                        <a:lnTo>
                          <a:pt x="15812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539" name="Picture Placeholder 77">
                    <a:extLst>
                      <a:ext uri="{FF2B5EF4-FFF2-40B4-BE49-F238E27FC236}">
                        <a16:creationId xmlns:a16="http://schemas.microsoft.com/office/drawing/2014/main" id="{875DD0BC-338F-D817-6080-FB738A46272D}"/>
                      </a:ext>
                    </a:extLst>
                  </p:cNvPr>
                  <p:cNvSpPr/>
                  <p:nvPr/>
                </p:nvSpPr>
                <p:spPr>
                  <a:xfrm>
                    <a:off x="4600318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sp>
                <p:nvSpPr>
                  <p:cNvPr id="2540" name="Picture Placeholder 77">
                    <a:extLst>
                      <a:ext uri="{FF2B5EF4-FFF2-40B4-BE49-F238E27FC236}">
                        <a16:creationId xmlns:a16="http://schemas.microsoft.com/office/drawing/2014/main" id="{148FD019-F233-F412-EEF4-C35DA78859A5}"/>
                      </a:ext>
                    </a:extLst>
                  </p:cNvPr>
                  <p:cNvSpPr/>
                  <p:nvPr/>
                </p:nvSpPr>
                <p:spPr>
                  <a:xfrm>
                    <a:off x="4631941" y="976418"/>
                    <a:ext cx="15811" cy="63246"/>
                  </a:xfrm>
                  <a:custGeom>
                    <a:avLst/>
                    <a:gdLst>
                      <a:gd name="connsiteX0" fmla="*/ 0 w 15811"/>
                      <a:gd name="connsiteY0" fmla="*/ 0 h 63246"/>
                      <a:gd name="connsiteX1" fmla="*/ 15811 w 15811"/>
                      <a:gd name="connsiteY1" fmla="*/ 0 h 63246"/>
                      <a:gd name="connsiteX2" fmla="*/ 15811 w 15811"/>
                      <a:gd name="connsiteY2" fmla="*/ 63246 h 63246"/>
                      <a:gd name="connsiteX3" fmla="*/ 0 w 15811"/>
                      <a:gd name="connsiteY3" fmla="*/ 63246 h 63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811" h="63246">
                        <a:moveTo>
                          <a:pt x="0" y="0"/>
                        </a:moveTo>
                        <a:lnTo>
                          <a:pt x="15811" y="0"/>
                        </a:lnTo>
                        <a:lnTo>
                          <a:pt x="15811" y="63246"/>
                        </a:lnTo>
                        <a:lnTo>
                          <a:pt x="0" y="63246"/>
                        </a:lnTo>
                        <a:close/>
                      </a:path>
                    </a:pathLst>
                  </a:custGeom>
                  <a:grpFill/>
                  <a:ln w="62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</p:grpSp>
          </p:grpSp>
          <p:sp>
            <p:nvSpPr>
              <p:cNvPr id="2534" name="Picture Placeholder 77">
                <a:extLst>
                  <a:ext uri="{FF2B5EF4-FFF2-40B4-BE49-F238E27FC236}">
                    <a16:creationId xmlns:a16="http://schemas.microsoft.com/office/drawing/2014/main" id="{2680C431-D1F1-87CD-042C-784C40ADC544}"/>
                  </a:ext>
                </a:extLst>
              </p:cNvPr>
              <p:cNvSpPr/>
              <p:nvPr/>
            </p:nvSpPr>
            <p:spPr>
              <a:xfrm>
                <a:off x="4991178" y="992229"/>
                <a:ext cx="31623" cy="31623"/>
              </a:xfrm>
              <a:custGeom>
                <a:avLst/>
                <a:gdLst>
                  <a:gd name="connsiteX0" fmla="*/ 31623 w 31623"/>
                  <a:gd name="connsiteY0" fmla="*/ 15811 h 31623"/>
                  <a:gd name="connsiteX1" fmla="*/ 15812 w 31623"/>
                  <a:gd name="connsiteY1" fmla="*/ 31623 h 31623"/>
                  <a:gd name="connsiteX2" fmla="*/ 0 w 31623"/>
                  <a:gd name="connsiteY2" fmla="*/ 15811 h 31623"/>
                  <a:gd name="connsiteX3" fmla="*/ 15812 w 31623"/>
                  <a:gd name="connsiteY3" fmla="*/ 0 h 31623"/>
                  <a:gd name="connsiteX4" fmla="*/ 31623 w 31623"/>
                  <a:gd name="connsiteY4" fmla="*/ 15811 h 31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23" h="31623">
                    <a:moveTo>
                      <a:pt x="31623" y="15811"/>
                    </a:moveTo>
                    <a:cubicBezTo>
                      <a:pt x="31623" y="24544"/>
                      <a:pt x="24544" y="31623"/>
                      <a:pt x="15812" y="31623"/>
                    </a:cubicBezTo>
                    <a:cubicBezTo>
                      <a:pt x="7079" y="31623"/>
                      <a:pt x="0" y="24544"/>
                      <a:pt x="0" y="15811"/>
                    </a:cubicBezTo>
                    <a:cubicBezTo>
                      <a:pt x="0" y="7079"/>
                      <a:pt x="7079" y="0"/>
                      <a:pt x="15812" y="0"/>
                    </a:cubicBezTo>
                    <a:cubicBezTo>
                      <a:pt x="24544" y="0"/>
                      <a:pt x="31623" y="7079"/>
                      <a:pt x="31623" y="15811"/>
                    </a:cubicBez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2541" name="직사각형 2540">
            <a:extLst>
              <a:ext uri="{FF2B5EF4-FFF2-40B4-BE49-F238E27FC236}">
                <a16:creationId xmlns:a16="http://schemas.microsoft.com/office/drawing/2014/main" id="{B92C1CE8-FAFC-7D34-4989-68A43736375D}"/>
              </a:ext>
            </a:extLst>
          </p:cNvPr>
          <p:cNvSpPr/>
          <p:nvPr/>
        </p:nvSpPr>
        <p:spPr>
          <a:xfrm>
            <a:off x="7349651" y="4659061"/>
            <a:ext cx="175607" cy="128676"/>
          </a:xfrm>
          <a:prstGeom prst="rect">
            <a:avLst/>
          </a:prstGeom>
          <a:noFill/>
          <a:ln w="12700" cmpd="sng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900" dirty="0">
              <a:solidFill>
                <a:schemeClr val="tx1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2542" name="그룹 2541">
            <a:extLst>
              <a:ext uri="{FF2B5EF4-FFF2-40B4-BE49-F238E27FC236}">
                <a16:creationId xmlns:a16="http://schemas.microsoft.com/office/drawing/2014/main" id="{D1BDCB20-AA0B-743A-120A-DE2F62D16594}"/>
              </a:ext>
            </a:extLst>
          </p:cNvPr>
          <p:cNvGrpSpPr>
            <a:grpSpLocks noChangeAspect="1"/>
          </p:cNvGrpSpPr>
          <p:nvPr/>
        </p:nvGrpSpPr>
        <p:grpSpPr>
          <a:xfrm>
            <a:off x="7262560" y="4362282"/>
            <a:ext cx="124071" cy="159622"/>
            <a:chOff x="6434980" y="855802"/>
            <a:chExt cx="600836" cy="600837"/>
          </a:xfrm>
        </p:grpSpPr>
        <p:sp>
          <p:nvSpPr>
            <p:cNvPr id="2543" name="Picture Placeholder 77">
              <a:extLst>
                <a:ext uri="{FF2B5EF4-FFF2-40B4-BE49-F238E27FC236}">
                  <a16:creationId xmlns:a16="http://schemas.microsoft.com/office/drawing/2014/main" id="{444D13B9-ACE5-8465-0D56-1B2253B36521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44" name="Picture Placeholder 104" descr="Virtual Machine&#10;">
              <a:extLst>
                <a:ext uri="{FF2B5EF4-FFF2-40B4-BE49-F238E27FC236}">
                  <a16:creationId xmlns:a16="http://schemas.microsoft.com/office/drawing/2014/main" id="{E2C83DD6-D42A-841B-A4FA-6E9174486072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545" name="Picture Placeholder 104">
                <a:extLst>
                  <a:ext uri="{FF2B5EF4-FFF2-40B4-BE49-F238E27FC236}">
                    <a16:creationId xmlns:a16="http://schemas.microsoft.com/office/drawing/2014/main" id="{12E445E3-E60E-9093-9CEB-726308BE398A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546" name="Picture Placeholder 104">
                <a:extLst>
                  <a:ext uri="{FF2B5EF4-FFF2-40B4-BE49-F238E27FC236}">
                    <a16:creationId xmlns:a16="http://schemas.microsoft.com/office/drawing/2014/main" id="{4E0C3A03-45D5-D50E-BB44-D1468F59FA58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547" name="Picture Placeholder 104">
                  <a:extLst>
                    <a:ext uri="{FF2B5EF4-FFF2-40B4-BE49-F238E27FC236}">
                      <a16:creationId xmlns:a16="http://schemas.microsoft.com/office/drawing/2014/main" id="{85E52349-D17D-C282-98CA-CEBB993F67EC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548" name="Picture Placeholder 104">
                  <a:extLst>
                    <a:ext uri="{FF2B5EF4-FFF2-40B4-BE49-F238E27FC236}">
                      <a16:creationId xmlns:a16="http://schemas.microsoft.com/office/drawing/2014/main" id="{3E73E09D-C21C-46FE-DE55-2F2723F18684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grpSp>
        <p:nvGrpSpPr>
          <p:cNvPr id="2549" name="그룹 2548">
            <a:extLst>
              <a:ext uri="{FF2B5EF4-FFF2-40B4-BE49-F238E27FC236}">
                <a16:creationId xmlns:a16="http://schemas.microsoft.com/office/drawing/2014/main" id="{4C759E3F-6E02-E2A6-5921-DED8AF7BFCEE}"/>
              </a:ext>
            </a:extLst>
          </p:cNvPr>
          <p:cNvGrpSpPr>
            <a:grpSpLocks noChangeAspect="1"/>
          </p:cNvGrpSpPr>
          <p:nvPr/>
        </p:nvGrpSpPr>
        <p:grpSpPr>
          <a:xfrm>
            <a:off x="7395955" y="4362282"/>
            <a:ext cx="124071" cy="159622"/>
            <a:chOff x="6434980" y="855802"/>
            <a:chExt cx="600836" cy="600837"/>
          </a:xfrm>
        </p:grpSpPr>
        <p:sp>
          <p:nvSpPr>
            <p:cNvPr id="2550" name="Picture Placeholder 77">
              <a:extLst>
                <a:ext uri="{FF2B5EF4-FFF2-40B4-BE49-F238E27FC236}">
                  <a16:creationId xmlns:a16="http://schemas.microsoft.com/office/drawing/2014/main" id="{8578ECF0-C60F-818C-4C86-9682A95C8B4A}"/>
                </a:ext>
              </a:extLst>
            </p:cNvPr>
            <p:cNvSpPr/>
            <p:nvPr/>
          </p:nvSpPr>
          <p:spPr>
            <a:xfrm>
              <a:off x="6446824" y="861677"/>
              <a:ext cx="588992" cy="5949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27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51" name="Picture Placeholder 104" descr="Virtual Machine&#10;">
              <a:extLst>
                <a:ext uri="{FF2B5EF4-FFF2-40B4-BE49-F238E27FC236}">
                  <a16:creationId xmlns:a16="http://schemas.microsoft.com/office/drawing/2014/main" id="{12A194EB-1BAD-3398-4A92-D22EBD05B392}"/>
                </a:ext>
              </a:extLst>
            </p:cNvPr>
            <p:cNvGrpSpPr/>
            <p:nvPr/>
          </p:nvGrpSpPr>
          <p:grpSpPr>
            <a:xfrm>
              <a:off x="6434980" y="855802"/>
              <a:ext cx="600836" cy="600837"/>
              <a:chOff x="5798589" y="1951740"/>
              <a:chExt cx="600836" cy="600837"/>
            </a:xfrm>
            <a:solidFill>
              <a:schemeClr val="tx1">
                <a:lumMod val="50000"/>
              </a:schemeClr>
            </a:solidFill>
          </p:grpSpPr>
          <p:sp>
            <p:nvSpPr>
              <p:cNvPr id="2552" name="Picture Placeholder 104">
                <a:extLst>
                  <a:ext uri="{FF2B5EF4-FFF2-40B4-BE49-F238E27FC236}">
                    <a16:creationId xmlns:a16="http://schemas.microsoft.com/office/drawing/2014/main" id="{5BCA2A24-13F4-A4ED-A30D-0C50D99AE02B}"/>
                  </a:ext>
                </a:extLst>
              </p:cNvPr>
              <p:cNvSpPr/>
              <p:nvPr/>
            </p:nvSpPr>
            <p:spPr>
              <a:xfrm>
                <a:off x="5798589" y="1951740"/>
                <a:ext cx="600836" cy="600837"/>
              </a:xfrm>
              <a:custGeom>
                <a:avLst/>
                <a:gdLst>
                  <a:gd name="connsiteX0" fmla="*/ 514822 w 600836"/>
                  <a:gd name="connsiteY0" fmla="*/ 600837 h 600837"/>
                  <a:gd name="connsiteX1" fmla="*/ 0 w 600836"/>
                  <a:gd name="connsiteY1" fmla="*/ 600837 h 600837"/>
                  <a:gd name="connsiteX2" fmla="*/ 0 w 600836"/>
                  <a:gd name="connsiteY2" fmla="*/ 0 h 600837"/>
                  <a:gd name="connsiteX3" fmla="*/ 600837 w 600836"/>
                  <a:gd name="connsiteY3" fmla="*/ 0 h 600837"/>
                  <a:gd name="connsiteX4" fmla="*/ 600837 w 600836"/>
                  <a:gd name="connsiteY4" fmla="*/ 595777 h 600837"/>
                  <a:gd name="connsiteX5" fmla="*/ 585026 w 600836"/>
                  <a:gd name="connsiteY5" fmla="*/ 595777 h 600837"/>
                  <a:gd name="connsiteX6" fmla="*/ 585026 w 600836"/>
                  <a:gd name="connsiteY6" fmla="*/ 15812 h 600837"/>
                  <a:gd name="connsiteX7" fmla="*/ 15812 w 600836"/>
                  <a:gd name="connsiteY7" fmla="*/ 15812 h 600837"/>
                  <a:gd name="connsiteX8" fmla="*/ 15812 w 600836"/>
                  <a:gd name="connsiteY8" fmla="*/ 585026 h 600837"/>
                  <a:gd name="connsiteX9" fmla="*/ 514822 w 600836"/>
                  <a:gd name="connsiteY9" fmla="*/ 585026 h 60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0836" h="600837">
                    <a:moveTo>
                      <a:pt x="514822" y="600837"/>
                    </a:moveTo>
                    <a:lnTo>
                      <a:pt x="0" y="600837"/>
                    </a:lnTo>
                    <a:lnTo>
                      <a:pt x="0" y="0"/>
                    </a:lnTo>
                    <a:lnTo>
                      <a:pt x="600837" y="0"/>
                    </a:lnTo>
                    <a:lnTo>
                      <a:pt x="600837" y="595777"/>
                    </a:lnTo>
                    <a:lnTo>
                      <a:pt x="585026" y="595777"/>
                    </a:lnTo>
                    <a:lnTo>
                      <a:pt x="585026" y="15812"/>
                    </a:lnTo>
                    <a:lnTo>
                      <a:pt x="15812" y="15812"/>
                    </a:lnTo>
                    <a:lnTo>
                      <a:pt x="15812" y="585026"/>
                    </a:lnTo>
                    <a:lnTo>
                      <a:pt x="514822" y="585026"/>
                    </a:lnTo>
                    <a:close/>
                  </a:path>
                </a:pathLst>
              </a:custGeom>
              <a:grpFill/>
              <a:ln w="6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553" name="Picture Placeholder 104">
                <a:extLst>
                  <a:ext uri="{FF2B5EF4-FFF2-40B4-BE49-F238E27FC236}">
                    <a16:creationId xmlns:a16="http://schemas.microsoft.com/office/drawing/2014/main" id="{BA8CA76C-1D21-84A3-04EC-3F278AE707CB}"/>
                  </a:ext>
                </a:extLst>
              </p:cNvPr>
              <p:cNvGrpSpPr/>
              <p:nvPr/>
            </p:nvGrpSpPr>
            <p:grpSpPr>
              <a:xfrm>
                <a:off x="5978207" y="2214844"/>
                <a:ext cx="220729" cy="84117"/>
                <a:chOff x="5978207" y="2214844"/>
                <a:chExt cx="220729" cy="84117"/>
              </a:xfrm>
              <a:grpFill/>
            </p:grpSpPr>
            <p:sp>
              <p:nvSpPr>
                <p:cNvPr id="2554" name="Picture Placeholder 104">
                  <a:extLst>
                    <a:ext uri="{FF2B5EF4-FFF2-40B4-BE49-F238E27FC236}">
                      <a16:creationId xmlns:a16="http://schemas.microsoft.com/office/drawing/2014/main" id="{7242243F-88CA-3E6B-94C5-D06F5C6DD367}"/>
                    </a:ext>
                  </a:extLst>
                </p:cNvPr>
                <p:cNvSpPr/>
                <p:nvPr/>
              </p:nvSpPr>
              <p:spPr>
                <a:xfrm>
                  <a:off x="5978207" y="2216741"/>
                  <a:ext cx="80322" cy="81587"/>
                </a:xfrm>
                <a:custGeom>
                  <a:avLst/>
                  <a:gdLst>
                    <a:gd name="connsiteX0" fmla="*/ 0 w 80322"/>
                    <a:gd name="connsiteY0" fmla="*/ 0 h 81587"/>
                    <a:gd name="connsiteX1" fmla="*/ 13282 w 80322"/>
                    <a:gd name="connsiteY1" fmla="*/ 0 h 81587"/>
                    <a:gd name="connsiteX2" fmla="*/ 40477 w 80322"/>
                    <a:gd name="connsiteY2" fmla="*/ 67673 h 81587"/>
                    <a:gd name="connsiteX3" fmla="*/ 67041 w 80322"/>
                    <a:gd name="connsiteY3" fmla="*/ 0 h 81587"/>
                    <a:gd name="connsiteX4" fmla="*/ 80322 w 80322"/>
                    <a:gd name="connsiteY4" fmla="*/ 0 h 81587"/>
                    <a:gd name="connsiteX5" fmla="*/ 46170 w 80322"/>
                    <a:gd name="connsiteY5" fmla="*/ 81587 h 81587"/>
                    <a:gd name="connsiteX6" fmla="*/ 34785 w 80322"/>
                    <a:gd name="connsiteY6" fmla="*/ 81587 h 81587"/>
                    <a:gd name="connsiteX7" fmla="*/ 0 w 80322"/>
                    <a:gd name="connsiteY7" fmla="*/ 0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0322" h="81587">
                      <a:moveTo>
                        <a:pt x="0" y="0"/>
                      </a:moveTo>
                      <a:lnTo>
                        <a:pt x="13282" y="0"/>
                      </a:lnTo>
                      <a:lnTo>
                        <a:pt x="40477" y="67673"/>
                      </a:lnTo>
                      <a:lnTo>
                        <a:pt x="67041" y="0"/>
                      </a:lnTo>
                      <a:lnTo>
                        <a:pt x="80322" y="0"/>
                      </a:lnTo>
                      <a:lnTo>
                        <a:pt x="46170" y="81587"/>
                      </a:lnTo>
                      <a:lnTo>
                        <a:pt x="34785" y="815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2555" name="Picture Placeholder 104">
                  <a:extLst>
                    <a:ext uri="{FF2B5EF4-FFF2-40B4-BE49-F238E27FC236}">
                      <a16:creationId xmlns:a16="http://schemas.microsoft.com/office/drawing/2014/main" id="{A39EF817-85B3-1A9B-0880-A12E14F4B029}"/>
                    </a:ext>
                  </a:extLst>
                </p:cNvPr>
                <p:cNvSpPr/>
                <p:nvPr/>
              </p:nvSpPr>
              <p:spPr>
                <a:xfrm>
                  <a:off x="6081931" y="2214844"/>
                  <a:ext cx="117005" cy="84117"/>
                </a:xfrm>
                <a:custGeom>
                  <a:avLst/>
                  <a:gdLst>
                    <a:gd name="connsiteX0" fmla="*/ 103091 w 117005"/>
                    <a:gd name="connsiteY0" fmla="*/ 4427 h 84117"/>
                    <a:gd name="connsiteX1" fmla="*/ 113210 w 117005"/>
                    <a:gd name="connsiteY1" fmla="*/ 15812 h 84117"/>
                    <a:gd name="connsiteX2" fmla="*/ 117005 w 117005"/>
                    <a:gd name="connsiteY2" fmla="*/ 32255 h 84117"/>
                    <a:gd name="connsiteX3" fmla="*/ 117005 w 117005"/>
                    <a:gd name="connsiteY3" fmla="*/ 84117 h 84117"/>
                    <a:gd name="connsiteX4" fmla="*/ 104988 w 117005"/>
                    <a:gd name="connsiteY4" fmla="*/ 84117 h 84117"/>
                    <a:gd name="connsiteX5" fmla="*/ 104988 w 117005"/>
                    <a:gd name="connsiteY5" fmla="*/ 33520 h 84117"/>
                    <a:gd name="connsiteX6" fmla="*/ 99929 w 117005"/>
                    <a:gd name="connsiteY6" fmla="*/ 17076 h 84117"/>
                    <a:gd name="connsiteX7" fmla="*/ 86647 w 117005"/>
                    <a:gd name="connsiteY7" fmla="*/ 10752 h 84117"/>
                    <a:gd name="connsiteX8" fmla="*/ 70836 w 117005"/>
                    <a:gd name="connsiteY8" fmla="*/ 16444 h 84117"/>
                    <a:gd name="connsiteX9" fmla="*/ 64511 w 117005"/>
                    <a:gd name="connsiteY9" fmla="*/ 31623 h 84117"/>
                    <a:gd name="connsiteX10" fmla="*/ 64511 w 117005"/>
                    <a:gd name="connsiteY10" fmla="*/ 83485 h 84117"/>
                    <a:gd name="connsiteX11" fmla="*/ 52494 w 117005"/>
                    <a:gd name="connsiteY11" fmla="*/ 83485 h 84117"/>
                    <a:gd name="connsiteX12" fmla="*/ 52494 w 117005"/>
                    <a:gd name="connsiteY12" fmla="*/ 32888 h 84117"/>
                    <a:gd name="connsiteX13" fmla="*/ 47435 w 117005"/>
                    <a:gd name="connsiteY13" fmla="*/ 16444 h 84117"/>
                    <a:gd name="connsiteX14" fmla="*/ 34153 w 117005"/>
                    <a:gd name="connsiteY14" fmla="*/ 10119 h 84117"/>
                    <a:gd name="connsiteX15" fmla="*/ 18341 w 117005"/>
                    <a:gd name="connsiteY15" fmla="*/ 15812 h 84117"/>
                    <a:gd name="connsiteX16" fmla="*/ 12017 w 117005"/>
                    <a:gd name="connsiteY16" fmla="*/ 30991 h 84117"/>
                    <a:gd name="connsiteX17" fmla="*/ 12017 w 117005"/>
                    <a:gd name="connsiteY17" fmla="*/ 82852 h 84117"/>
                    <a:gd name="connsiteX18" fmla="*/ 0 w 117005"/>
                    <a:gd name="connsiteY18" fmla="*/ 82852 h 84117"/>
                    <a:gd name="connsiteX19" fmla="*/ 0 w 117005"/>
                    <a:gd name="connsiteY19" fmla="*/ 1897 h 84117"/>
                    <a:gd name="connsiteX20" fmla="*/ 12017 w 117005"/>
                    <a:gd name="connsiteY20" fmla="*/ 1897 h 84117"/>
                    <a:gd name="connsiteX21" fmla="*/ 12017 w 117005"/>
                    <a:gd name="connsiteY21" fmla="*/ 13914 h 84117"/>
                    <a:gd name="connsiteX22" fmla="*/ 21504 w 117005"/>
                    <a:gd name="connsiteY22" fmla="*/ 3795 h 84117"/>
                    <a:gd name="connsiteX23" fmla="*/ 36050 w 117005"/>
                    <a:gd name="connsiteY23" fmla="*/ 0 h 84117"/>
                    <a:gd name="connsiteX24" fmla="*/ 53127 w 117005"/>
                    <a:gd name="connsiteY24" fmla="*/ 5060 h 84117"/>
                    <a:gd name="connsiteX25" fmla="*/ 63246 w 117005"/>
                    <a:gd name="connsiteY25" fmla="*/ 18974 h 84117"/>
                    <a:gd name="connsiteX26" fmla="*/ 72100 w 117005"/>
                    <a:gd name="connsiteY26" fmla="*/ 5060 h 84117"/>
                    <a:gd name="connsiteX27" fmla="*/ 88544 w 117005"/>
                    <a:gd name="connsiteY27" fmla="*/ 0 h 84117"/>
                    <a:gd name="connsiteX28" fmla="*/ 103091 w 117005"/>
                    <a:gd name="connsiteY28" fmla="*/ 4427 h 84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17005" h="84117">
                      <a:moveTo>
                        <a:pt x="103091" y="4427"/>
                      </a:moveTo>
                      <a:cubicBezTo>
                        <a:pt x="107518" y="6957"/>
                        <a:pt x="110681" y="10752"/>
                        <a:pt x="113210" y="15812"/>
                      </a:cubicBezTo>
                      <a:cubicBezTo>
                        <a:pt x="115740" y="20871"/>
                        <a:pt x="117005" y="25931"/>
                        <a:pt x="117005" y="32255"/>
                      </a:cubicBezTo>
                      <a:lnTo>
                        <a:pt x="117005" y="84117"/>
                      </a:lnTo>
                      <a:lnTo>
                        <a:pt x="104988" y="84117"/>
                      </a:lnTo>
                      <a:lnTo>
                        <a:pt x="104988" y="33520"/>
                      </a:lnTo>
                      <a:cubicBezTo>
                        <a:pt x="104988" y="26563"/>
                        <a:pt x="103091" y="21504"/>
                        <a:pt x="99929" y="17076"/>
                      </a:cubicBezTo>
                      <a:cubicBezTo>
                        <a:pt x="96134" y="12649"/>
                        <a:pt x="91707" y="10752"/>
                        <a:pt x="86647" y="10752"/>
                      </a:cubicBezTo>
                      <a:cubicBezTo>
                        <a:pt x="80322" y="10752"/>
                        <a:pt x="74630" y="12649"/>
                        <a:pt x="70836" y="16444"/>
                      </a:cubicBezTo>
                      <a:cubicBezTo>
                        <a:pt x="67041" y="20239"/>
                        <a:pt x="64511" y="25298"/>
                        <a:pt x="64511" y="31623"/>
                      </a:cubicBezTo>
                      <a:lnTo>
                        <a:pt x="64511" y="83485"/>
                      </a:lnTo>
                      <a:lnTo>
                        <a:pt x="52494" y="83485"/>
                      </a:lnTo>
                      <a:lnTo>
                        <a:pt x="52494" y="32888"/>
                      </a:lnTo>
                      <a:cubicBezTo>
                        <a:pt x="52494" y="25931"/>
                        <a:pt x="50597" y="20871"/>
                        <a:pt x="47435" y="16444"/>
                      </a:cubicBezTo>
                      <a:cubicBezTo>
                        <a:pt x="43640" y="12017"/>
                        <a:pt x="39213" y="10119"/>
                        <a:pt x="34153" y="10119"/>
                      </a:cubicBezTo>
                      <a:cubicBezTo>
                        <a:pt x="27828" y="10119"/>
                        <a:pt x="22136" y="12017"/>
                        <a:pt x="18341" y="15812"/>
                      </a:cubicBezTo>
                      <a:cubicBezTo>
                        <a:pt x="14547" y="19606"/>
                        <a:pt x="12017" y="24666"/>
                        <a:pt x="12017" y="30991"/>
                      </a:cubicBezTo>
                      <a:lnTo>
                        <a:pt x="12017" y="82852"/>
                      </a:lnTo>
                      <a:lnTo>
                        <a:pt x="0" y="82852"/>
                      </a:lnTo>
                      <a:lnTo>
                        <a:pt x="0" y="1897"/>
                      </a:lnTo>
                      <a:lnTo>
                        <a:pt x="12017" y="1897"/>
                      </a:lnTo>
                      <a:lnTo>
                        <a:pt x="12017" y="13914"/>
                      </a:lnTo>
                      <a:cubicBezTo>
                        <a:pt x="13914" y="9487"/>
                        <a:pt x="17076" y="6325"/>
                        <a:pt x="21504" y="3795"/>
                      </a:cubicBezTo>
                      <a:cubicBezTo>
                        <a:pt x="25931" y="1265"/>
                        <a:pt x="30358" y="0"/>
                        <a:pt x="36050" y="0"/>
                      </a:cubicBezTo>
                      <a:cubicBezTo>
                        <a:pt x="42375" y="0"/>
                        <a:pt x="48067" y="1897"/>
                        <a:pt x="53127" y="5060"/>
                      </a:cubicBezTo>
                      <a:cubicBezTo>
                        <a:pt x="58186" y="8854"/>
                        <a:pt x="61349" y="13282"/>
                        <a:pt x="63246" y="18974"/>
                      </a:cubicBezTo>
                      <a:cubicBezTo>
                        <a:pt x="64511" y="13282"/>
                        <a:pt x="67673" y="8222"/>
                        <a:pt x="72100" y="5060"/>
                      </a:cubicBezTo>
                      <a:cubicBezTo>
                        <a:pt x="76528" y="1265"/>
                        <a:pt x="82220" y="0"/>
                        <a:pt x="88544" y="0"/>
                      </a:cubicBezTo>
                      <a:cubicBezTo>
                        <a:pt x="93604" y="0"/>
                        <a:pt x="98664" y="1265"/>
                        <a:pt x="103091" y="4427"/>
                      </a:cubicBezTo>
                      <a:close/>
                    </a:path>
                  </a:pathLst>
                </a:custGeom>
                <a:grpFill/>
                <a:ln w="62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  <p:pic>
        <p:nvPicPr>
          <p:cNvPr id="2556" name="Google Shape;1155;p37">
            <a:extLst>
              <a:ext uri="{FF2B5EF4-FFF2-40B4-BE49-F238E27FC236}">
                <a16:creationId xmlns:a16="http://schemas.microsoft.com/office/drawing/2014/main" id="{C2D4EF4B-D3ED-FE81-2ECE-A6BA4DBC98D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0845" y="4956319"/>
            <a:ext cx="111071" cy="1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7" name="Google Shape;1155;p37">
            <a:extLst>
              <a:ext uri="{FF2B5EF4-FFF2-40B4-BE49-F238E27FC236}">
                <a16:creationId xmlns:a16="http://schemas.microsoft.com/office/drawing/2014/main" id="{893C6036-C2DC-FAB1-3516-3A4A4B22015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138690" y="4918385"/>
            <a:ext cx="111071" cy="134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8" name="그룹 2557">
            <a:extLst>
              <a:ext uri="{FF2B5EF4-FFF2-40B4-BE49-F238E27FC236}">
                <a16:creationId xmlns:a16="http://schemas.microsoft.com/office/drawing/2014/main" id="{D6D3EFC2-0B95-FA94-F88D-218F2614BE66}"/>
              </a:ext>
            </a:extLst>
          </p:cNvPr>
          <p:cNvGrpSpPr/>
          <p:nvPr/>
        </p:nvGrpSpPr>
        <p:grpSpPr>
          <a:xfrm>
            <a:off x="6971337" y="3894110"/>
            <a:ext cx="578311" cy="286718"/>
            <a:chOff x="7196005" y="3909292"/>
            <a:chExt cx="596924" cy="305852"/>
          </a:xfrm>
        </p:grpSpPr>
        <p:sp>
          <p:nvSpPr>
            <p:cNvPr id="2559" name="Google Shape;945;g2872d9e35e1_4_15">
              <a:extLst>
                <a:ext uri="{FF2B5EF4-FFF2-40B4-BE49-F238E27FC236}">
                  <a16:creationId xmlns:a16="http://schemas.microsoft.com/office/drawing/2014/main" id="{E529979D-824D-57EE-2A6A-701DAEC075FC}"/>
                </a:ext>
              </a:extLst>
            </p:cNvPr>
            <p:cNvSpPr/>
            <p:nvPr/>
          </p:nvSpPr>
          <p:spPr>
            <a:xfrm>
              <a:off x="7196005" y="3909292"/>
              <a:ext cx="271696" cy="305852"/>
            </a:xfrm>
            <a:prstGeom prst="rect">
              <a:avLst/>
            </a:prstGeom>
            <a:solidFill>
              <a:srgbClr val="007B8C">
                <a:alpha val="20000"/>
              </a:srgb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  <p:sp>
          <p:nvSpPr>
            <p:cNvPr id="2560" name="Google Shape;945;g2872d9e35e1_4_15">
              <a:extLst>
                <a:ext uri="{FF2B5EF4-FFF2-40B4-BE49-F238E27FC236}">
                  <a16:creationId xmlns:a16="http://schemas.microsoft.com/office/drawing/2014/main" id="{326C131E-92CD-A49F-0863-5BC675A11266}"/>
                </a:ext>
              </a:extLst>
            </p:cNvPr>
            <p:cNvSpPr/>
            <p:nvPr/>
          </p:nvSpPr>
          <p:spPr>
            <a:xfrm>
              <a:off x="7521233" y="3909292"/>
              <a:ext cx="271696" cy="305852"/>
            </a:xfrm>
            <a:prstGeom prst="rect">
              <a:avLst/>
            </a:prstGeom>
            <a:solidFill>
              <a:srgbClr val="E8F1F6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algn="ctr"/>
              <a:r>
                <a:rPr lang="en-US" sz="6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Cloud Proxy</a:t>
              </a:r>
            </a:p>
          </p:txBody>
        </p:sp>
      </p:grpSp>
      <p:cxnSp>
        <p:nvCxnSpPr>
          <p:cNvPr id="2561" name="연결선: 구부러짐 272">
            <a:extLst>
              <a:ext uri="{FF2B5EF4-FFF2-40B4-BE49-F238E27FC236}">
                <a16:creationId xmlns:a16="http://schemas.microsoft.com/office/drawing/2014/main" id="{28AA8818-2A84-F521-8089-C0F8C080FAD1}"/>
              </a:ext>
            </a:extLst>
          </p:cNvPr>
          <p:cNvCxnSpPr>
            <a:cxnSpLocks/>
          </p:cNvCxnSpPr>
          <p:nvPr/>
        </p:nvCxnSpPr>
        <p:spPr>
          <a:xfrm flipV="1">
            <a:off x="7260370" y="4178285"/>
            <a:ext cx="0" cy="107243"/>
          </a:xfrm>
          <a:prstGeom prst="straightConnector1">
            <a:avLst/>
          </a:prstGeom>
          <a:ln w="6350">
            <a:solidFill>
              <a:schemeClr val="tx2">
                <a:lumMod val="25000"/>
              </a:schemeClr>
            </a:solidFill>
            <a:prstDash val="solid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9FC1A17D-FCB0-B353-7266-693191A9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1. Global View 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대시보드 개요 </a:t>
            </a:r>
            <a:endParaRPr lang="en-US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9638DB-9984-F2EF-D6D2-B97645FE5A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분산된 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vCenter Server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에서 운영되고 있는 인프라 자원의 상태 정보를 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Aria Operations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가</a:t>
            </a:r>
            <a:endParaRPr lang="en-US" altLang="ko-KR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수집하여 단일 대시보드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(SPOG)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와 리포트로 통합 관리할 수 있게 합니다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endParaRPr lang="en-US" altLang="ko-KR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EBBDAFC-B58E-6971-D528-161D9DB1F091}"/>
              </a:ext>
            </a:extLst>
          </p:cNvPr>
          <p:cNvSpPr/>
          <p:nvPr/>
        </p:nvSpPr>
        <p:spPr>
          <a:xfrm>
            <a:off x="8902700" y="1600200"/>
            <a:ext cx="2697024" cy="4572000"/>
          </a:xfrm>
          <a:prstGeom prst="rect">
            <a:avLst/>
          </a:prstGeom>
          <a:noFill/>
          <a:ln w="635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36000" rtlCol="0" anchor="t"/>
          <a:lstStyle/>
          <a:p>
            <a:pPr marL="180975" indent="-180975">
              <a:spcBef>
                <a:spcPts val="600"/>
              </a:spcBef>
              <a:buFont typeface="Wingdings" panose="05000000000000000000" pitchFamily="2" charset="2"/>
              <a:buChar char="q"/>
              <a:tabLst>
                <a:tab pos="180975" algn="l"/>
              </a:tabLst>
            </a:pPr>
            <a:r>
              <a:rPr lang="en-US" altLang="ko-KR" sz="1000" b="1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Global Aria Operations</a:t>
            </a: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원격지에 설치된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Cloud Proxy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를 통해 인프라 성능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,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용량 </a:t>
            </a:r>
            <a:r>
              <a:rPr lang="ko-KR" altLang="en-US" sz="1000" dirty="0" err="1">
                <a:solidFill>
                  <a:schemeClr val="tx2">
                    <a:lumMod val="10000"/>
                  </a:schemeClr>
                </a:solidFill>
                <a:latin typeface="+mj-ea"/>
              </a:rPr>
              <a:t>메트릭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 수집</a:t>
            </a: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 통합 대시보드 기능 제공</a:t>
            </a:r>
            <a:b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</a:b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-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인벤토리 관리</a:t>
            </a:r>
            <a:b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</a:b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-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인프라 용량 상태 관리</a:t>
            </a:r>
            <a:b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</a:b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-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인프라 성능 상태 관리</a:t>
            </a:r>
            <a:b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</a:b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- VM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 상태 관리</a:t>
            </a: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정기 리포트 생성</a:t>
            </a: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이상 상태 감지 시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Alert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전송</a:t>
            </a: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177800" lvl="1">
              <a:spcBef>
                <a:spcPts val="600"/>
              </a:spcBef>
              <a:tabLst>
                <a:tab pos="180975" algn="l"/>
                <a:tab pos="266700" algn="l"/>
              </a:tabLst>
            </a:pP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180975" marR="0" lvl="0" indent="-180975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>
                <a:tab pos="180975" algn="l"/>
              </a:tabLst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10000"/>
                  </a:srgbClr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  <a:sym typeface="Arial"/>
              </a:rPr>
              <a:t>Global Aria Operations </a:t>
            </a:r>
            <a:r>
              <a:rPr lang="en-US" altLang="ko-KR" sz="1000" b="1" dirty="0">
                <a:solidFill>
                  <a:srgbClr val="F2F2F2">
                    <a:lumMod val="10000"/>
                  </a:srgb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for</a:t>
            </a:r>
            <a:r>
              <a:rPr lang="ko-KR" altLang="en-US" sz="1000" b="1" dirty="0">
                <a:solidFill>
                  <a:srgbClr val="F2F2F2">
                    <a:lumMod val="10000"/>
                  </a:srgb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000" b="1" dirty="0">
                <a:solidFill>
                  <a:srgbClr val="F2F2F2">
                    <a:lumMod val="10000"/>
                  </a:srgb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logs</a:t>
            </a:r>
            <a:endParaRPr kumimoji="0" lang="en-US" altLang="ko-KR" sz="1000" b="1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10000"/>
                </a:srgbClr>
              </a:solidFill>
              <a:effectLst/>
              <a:uLnTx/>
              <a:uFillTx/>
              <a:latin typeface="맑은 고딕" panose="020B0503020000020004" pitchFamily="34" charset="-127"/>
              <a:ea typeface="맑은 고딕" panose="020B0503020000020004" pitchFamily="34" charset="-127"/>
              <a:cs typeface="+mn-cs"/>
              <a:sym typeface="Arial"/>
            </a:endParaRP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원격지에 설치된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Cloud Proxy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를 통해 원격지 서버 로그 수집 중앙화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(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필요 시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Cloud Proxy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대신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Aria Ops for log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가 설치 될 수도 있음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)</a:t>
            </a: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로그 발생 패턴 대시보드 시각화</a:t>
            </a: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266700" lvl="1" indent="-88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80975" algn="l"/>
                <a:tab pos="266700" algn="l"/>
              </a:tabLst>
            </a:pP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이상 로그 발생 시 </a:t>
            </a:r>
            <a:r>
              <a:rPr lang="en-US" altLang="ko-KR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Alert </a:t>
            </a:r>
            <a:r>
              <a:rPr lang="ko-KR" altLang="en-US" sz="1000" dirty="0">
                <a:solidFill>
                  <a:schemeClr val="tx2">
                    <a:lumMod val="10000"/>
                  </a:schemeClr>
                </a:solidFill>
                <a:latin typeface="+mj-ea"/>
              </a:rPr>
              <a:t>전송</a:t>
            </a: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  <a:p>
            <a:pPr marL="177800" lvl="1">
              <a:spcBef>
                <a:spcPts val="600"/>
              </a:spcBef>
              <a:tabLst>
                <a:tab pos="180975" algn="l"/>
                <a:tab pos="266700" algn="l"/>
              </a:tabLst>
            </a:pPr>
            <a:endParaRPr lang="en-US" altLang="ko-KR" sz="1000" dirty="0">
              <a:solidFill>
                <a:schemeClr val="tx2">
                  <a:lumMod val="10000"/>
                </a:schemeClr>
              </a:solidFill>
              <a:latin typeface="+mj-ea"/>
            </a:endParaRPr>
          </a:p>
        </p:txBody>
      </p:sp>
      <p:sp>
        <p:nvSpPr>
          <p:cNvPr id="80" name="Google Shape;1242;g2872d9e35e1_4_25">
            <a:extLst>
              <a:ext uri="{FF2B5EF4-FFF2-40B4-BE49-F238E27FC236}">
                <a16:creationId xmlns:a16="http://schemas.microsoft.com/office/drawing/2014/main" id="{C9A4A0BD-F47D-4DD4-EC84-81B4F5A05283}"/>
              </a:ext>
            </a:extLst>
          </p:cNvPr>
          <p:cNvSpPr/>
          <p:nvPr/>
        </p:nvSpPr>
        <p:spPr>
          <a:xfrm>
            <a:off x="592138" y="1603816"/>
            <a:ext cx="8202612" cy="4568384"/>
          </a:xfrm>
          <a:prstGeom prst="rect">
            <a:avLst/>
          </a:prstGeom>
          <a:noFill/>
          <a:ln w="6350"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72000" rIns="90000" bIns="3600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180975" algn="l"/>
              </a:tabLst>
            </a:pPr>
            <a:endParaRPr lang="ko-KR" altLang="en-US" sz="900" b="1" dirty="0">
              <a:solidFill>
                <a:schemeClr val="tx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algun Gothic"/>
            </a:endParaRPr>
          </a:p>
        </p:txBody>
      </p: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E2F3C347-7317-3373-ACDB-BFEDF87F4B12}"/>
              </a:ext>
            </a:extLst>
          </p:cNvPr>
          <p:cNvGrpSpPr/>
          <p:nvPr/>
        </p:nvGrpSpPr>
        <p:grpSpPr>
          <a:xfrm>
            <a:off x="1667228" y="2476499"/>
            <a:ext cx="2387786" cy="486957"/>
            <a:chOff x="1928028" y="2189218"/>
            <a:chExt cx="2387786" cy="501520"/>
          </a:xfrm>
        </p:grpSpPr>
        <p:sp>
          <p:nvSpPr>
            <p:cNvPr id="344" name="Google Shape;945;g2872d9e35e1_4_15">
              <a:extLst>
                <a:ext uri="{FF2B5EF4-FFF2-40B4-BE49-F238E27FC236}">
                  <a16:creationId xmlns:a16="http://schemas.microsoft.com/office/drawing/2014/main" id="{CF7CC3C3-EBFE-F15A-4CAF-55046E4E8D96}"/>
                </a:ext>
              </a:extLst>
            </p:cNvPr>
            <p:cNvSpPr/>
            <p:nvPr/>
          </p:nvSpPr>
          <p:spPr>
            <a:xfrm>
              <a:off x="1928028" y="2189218"/>
              <a:ext cx="1080000" cy="501520"/>
            </a:xfrm>
            <a:prstGeom prst="rect">
              <a:avLst/>
            </a:prstGeom>
            <a:solidFill>
              <a:srgbClr val="007B8C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Aria</a:t>
              </a:r>
              <a:r>
                <a:rPr lang="ko-KR" altLang="en-US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lang="en-US" altLang="ko-KR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Operations</a:t>
              </a:r>
            </a:p>
          </p:txBody>
        </p:sp>
        <p:sp>
          <p:nvSpPr>
            <p:cNvPr id="229" name="Google Shape;945;g2872d9e35e1_4_15">
              <a:extLst>
                <a:ext uri="{FF2B5EF4-FFF2-40B4-BE49-F238E27FC236}">
                  <a16:creationId xmlns:a16="http://schemas.microsoft.com/office/drawing/2014/main" id="{4F3461F5-F8CA-3321-00EC-A0132FA56D76}"/>
                </a:ext>
              </a:extLst>
            </p:cNvPr>
            <p:cNvSpPr/>
            <p:nvPr/>
          </p:nvSpPr>
          <p:spPr>
            <a:xfrm>
              <a:off x="3235814" y="2189218"/>
              <a:ext cx="1080000" cy="501520"/>
            </a:xfrm>
            <a:prstGeom prst="rect">
              <a:avLst/>
            </a:prstGeom>
            <a:solidFill>
              <a:srgbClr val="254062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Aria</a:t>
              </a:r>
              <a:r>
                <a:rPr lang="ko-KR" altLang="en-US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 </a:t>
              </a:r>
              <a:r>
                <a:rPr lang="en-US" altLang="ko-KR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Operations</a:t>
              </a:r>
              <a:br>
                <a:rPr lang="en-US" altLang="ko-KR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</a:br>
              <a:r>
                <a:rPr lang="en-US" altLang="ko-KR" sz="900" dirty="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rPr>
                <a:t>for Logs</a:t>
              </a:r>
              <a:endParaRPr lang="en-US" sz="900" dirty="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sp>
        <p:nvSpPr>
          <p:cNvPr id="326" name="이등변 삼각형 325">
            <a:extLst>
              <a:ext uri="{FF2B5EF4-FFF2-40B4-BE49-F238E27FC236}">
                <a16:creationId xmlns:a16="http://schemas.microsoft.com/office/drawing/2014/main" id="{9C0D64A5-E697-8AC6-424E-FA324AA6996A}"/>
              </a:ext>
            </a:extLst>
          </p:cNvPr>
          <p:cNvSpPr/>
          <p:nvPr/>
        </p:nvSpPr>
        <p:spPr>
          <a:xfrm>
            <a:off x="850957" y="3007328"/>
            <a:ext cx="7558854" cy="389968"/>
          </a:xfrm>
          <a:custGeom>
            <a:avLst/>
            <a:gdLst>
              <a:gd name="connsiteX0" fmla="*/ 0 w 7558854"/>
              <a:gd name="connsiteY0" fmla="*/ 570280 h 570280"/>
              <a:gd name="connsiteX1" fmla="*/ 1677007 w 7558854"/>
              <a:gd name="connsiteY1" fmla="*/ 0 h 570280"/>
              <a:gd name="connsiteX2" fmla="*/ 7558854 w 7558854"/>
              <a:gd name="connsiteY2" fmla="*/ 570280 h 570280"/>
              <a:gd name="connsiteX3" fmla="*/ 0 w 7558854"/>
              <a:gd name="connsiteY3" fmla="*/ 570280 h 570280"/>
              <a:gd name="connsiteX0" fmla="*/ 0 w 7558854"/>
              <a:gd name="connsiteY0" fmla="*/ 570280 h 570280"/>
              <a:gd name="connsiteX1" fmla="*/ 1677007 w 7558854"/>
              <a:gd name="connsiteY1" fmla="*/ 0 h 570280"/>
              <a:gd name="connsiteX2" fmla="*/ 3567531 w 7558854"/>
              <a:gd name="connsiteY2" fmla="*/ 173536 h 570280"/>
              <a:gd name="connsiteX3" fmla="*/ 7558854 w 7558854"/>
              <a:gd name="connsiteY3" fmla="*/ 570280 h 570280"/>
              <a:gd name="connsiteX4" fmla="*/ 0 w 7558854"/>
              <a:gd name="connsiteY4" fmla="*/ 570280 h 570280"/>
              <a:gd name="connsiteX0" fmla="*/ 0 w 7558854"/>
              <a:gd name="connsiteY0" fmla="*/ 570280 h 570280"/>
              <a:gd name="connsiteX1" fmla="*/ 1677007 w 7558854"/>
              <a:gd name="connsiteY1" fmla="*/ 0 h 570280"/>
              <a:gd name="connsiteX2" fmla="*/ 7558854 w 7558854"/>
              <a:gd name="connsiteY2" fmla="*/ 570280 h 570280"/>
              <a:gd name="connsiteX3" fmla="*/ 0 w 7558854"/>
              <a:gd name="connsiteY3" fmla="*/ 570280 h 570280"/>
              <a:gd name="connsiteX0" fmla="*/ 0 w 7558854"/>
              <a:gd name="connsiteY0" fmla="*/ 613114 h 613114"/>
              <a:gd name="connsiteX1" fmla="*/ 3239107 w 7558854"/>
              <a:gd name="connsiteY1" fmla="*/ 0 h 613114"/>
              <a:gd name="connsiteX2" fmla="*/ 7558854 w 7558854"/>
              <a:gd name="connsiteY2" fmla="*/ 613114 h 613114"/>
              <a:gd name="connsiteX3" fmla="*/ 0 w 7558854"/>
              <a:gd name="connsiteY3" fmla="*/ 613114 h 613114"/>
              <a:gd name="connsiteX0" fmla="*/ 0 w 7558854"/>
              <a:gd name="connsiteY0" fmla="*/ 584558 h 584558"/>
              <a:gd name="connsiteX1" fmla="*/ 1315057 w 7558854"/>
              <a:gd name="connsiteY1" fmla="*/ 0 h 584558"/>
              <a:gd name="connsiteX2" fmla="*/ 7558854 w 7558854"/>
              <a:gd name="connsiteY2" fmla="*/ 584558 h 584558"/>
              <a:gd name="connsiteX3" fmla="*/ 0 w 7558854"/>
              <a:gd name="connsiteY3" fmla="*/ 584558 h 58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8854" h="584558">
                <a:moveTo>
                  <a:pt x="0" y="584558"/>
                </a:moveTo>
                <a:lnTo>
                  <a:pt x="1315057" y="0"/>
                </a:lnTo>
                <a:lnTo>
                  <a:pt x="7558854" y="584558"/>
                </a:lnTo>
                <a:lnTo>
                  <a:pt x="0" y="584558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이등변 삼각형 325">
            <a:extLst>
              <a:ext uri="{FF2B5EF4-FFF2-40B4-BE49-F238E27FC236}">
                <a16:creationId xmlns:a16="http://schemas.microsoft.com/office/drawing/2014/main" id="{B5CB9E24-93A4-702A-8794-E92851ABBC9B}"/>
              </a:ext>
            </a:extLst>
          </p:cNvPr>
          <p:cNvSpPr/>
          <p:nvPr/>
        </p:nvSpPr>
        <p:spPr>
          <a:xfrm>
            <a:off x="1270335" y="2994950"/>
            <a:ext cx="7246266" cy="569207"/>
          </a:xfrm>
          <a:custGeom>
            <a:avLst/>
            <a:gdLst>
              <a:gd name="connsiteX0" fmla="*/ 0 w 7558854"/>
              <a:gd name="connsiteY0" fmla="*/ 570280 h 570280"/>
              <a:gd name="connsiteX1" fmla="*/ 1677007 w 7558854"/>
              <a:gd name="connsiteY1" fmla="*/ 0 h 570280"/>
              <a:gd name="connsiteX2" fmla="*/ 7558854 w 7558854"/>
              <a:gd name="connsiteY2" fmla="*/ 570280 h 570280"/>
              <a:gd name="connsiteX3" fmla="*/ 0 w 7558854"/>
              <a:gd name="connsiteY3" fmla="*/ 570280 h 570280"/>
              <a:gd name="connsiteX0" fmla="*/ 0 w 7558854"/>
              <a:gd name="connsiteY0" fmla="*/ 570280 h 570280"/>
              <a:gd name="connsiteX1" fmla="*/ 1677007 w 7558854"/>
              <a:gd name="connsiteY1" fmla="*/ 0 h 570280"/>
              <a:gd name="connsiteX2" fmla="*/ 3567531 w 7558854"/>
              <a:gd name="connsiteY2" fmla="*/ 173536 h 570280"/>
              <a:gd name="connsiteX3" fmla="*/ 7558854 w 7558854"/>
              <a:gd name="connsiteY3" fmla="*/ 570280 h 570280"/>
              <a:gd name="connsiteX4" fmla="*/ 0 w 7558854"/>
              <a:gd name="connsiteY4" fmla="*/ 570280 h 570280"/>
              <a:gd name="connsiteX0" fmla="*/ 0 w 7558854"/>
              <a:gd name="connsiteY0" fmla="*/ 580530 h 580530"/>
              <a:gd name="connsiteX1" fmla="*/ 2721363 w 7558854"/>
              <a:gd name="connsiteY1" fmla="*/ 0 h 580530"/>
              <a:gd name="connsiteX2" fmla="*/ 3567531 w 7558854"/>
              <a:gd name="connsiteY2" fmla="*/ 183786 h 580530"/>
              <a:gd name="connsiteX3" fmla="*/ 7558854 w 7558854"/>
              <a:gd name="connsiteY3" fmla="*/ 580530 h 580530"/>
              <a:gd name="connsiteX4" fmla="*/ 0 w 7558854"/>
              <a:gd name="connsiteY4" fmla="*/ 580530 h 580530"/>
              <a:gd name="connsiteX0" fmla="*/ 0 w 7558854"/>
              <a:gd name="connsiteY0" fmla="*/ 580530 h 580530"/>
              <a:gd name="connsiteX1" fmla="*/ 2721363 w 7558854"/>
              <a:gd name="connsiteY1" fmla="*/ 0 h 580530"/>
              <a:gd name="connsiteX2" fmla="*/ 7558854 w 7558854"/>
              <a:gd name="connsiteY2" fmla="*/ 580530 h 580530"/>
              <a:gd name="connsiteX3" fmla="*/ 0 w 7558854"/>
              <a:gd name="connsiteY3" fmla="*/ 580530 h 580530"/>
              <a:gd name="connsiteX0" fmla="*/ 0 w 7558854"/>
              <a:gd name="connsiteY0" fmla="*/ 590758 h 590758"/>
              <a:gd name="connsiteX1" fmla="*/ 4330977 w 7558854"/>
              <a:gd name="connsiteY1" fmla="*/ 0 h 590758"/>
              <a:gd name="connsiteX2" fmla="*/ 7558854 w 7558854"/>
              <a:gd name="connsiteY2" fmla="*/ 590758 h 590758"/>
              <a:gd name="connsiteX3" fmla="*/ 0 w 7558854"/>
              <a:gd name="connsiteY3" fmla="*/ 590758 h 590758"/>
              <a:gd name="connsiteX0" fmla="*/ 0 w 7558854"/>
              <a:gd name="connsiteY0" fmla="*/ 631670 h 631670"/>
              <a:gd name="connsiteX1" fmla="*/ 2353735 w 7558854"/>
              <a:gd name="connsiteY1" fmla="*/ 0 h 631670"/>
              <a:gd name="connsiteX2" fmla="*/ 7558854 w 7558854"/>
              <a:gd name="connsiteY2" fmla="*/ 631670 h 631670"/>
              <a:gd name="connsiteX3" fmla="*/ 0 w 7558854"/>
              <a:gd name="connsiteY3" fmla="*/ 631670 h 631670"/>
              <a:gd name="connsiteX0" fmla="*/ 0 w 7558854"/>
              <a:gd name="connsiteY0" fmla="*/ 611214 h 611214"/>
              <a:gd name="connsiteX1" fmla="*/ 2373607 w 7558854"/>
              <a:gd name="connsiteY1" fmla="*/ 0 h 611214"/>
              <a:gd name="connsiteX2" fmla="*/ 7558854 w 7558854"/>
              <a:gd name="connsiteY2" fmla="*/ 611214 h 611214"/>
              <a:gd name="connsiteX3" fmla="*/ 0 w 7558854"/>
              <a:gd name="connsiteY3" fmla="*/ 611214 h 611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8854" h="611214">
                <a:moveTo>
                  <a:pt x="0" y="611214"/>
                </a:moveTo>
                <a:lnTo>
                  <a:pt x="2373607" y="0"/>
                </a:lnTo>
                <a:lnTo>
                  <a:pt x="7558854" y="611214"/>
                </a:lnTo>
                <a:lnTo>
                  <a:pt x="0" y="611214"/>
                </a:lnTo>
                <a:close/>
              </a:path>
            </a:pathLst>
          </a:custGeom>
          <a:solidFill>
            <a:srgbClr val="25406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0" name="연결선: 구부러짐 272">
            <a:extLst>
              <a:ext uri="{FF2B5EF4-FFF2-40B4-BE49-F238E27FC236}">
                <a16:creationId xmlns:a16="http://schemas.microsoft.com/office/drawing/2014/main" id="{0B4ADD39-75CC-9FBD-60AE-D71E292C9754}"/>
              </a:ext>
            </a:extLst>
          </p:cNvPr>
          <p:cNvCxnSpPr>
            <a:cxnSpLocks/>
            <a:stCxn id="344" idx="0"/>
            <a:endCxn id="355" idx="2"/>
          </p:cNvCxnSpPr>
          <p:nvPr/>
        </p:nvCxnSpPr>
        <p:spPr>
          <a:xfrm rot="5400000" flipH="1" flipV="1">
            <a:off x="2485592" y="2106329"/>
            <a:ext cx="91806" cy="648535"/>
          </a:xfrm>
          <a:prstGeom prst="curvedConnector3">
            <a:avLst>
              <a:gd name="adj1" fmla="val 50000"/>
            </a:avLst>
          </a:prstGeom>
          <a:ln w="6350">
            <a:solidFill>
              <a:srgbClr val="007B8C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연결선: 구부러짐 272">
            <a:extLst>
              <a:ext uri="{FF2B5EF4-FFF2-40B4-BE49-F238E27FC236}">
                <a16:creationId xmlns:a16="http://schemas.microsoft.com/office/drawing/2014/main" id="{8B4F87E4-968C-EE37-B498-814BC883146F}"/>
              </a:ext>
            </a:extLst>
          </p:cNvPr>
          <p:cNvCxnSpPr>
            <a:cxnSpLocks/>
            <a:stCxn id="229" idx="0"/>
            <a:endCxn id="355" idx="2"/>
          </p:cNvCxnSpPr>
          <p:nvPr/>
        </p:nvCxnSpPr>
        <p:spPr>
          <a:xfrm rot="16200000" flipV="1">
            <a:off x="3139486" y="2100970"/>
            <a:ext cx="91806" cy="659251"/>
          </a:xfrm>
          <a:prstGeom prst="curvedConnector3">
            <a:avLst>
              <a:gd name="adj1" fmla="val 50000"/>
            </a:avLst>
          </a:prstGeom>
          <a:ln w="6350">
            <a:solidFill>
              <a:srgbClr val="007B8C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Google Shape;945;g2872d9e35e1_4_15">
            <a:extLst>
              <a:ext uri="{FF2B5EF4-FFF2-40B4-BE49-F238E27FC236}">
                <a16:creationId xmlns:a16="http://schemas.microsoft.com/office/drawing/2014/main" id="{C76A0F82-74B6-8060-F915-153D5A3743F4}"/>
              </a:ext>
            </a:extLst>
          </p:cNvPr>
          <p:cNvSpPr/>
          <p:nvPr/>
        </p:nvSpPr>
        <p:spPr>
          <a:xfrm>
            <a:off x="6316894" y="1746486"/>
            <a:ext cx="2323260" cy="734326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0" bIns="36000" anchor="ctr" anchorCtr="0">
            <a:noAutofit/>
          </a:bodyPr>
          <a:lstStyle/>
          <a:p>
            <a:pPr marL="88900" indent="-88900">
              <a:buFont typeface="Wingdings" panose="05000000000000000000" pitchFamily="2" charset="2"/>
              <a:buChar char="q"/>
            </a:pPr>
            <a:r>
              <a:rPr lang="en-US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 전사 모니터링 주요 목적</a:t>
            </a:r>
            <a:endParaRPr lang="en-US" altLang="ko-KR" sz="1000" b="1" dirty="0">
              <a:latin typeface="+mn-ea"/>
              <a:ea typeface="+mn-ea"/>
            </a:endParaRPr>
          </a:p>
          <a:p>
            <a:pPr marL="171450" indent="-825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+mn-ea"/>
                <a:ea typeface="+mn-ea"/>
              </a:rPr>
              <a:t>통합 인벤토리 관리</a:t>
            </a:r>
            <a:endParaRPr lang="en-US" altLang="ko-KR" sz="1000" dirty="0">
              <a:latin typeface="+mn-ea"/>
              <a:ea typeface="+mn-ea"/>
            </a:endParaRPr>
          </a:p>
          <a:p>
            <a:pPr marL="171450" indent="-825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+mn-ea"/>
                <a:ea typeface="+mn-ea"/>
              </a:rPr>
              <a:t>통합 리소스 용량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성능 관리</a:t>
            </a:r>
            <a:endParaRPr lang="en-US" altLang="ko-KR" sz="1000" dirty="0">
              <a:latin typeface="+mn-ea"/>
              <a:ea typeface="+mn-ea"/>
            </a:endParaRPr>
          </a:p>
          <a:p>
            <a:pPr marL="171450" indent="-825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+mn-ea"/>
                <a:ea typeface="+mn-ea"/>
              </a:rPr>
              <a:t>통합 알람 발생 현황 관리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353" name="Google Shape;1270;g2872d9e35e1_4_25">
            <a:extLst>
              <a:ext uri="{FF2B5EF4-FFF2-40B4-BE49-F238E27FC236}">
                <a16:creationId xmlns:a16="http://schemas.microsoft.com/office/drawing/2014/main" id="{CA3E6CF9-D467-B3A0-E24A-949A935AB894}"/>
              </a:ext>
            </a:extLst>
          </p:cNvPr>
          <p:cNvSpPr/>
          <p:nvPr/>
        </p:nvSpPr>
        <p:spPr>
          <a:xfrm>
            <a:off x="977313" y="1713740"/>
            <a:ext cx="1656562" cy="25522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>
                <a:lumMod val="25000"/>
              </a:schemeClr>
            </a:solidFill>
            <a:prstDash val="solid"/>
          </a:ln>
          <a:effectLst/>
        </p:spPr>
        <p:txBody>
          <a:bodyPr wrap="square" lIns="36000" tIns="0" rIns="0" bIns="0" rtlCol="0" anchor="ctr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900" b="1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  <a:sym typeface="Malgun Gothic"/>
              </a:rPr>
              <a:t>통합 알람 시스템</a:t>
            </a:r>
            <a:r>
              <a:rPr lang="en-US" altLang="ko-KR" sz="900" b="1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  <a:sym typeface="Malgun Gothic"/>
              </a:rPr>
              <a:t>(UMS, </a:t>
            </a:r>
            <a:r>
              <a:rPr lang="ko-KR" altLang="en-US" sz="900" b="1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  <a:sym typeface="Malgun Gothic"/>
              </a:rPr>
              <a:t>동보</a:t>
            </a:r>
            <a:r>
              <a:rPr lang="en-US" altLang="ko-KR" sz="900" b="1" kern="12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  <a:sym typeface="Malgun Gothic"/>
              </a:rPr>
              <a:t>)</a:t>
            </a:r>
            <a:endParaRPr lang="en-US" sz="900" b="1" kern="12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2">
                  <a:lumMod val="25000"/>
                </a:schemeClr>
              </a:solidFill>
              <a:latin typeface="+mj-ea"/>
              <a:ea typeface="+mj-ea"/>
              <a:cs typeface="+mn-cs"/>
              <a:sym typeface="Malgun Gothic"/>
            </a:endParaRPr>
          </a:p>
        </p:txBody>
      </p:sp>
      <p:sp>
        <p:nvSpPr>
          <p:cNvPr id="354" name="Google Shape;1501;p9">
            <a:extLst>
              <a:ext uri="{FF2B5EF4-FFF2-40B4-BE49-F238E27FC236}">
                <a16:creationId xmlns:a16="http://schemas.microsoft.com/office/drawing/2014/main" id="{239A2760-84F0-ED9F-5CC4-94100A05D363}"/>
              </a:ext>
            </a:extLst>
          </p:cNvPr>
          <p:cNvSpPr txBox="1"/>
          <p:nvPr/>
        </p:nvSpPr>
        <p:spPr>
          <a:xfrm>
            <a:off x="3939037" y="1714378"/>
            <a:ext cx="1369770" cy="254586"/>
          </a:xfrm>
          <a:prstGeom prst="roundRect">
            <a:avLst/>
          </a:prstGeom>
          <a:solidFill>
            <a:srgbClr val="E9ECEF"/>
          </a:solidFill>
          <a:ln w="6350">
            <a:solidFill>
              <a:schemeClr val="tx2">
                <a:lumMod val="10000"/>
              </a:schemeClr>
            </a:solidFill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700">
                <a:solidFill>
                  <a:schemeClr val="tx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</a:lstStyle>
          <a:p>
            <a:pPr algn="ctr"/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시스템 담당자 알람 전송</a:t>
            </a:r>
            <a:endParaRPr lang="en-US" sz="800" dirty="0">
              <a:solidFill>
                <a:schemeClr val="tx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5" name="Google Shape;1501;p9">
            <a:extLst>
              <a:ext uri="{FF2B5EF4-FFF2-40B4-BE49-F238E27FC236}">
                <a16:creationId xmlns:a16="http://schemas.microsoft.com/office/drawing/2014/main" id="{E3E02E0B-E15D-B1E4-4C49-14D403A0D9BE}"/>
              </a:ext>
            </a:extLst>
          </p:cNvPr>
          <p:cNvSpPr txBox="1"/>
          <p:nvPr/>
        </p:nvSpPr>
        <p:spPr>
          <a:xfrm>
            <a:off x="2003400" y="2085975"/>
            <a:ext cx="1704725" cy="298718"/>
          </a:xfrm>
          <a:prstGeom prst="roundRect">
            <a:avLst/>
          </a:prstGeom>
          <a:solidFill>
            <a:srgbClr val="E9ECEF"/>
          </a:solidFill>
          <a:ln w="6350">
            <a:solidFill>
              <a:schemeClr val="tx2">
                <a:lumMod val="10000"/>
              </a:schemeClr>
            </a:solidFill>
          </a:ln>
        </p:spPr>
        <p:txBody>
          <a:bodyPr spcFirstLastPara="1" wrap="square" lIns="7200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700">
                <a:solidFill>
                  <a:schemeClr val="tx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</a:lstStyle>
          <a:p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① 이상 상태 및 로그 감지 시</a:t>
            </a:r>
            <a:b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</a:b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알람 트리거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(Webhook, SMTP)</a:t>
            </a:r>
            <a:endParaRPr lang="en-US" sz="800" dirty="0">
              <a:solidFill>
                <a:schemeClr val="tx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6" name="Google Shape;1501;p9">
            <a:extLst>
              <a:ext uri="{FF2B5EF4-FFF2-40B4-BE49-F238E27FC236}">
                <a16:creationId xmlns:a16="http://schemas.microsoft.com/office/drawing/2014/main" id="{7EF8F6A2-C26A-C04F-A807-AF6049E44ABF}"/>
              </a:ext>
            </a:extLst>
          </p:cNvPr>
          <p:cNvSpPr txBox="1"/>
          <p:nvPr/>
        </p:nvSpPr>
        <p:spPr>
          <a:xfrm>
            <a:off x="4561757" y="2440320"/>
            <a:ext cx="1174706" cy="254289"/>
          </a:xfrm>
          <a:prstGeom prst="roundRect">
            <a:avLst/>
          </a:prstGeom>
          <a:solidFill>
            <a:srgbClr val="E9ECEF"/>
          </a:solidFill>
          <a:ln w="6350">
            <a:solidFill>
              <a:schemeClr val="tx2">
                <a:lumMod val="10000"/>
              </a:schemeClr>
            </a:solidFill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700">
                <a:solidFill>
                  <a:schemeClr val="tx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</a:lstStyle>
          <a:p>
            <a:pPr algn="ctr"/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</a:rPr>
              <a:t>③ 대시보드를 이용한</a:t>
            </a:r>
            <a:br>
              <a:rPr lang="en-US" altLang="ko-KR" sz="800" dirty="0">
                <a:solidFill>
                  <a:schemeClr val="tx2">
                    <a:lumMod val="10000"/>
                  </a:schemeClr>
                </a:solidFill>
              </a:rPr>
            </a:b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</a:rPr>
              <a:t>시스템 증상 상세 분석</a:t>
            </a:r>
            <a:endParaRPr lang="en-US" sz="800" dirty="0">
              <a:solidFill>
                <a:schemeClr val="tx2">
                  <a:lumMod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 Semilight" panose="020B0502040204020203" pitchFamily="50" charset="-127"/>
            </a:endParaRPr>
          </a:p>
        </p:txBody>
      </p:sp>
      <p:cxnSp>
        <p:nvCxnSpPr>
          <p:cNvPr id="361" name="연결선: 구부러짐 272">
            <a:extLst>
              <a:ext uri="{FF2B5EF4-FFF2-40B4-BE49-F238E27FC236}">
                <a16:creationId xmlns:a16="http://schemas.microsoft.com/office/drawing/2014/main" id="{3348848A-AE50-2E71-AED3-ED6D66110D5E}"/>
              </a:ext>
            </a:extLst>
          </p:cNvPr>
          <p:cNvCxnSpPr>
            <a:cxnSpLocks/>
            <a:stCxn id="353" idx="2"/>
            <a:endCxn id="355" idx="1"/>
          </p:cNvCxnSpPr>
          <p:nvPr/>
        </p:nvCxnSpPr>
        <p:spPr>
          <a:xfrm rot="16200000" flipH="1">
            <a:off x="1771312" y="2003245"/>
            <a:ext cx="266371" cy="197806"/>
          </a:xfrm>
          <a:prstGeom prst="curvedConnector2">
            <a:avLst/>
          </a:prstGeom>
          <a:ln w="6350">
            <a:solidFill>
              <a:srgbClr val="007B8C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연결선: 구부러짐 272">
            <a:extLst>
              <a:ext uri="{FF2B5EF4-FFF2-40B4-BE49-F238E27FC236}">
                <a16:creationId xmlns:a16="http://schemas.microsoft.com/office/drawing/2014/main" id="{6B8D3FF9-619B-4661-D0C9-8F4031216731}"/>
              </a:ext>
            </a:extLst>
          </p:cNvPr>
          <p:cNvCxnSpPr>
            <a:cxnSpLocks/>
            <a:stCxn id="353" idx="3"/>
            <a:endCxn id="354" idx="1"/>
          </p:cNvCxnSpPr>
          <p:nvPr/>
        </p:nvCxnSpPr>
        <p:spPr>
          <a:xfrm>
            <a:off x="2633875" y="1841352"/>
            <a:ext cx="1305162" cy="319"/>
          </a:xfrm>
          <a:prstGeom prst="straightConnector1">
            <a:avLst/>
          </a:prstGeom>
          <a:ln w="6350">
            <a:solidFill>
              <a:srgbClr val="007B8C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연결선: 구부러짐 272">
            <a:extLst>
              <a:ext uri="{FF2B5EF4-FFF2-40B4-BE49-F238E27FC236}">
                <a16:creationId xmlns:a16="http://schemas.microsoft.com/office/drawing/2014/main" id="{7AC9E8AD-C4DE-D760-F6E3-53469D8FDF08}"/>
              </a:ext>
            </a:extLst>
          </p:cNvPr>
          <p:cNvCxnSpPr>
            <a:cxnSpLocks/>
            <a:stCxn id="356" idx="1"/>
            <a:endCxn id="354" idx="2"/>
          </p:cNvCxnSpPr>
          <p:nvPr/>
        </p:nvCxnSpPr>
        <p:spPr>
          <a:xfrm rot="10800000" flipH="1">
            <a:off x="4561756" y="1968965"/>
            <a:ext cx="62165" cy="598501"/>
          </a:xfrm>
          <a:prstGeom prst="curvedConnector4">
            <a:avLst>
              <a:gd name="adj1" fmla="val -367731"/>
              <a:gd name="adj2" fmla="val 60622"/>
            </a:avLst>
          </a:prstGeom>
          <a:ln w="6350">
            <a:solidFill>
              <a:srgbClr val="007B8C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3" name="그룹 2332">
            <a:extLst>
              <a:ext uri="{FF2B5EF4-FFF2-40B4-BE49-F238E27FC236}">
                <a16:creationId xmlns:a16="http://schemas.microsoft.com/office/drawing/2014/main" id="{42B3C13F-F246-E96D-C0FC-A8067E11BC55}"/>
              </a:ext>
            </a:extLst>
          </p:cNvPr>
          <p:cNvGrpSpPr/>
          <p:nvPr/>
        </p:nvGrpSpPr>
        <p:grpSpPr>
          <a:xfrm>
            <a:off x="1006684" y="3443867"/>
            <a:ext cx="6819139" cy="450245"/>
            <a:chOff x="1039377" y="3429000"/>
            <a:chExt cx="7038616" cy="480293"/>
          </a:xfrm>
        </p:grpSpPr>
        <p:cxnSp>
          <p:nvCxnSpPr>
            <p:cNvPr id="2334" name="연결선: 구부러짐 272">
              <a:extLst>
                <a:ext uri="{FF2B5EF4-FFF2-40B4-BE49-F238E27FC236}">
                  <a16:creationId xmlns:a16="http://schemas.microsoft.com/office/drawing/2014/main" id="{FFCF4847-9EFF-12F8-0EC3-D9390953B572}"/>
                </a:ext>
              </a:extLst>
            </p:cNvPr>
            <p:cNvCxnSpPr>
              <a:cxnSpLocks/>
              <a:stCxn id="2320" idx="0"/>
            </p:cNvCxnSpPr>
            <p:nvPr/>
          </p:nvCxnSpPr>
          <p:spPr>
            <a:xfrm flipV="1">
              <a:off x="1039377" y="3429001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5" name="연결선: 구부러짐 272">
              <a:extLst>
                <a:ext uri="{FF2B5EF4-FFF2-40B4-BE49-F238E27FC236}">
                  <a16:creationId xmlns:a16="http://schemas.microsoft.com/office/drawing/2014/main" id="{353A828D-CB26-07D0-DD75-A251DD9B2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3550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6" name="연결선: 구부러짐 272">
              <a:extLst>
                <a:ext uri="{FF2B5EF4-FFF2-40B4-BE49-F238E27FC236}">
                  <a16:creationId xmlns:a16="http://schemas.microsoft.com/office/drawing/2014/main" id="{C20BAEE2-26E9-F52A-A94A-B90E927EF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8770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8" name="연결선: 구부러짐 272">
              <a:extLst>
                <a:ext uri="{FF2B5EF4-FFF2-40B4-BE49-F238E27FC236}">
                  <a16:creationId xmlns:a16="http://schemas.microsoft.com/office/drawing/2014/main" id="{E2BDBE16-12CE-F7A2-F61F-38A038681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0096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9" name="연결선: 구부러짐 272">
              <a:extLst>
                <a:ext uri="{FF2B5EF4-FFF2-40B4-BE49-F238E27FC236}">
                  <a16:creationId xmlns:a16="http://schemas.microsoft.com/office/drawing/2014/main" id="{8070F8FC-CB19-3A8F-F48B-FA29A1540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4751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0" name="연결선: 구부러짐 272">
              <a:extLst>
                <a:ext uri="{FF2B5EF4-FFF2-40B4-BE49-F238E27FC236}">
                  <a16:creationId xmlns:a16="http://schemas.microsoft.com/office/drawing/2014/main" id="{4696A78C-9FD1-6EE0-7B97-51AE8F950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143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1" name="연결선: 구부러짐 272">
              <a:extLst>
                <a:ext uri="{FF2B5EF4-FFF2-40B4-BE49-F238E27FC236}">
                  <a16:creationId xmlns:a16="http://schemas.microsoft.com/office/drawing/2014/main" id="{EE1F8DE1-5897-89F4-7948-3DC561DA5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1293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2" name="연결선: 구부러짐 272">
              <a:extLst>
                <a:ext uri="{FF2B5EF4-FFF2-40B4-BE49-F238E27FC236}">
                  <a16:creationId xmlns:a16="http://schemas.microsoft.com/office/drawing/2014/main" id="{D1B6991F-7E35-225E-89AF-B8EC7274B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393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3" name="연결선: 구부러짐 272">
              <a:extLst>
                <a:ext uri="{FF2B5EF4-FFF2-40B4-BE49-F238E27FC236}">
                  <a16:creationId xmlns:a16="http://schemas.microsoft.com/office/drawing/2014/main" id="{360AC8FB-235F-5BC4-6ABD-593624846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993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7" name="연결선: 구부러짐 272">
              <a:extLst>
                <a:ext uri="{FF2B5EF4-FFF2-40B4-BE49-F238E27FC236}">
                  <a16:creationId xmlns:a16="http://schemas.microsoft.com/office/drawing/2014/main" id="{7FCD9623-CEDA-0A29-394C-459993DEC0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6443" y="3429000"/>
              <a:ext cx="0" cy="480292"/>
            </a:xfrm>
            <a:prstGeom prst="straightConnector1">
              <a:avLst/>
            </a:prstGeom>
            <a:ln w="6350">
              <a:solidFill>
                <a:srgbClr val="007B8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4" name="그룹 2343">
            <a:extLst>
              <a:ext uri="{FF2B5EF4-FFF2-40B4-BE49-F238E27FC236}">
                <a16:creationId xmlns:a16="http://schemas.microsoft.com/office/drawing/2014/main" id="{FAC0EBDA-61E2-D8AE-43A2-9B9AE3426B74}"/>
              </a:ext>
            </a:extLst>
          </p:cNvPr>
          <p:cNvGrpSpPr/>
          <p:nvPr/>
        </p:nvGrpSpPr>
        <p:grpSpPr>
          <a:xfrm>
            <a:off x="1330887" y="3590020"/>
            <a:ext cx="6819139" cy="303909"/>
            <a:chOff x="1039377" y="3429000"/>
            <a:chExt cx="7038616" cy="480292"/>
          </a:xfrm>
        </p:grpSpPr>
        <p:cxnSp>
          <p:nvCxnSpPr>
            <p:cNvPr id="2345" name="연결선: 구부러짐 272">
              <a:extLst>
                <a:ext uri="{FF2B5EF4-FFF2-40B4-BE49-F238E27FC236}">
                  <a16:creationId xmlns:a16="http://schemas.microsoft.com/office/drawing/2014/main" id="{8ADCEB87-AD4E-254C-3E95-0B6ED83E6B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377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6" name="연결선: 구부러짐 272">
              <a:extLst>
                <a:ext uri="{FF2B5EF4-FFF2-40B4-BE49-F238E27FC236}">
                  <a16:creationId xmlns:a16="http://schemas.microsoft.com/office/drawing/2014/main" id="{96F1CACB-12A5-99DB-B492-B9B3C5DF4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3550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7" name="연결선: 구부러짐 272">
              <a:extLst>
                <a:ext uri="{FF2B5EF4-FFF2-40B4-BE49-F238E27FC236}">
                  <a16:creationId xmlns:a16="http://schemas.microsoft.com/office/drawing/2014/main" id="{020A77E4-942D-25A0-3409-D23E1B754F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8770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9" name="연결선: 구부러짐 272">
              <a:extLst>
                <a:ext uri="{FF2B5EF4-FFF2-40B4-BE49-F238E27FC236}">
                  <a16:creationId xmlns:a16="http://schemas.microsoft.com/office/drawing/2014/main" id="{3263EE8C-BC11-8352-1643-FAC9E3B60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0096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0" name="연결선: 구부러짐 272">
              <a:extLst>
                <a:ext uri="{FF2B5EF4-FFF2-40B4-BE49-F238E27FC236}">
                  <a16:creationId xmlns:a16="http://schemas.microsoft.com/office/drawing/2014/main" id="{1819D0C1-6F1E-391E-5A47-70984024F8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4751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1" name="연결선: 구부러짐 272">
              <a:extLst>
                <a:ext uri="{FF2B5EF4-FFF2-40B4-BE49-F238E27FC236}">
                  <a16:creationId xmlns:a16="http://schemas.microsoft.com/office/drawing/2014/main" id="{BF91C622-DB96-9A24-3A04-411AAFF26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2143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2" name="연결선: 구부러짐 272">
              <a:extLst>
                <a:ext uri="{FF2B5EF4-FFF2-40B4-BE49-F238E27FC236}">
                  <a16:creationId xmlns:a16="http://schemas.microsoft.com/office/drawing/2014/main" id="{4E133C7C-5CC8-EF39-6E54-27FBBF970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1293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3" name="연결선: 구부러짐 272">
              <a:extLst>
                <a:ext uri="{FF2B5EF4-FFF2-40B4-BE49-F238E27FC236}">
                  <a16:creationId xmlns:a16="http://schemas.microsoft.com/office/drawing/2014/main" id="{F0B69287-1927-7EC3-E428-289D2E5FA6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393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4" name="연결선: 구부러짐 272">
              <a:extLst>
                <a:ext uri="{FF2B5EF4-FFF2-40B4-BE49-F238E27FC236}">
                  <a16:creationId xmlns:a16="http://schemas.microsoft.com/office/drawing/2014/main" id="{789F661C-8579-2ABD-782A-7D33CC663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993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8" name="연결선: 구부러짐 272">
              <a:extLst>
                <a:ext uri="{FF2B5EF4-FFF2-40B4-BE49-F238E27FC236}">
                  <a16:creationId xmlns:a16="http://schemas.microsoft.com/office/drawing/2014/main" id="{9B628BD7-845C-5613-B1A9-EDCCA341C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6443" y="3429000"/>
              <a:ext cx="0" cy="480292"/>
            </a:xfrm>
            <a:prstGeom prst="straightConnector1">
              <a:avLst/>
            </a:prstGeom>
            <a:ln w="6350">
              <a:solidFill>
                <a:srgbClr val="254062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823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BF2D4-3376-4467-4B13-6B9714D3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Global View </a:t>
            </a:r>
            <a:r>
              <a:rPr lang="ko-KR" altLang="en-US" dirty="0"/>
              <a:t>담당자 및 로컬 인프라</a:t>
            </a:r>
            <a:r>
              <a:rPr lang="en-US" altLang="ko-KR" dirty="0"/>
              <a:t> </a:t>
            </a:r>
            <a:r>
              <a:rPr lang="ko-KR" altLang="en-US" dirty="0"/>
              <a:t>운영자 역할 분리</a:t>
            </a:r>
            <a:r>
              <a:rPr lang="en-US" dirty="0"/>
              <a:t> </a:t>
            </a:r>
            <a:r>
              <a:rPr lang="ko-KR" altLang="en-US" dirty="0"/>
              <a:t>안</a:t>
            </a:r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66FBC8-7CD8-77E9-EF3D-EB1E5E5E8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Global View </a:t>
            </a:r>
            <a:r>
              <a:rPr lang="ko-KR" altLang="en-US" dirty="0"/>
              <a:t>담당자는 전사 공통 정책</a:t>
            </a:r>
            <a:r>
              <a:rPr lang="en-US" altLang="ko-KR" dirty="0"/>
              <a:t>, </a:t>
            </a:r>
            <a:r>
              <a:rPr lang="ko-KR" altLang="en-US" dirty="0"/>
              <a:t>표준 정의</a:t>
            </a:r>
            <a:r>
              <a:rPr lang="en-US" altLang="ko-KR" dirty="0"/>
              <a:t>, </a:t>
            </a:r>
            <a:r>
              <a:rPr lang="ko-KR" altLang="en-US" dirty="0"/>
              <a:t>거버넌스 수립</a:t>
            </a:r>
            <a:r>
              <a:rPr lang="en-US" altLang="ko-KR" dirty="0"/>
              <a:t>, </a:t>
            </a:r>
            <a:r>
              <a:rPr lang="ko-KR" altLang="en-US" dirty="0"/>
              <a:t>최적화 방향을 제시하고 </a:t>
            </a:r>
            <a:endParaRPr lang="en-US" altLang="ko-KR" dirty="0"/>
          </a:p>
          <a:p>
            <a:r>
              <a:rPr lang="en-US" altLang="ko-KR" dirty="0"/>
              <a:t>Local </a:t>
            </a:r>
            <a:r>
              <a:rPr lang="ko-KR" altLang="en-US" dirty="0"/>
              <a:t>인프라 담당자는 실제 담당 환경에 정책 적용</a:t>
            </a:r>
            <a:r>
              <a:rPr lang="en-US" altLang="ko-KR" dirty="0"/>
              <a:t>, </a:t>
            </a:r>
            <a:r>
              <a:rPr lang="ko-KR" altLang="en-US" dirty="0"/>
              <a:t>운영 실행</a:t>
            </a:r>
            <a:r>
              <a:rPr lang="en-US" altLang="ko-KR" dirty="0"/>
              <a:t>, 1</a:t>
            </a:r>
            <a:r>
              <a:rPr lang="ko-KR" altLang="en-US" dirty="0"/>
              <a:t>차 대응을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8E2A30C-9FD0-0E15-2DA5-A88A82E5432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Google Shape;1259;p74">
            <a:extLst>
              <a:ext uri="{FF2B5EF4-FFF2-40B4-BE49-F238E27FC236}">
                <a16:creationId xmlns:a16="http://schemas.microsoft.com/office/drawing/2014/main" id="{2104CD2A-C1A3-7452-8FB5-28607F078F5A}"/>
              </a:ext>
            </a:extLst>
          </p:cNvPr>
          <p:cNvGraphicFramePr/>
          <p:nvPr/>
        </p:nvGraphicFramePr>
        <p:xfrm>
          <a:off x="585788" y="1600200"/>
          <a:ext cx="10995026" cy="45706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6221">
                  <a:extLst>
                    <a:ext uri="{9D8B030D-6E8A-4147-A177-3AD203B41FA5}">
                      <a16:colId xmlns:a16="http://schemas.microsoft.com/office/drawing/2014/main" val="1580456899"/>
                    </a:ext>
                  </a:extLst>
                </a:gridCol>
              </a:tblGrid>
              <a:tr h="3151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 sz="1200" b="0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etropolis" panose="00000500000000000000" pitchFamily="2" charset="0"/>
                        </a:rPr>
                        <a:t>Global View </a:t>
                      </a:r>
                      <a:r>
                        <a:rPr lang="ko-KR" altLang="en-US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etropolis" panose="00000500000000000000" pitchFamily="2" charset="0"/>
                        </a:rPr>
                        <a:t>담당자</a:t>
                      </a:r>
                      <a:endParaRPr dirty="0">
                        <a:solidFill>
                          <a:schemeClr val="tx2">
                            <a:lumMod val="10000"/>
                          </a:schemeClr>
                        </a:solidFill>
                        <a:latin typeface="Metropolis" panose="00000500000000000000" pitchFamily="2" charset="0"/>
                      </a:endParaRPr>
                    </a:p>
                  </a:txBody>
                  <a:tcPr marL="91450" marR="9145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etropolis" panose="00000500000000000000" pitchFamily="2" charset="0"/>
                        </a:rPr>
                        <a:t>인프라 담당자</a:t>
                      </a:r>
                      <a:endParaRPr dirty="0">
                        <a:solidFill>
                          <a:schemeClr val="tx2">
                            <a:lumMod val="10000"/>
                          </a:schemeClr>
                        </a:solidFill>
                        <a:latin typeface="Metropolis" panose="00000500000000000000" pitchFamily="2" charset="0"/>
                      </a:endParaRPr>
                    </a:p>
                  </a:txBody>
                  <a:tcPr marL="91450" marR="9145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9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라이센스 관리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테넌트별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Core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라이선스 사용량 중앙 모니터링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라이센스 용량 관리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발급 요청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9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인벤토리 표준화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운영 중인 서버 모델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SPEC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모니터링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서버 표준화 관리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태깅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표준화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Tenant, App, Tier, Env, Owner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메타데이터를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vCenter/CMDB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와 동기화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표준화된 서버 스펙 도입 검토</a:t>
                      </a:r>
                      <a:endParaRPr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9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보안</a:t>
                      </a: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컴플라이언스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테넌트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vSphere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버전 현황 모니터링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/>
                        <a:t>제품 최신 버전 업데이트 권장 활동 수행</a:t>
                      </a:r>
                      <a:endParaRPr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업데이트 계획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유지 보수 계획 수립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보안 위반 사항 조치</a:t>
                      </a:r>
                      <a:endParaRPr sz="1000" dirty="0"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427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클러스터 성능</a:t>
                      </a: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용량 관리 표준화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테넌트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클러스터의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CPU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경합 상태 모니터링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리소스 관리 가이드 배포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가상화율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 및 클러스터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Size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조정 등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리소스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밸런싱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서버별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분포 적절성 평가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워크로드 확장 및 축소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IDLE VM, Oversize/Undersize 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리사이징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9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장애 대응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테넌트별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발생된 알람 현황 일괄 모니터링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정책 및 규칙 정의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Critical, Immediate, Warning</a:t>
                      </a: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Notification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적용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root cause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분석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로그 데이터 분석 </a:t>
                      </a:r>
                      <a:r>
                        <a:rPr lang="en-US" altLang="ko-KR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(VCF Ops for logs)</a:t>
                      </a: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네트워크 맵 토폴로지</a:t>
                      </a:r>
                      <a:r>
                        <a:rPr lang="en-US" altLang="ko-KR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, Path Flow </a:t>
                      </a:r>
                      <a:r>
                        <a:rPr lang="ko-KR" altLang="en-US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분석 </a:t>
                      </a:r>
                      <a:r>
                        <a:rPr lang="en-US" altLang="ko-KR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(VCF Ops for networks)</a:t>
                      </a: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534883"/>
                  </a:ext>
                </a:extLst>
              </a:tr>
              <a:tr h="5919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컨텐츠 관리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대시보드 유형 정의 및 설계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성능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리스크의 전사 관점 가시화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주요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KPI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대시보드 설계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리포트 설계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일일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알람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장애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),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주간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성능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문제관리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),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월간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업그레이드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비용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개선안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▪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대시보드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리포트 적용 및 운영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66700" marR="0" lvl="0" indent="-179388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일일 모니터링</a:t>
                      </a:r>
                      <a:r>
                        <a:rPr lang="en-US" altLang="ko-KR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리포트 자동 생성 및 이메일 전송</a:t>
                      </a:r>
                      <a:endParaRPr lang="en-US" altLang="ko-KR" sz="1000" b="0" i="0" u="none" strike="noStrike" cap="none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05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58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1C553-B36E-20FD-8720-43EB4AC9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Global </a:t>
            </a:r>
            <a:r>
              <a:rPr lang="ko-KR" altLang="en-US" dirty="0"/>
              <a:t>대시보드 유형 및 기능</a:t>
            </a:r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1668D1-68FA-7F5C-768B-DA627EBE43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구성 예정인 운영 대시보드의 유형과 주요 기능입니다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D88E256-1932-5D40-92D1-3B6097C760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Google Shape;1259;p74">
            <a:extLst>
              <a:ext uri="{FF2B5EF4-FFF2-40B4-BE49-F238E27FC236}">
                <a16:creationId xmlns:a16="http://schemas.microsoft.com/office/drawing/2014/main" id="{D07C132B-0C1B-E54C-2D01-536E23AA1BCD}"/>
              </a:ext>
            </a:extLst>
          </p:cNvPr>
          <p:cNvGraphicFramePr/>
          <p:nvPr/>
        </p:nvGraphicFramePr>
        <p:xfrm>
          <a:off x="589525" y="1320554"/>
          <a:ext cx="10981754" cy="48516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08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유형</a:t>
                      </a:r>
                      <a:endParaRPr sz="1200" b="1" i="0" u="none" strike="noStrike" cap="none" dirty="0">
                        <a:solidFill>
                          <a:schemeClr val="tx2">
                            <a:lumMod val="25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기능</a:t>
                      </a:r>
                    </a:p>
                  </a:txBody>
                  <a:tcPr marL="91450" marR="9145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9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Global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 인프라 상태 모니터링 대시보드</a:t>
                      </a:r>
                      <a:endParaRPr sz="1000" b="0" u="none" strike="noStrike" cap="none" baseline="300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실시간 발생 중이며 유효한 상태 알람의 수량 및 목록을 표시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+mn-cs"/>
                          <a:sym typeface="Arial"/>
                        </a:rPr>
                        <a:t>특정 </a:t>
                      </a:r>
                      <a:r>
                        <a:rPr kumimoji="0" lang="en-US" altLang="ko-KR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+mn-cs"/>
                          <a:sym typeface="Arial"/>
                        </a:rPr>
                        <a:t>ESXi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+mn-cs"/>
                          <a:sym typeface="Arial"/>
                        </a:rPr>
                        <a:t> Host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+mn-cs"/>
                          <a:sym typeface="Arial"/>
                        </a:rPr>
                        <a:t>및 데이터 스토어에서 발생되는 로그를 조회</a:t>
                      </a: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전체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VMware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플랫폼 제품의 상태를 표시하고 이상 상태 발생 시 알람을 표시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통합 상태 현황을 일일 점검 리포트에 반영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72000" marR="36000" marT="72000" marB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9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Global 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인프라 용량 관리 대시보드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en-US" sz="1000" dirty="0">
                          <a:latin typeface="+mn-ea"/>
                          <a:ea typeface="+mn-ea"/>
                        </a:rPr>
                        <a:t>vCenter,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클러스터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ESXi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Datastore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할당률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및 사용량 상태 점검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352425" marR="0" lvl="2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u="none" strike="noStrike" cap="non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가상화율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 및 메모리 임계치를 고려한 사용량 상태 점검</a:t>
                      </a:r>
                      <a:endParaRPr lang="en-US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352425" marR="0" lvl="2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§"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Thin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Provision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을 고려한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할당률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 상태 점검</a:t>
                      </a:r>
                      <a:endParaRPr lang="en-US" altLang="ko-KR" sz="10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+mn-cs"/>
                          <a:sym typeface="Arial"/>
                        </a:rPr>
                        <a:t>인프라 용량 상태 현황을 일일 점검 리포트에 반영</a:t>
                      </a: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000" marR="36000" marT="72000" marB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85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Global 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인프라 성능 관리 대시보드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성능 저하 발생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VM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현황 대시보드 생성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352425" marR="0" lvl="2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각 서비스별 실시간 성능 저하 발생하고 있는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의 수량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.</a:t>
                      </a:r>
                    </a:p>
                    <a:p>
                      <a:pPr marL="352425" marR="0" lvl="2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실시간으로 성능 저하가 발생하고 있는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의 순위를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.</a:t>
                      </a:r>
                    </a:p>
                    <a:p>
                      <a:pPr marL="352425" marR="0" lvl="2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호스트 및 데이터스토어의 실시간 성능 저하 발생 여부 및 수치를 조회합니다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.</a:t>
                      </a:r>
                    </a:p>
                    <a:p>
                      <a:pPr marL="352425" marR="0" lvl="2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호스트 및 데이터스토어의 지난 성능 저하 발생 여부 및 수치를 조회합니다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+mn-cs"/>
                          <a:sym typeface="Arial"/>
                        </a:rPr>
                        <a:t>인프라 성능 상태 현황을 일일 점검 리포트에 반영</a:t>
                      </a: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000" marR="36000" marT="72000" marB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6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Global VM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 관리 대시보드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en-US" sz="1000" dirty="0">
                          <a:latin typeface="+mn-ea"/>
                          <a:ea typeface="+mn-ea"/>
                        </a:rPr>
                        <a:t>VM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의 리소스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할당률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사용률 패턴 대시보드 생성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VM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구성 정보 조회 대시보드 생성</a:t>
                      </a:r>
                      <a:endParaRPr sz="1000" dirty="0">
                        <a:latin typeface="+mn-ea"/>
                        <a:ea typeface="+mn-ea"/>
                      </a:endParaRPr>
                    </a:p>
                  </a:txBody>
                  <a:tcPr marL="72000" marR="36000" marT="72000" marB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Global 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규정 준수 대시보드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Malgun Gothic"/>
                        <a:sym typeface="Malgun Gothic"/>
                      </a:endParaRPr>
                    </a:p>
                  </a:txBody>
                  <a:tcPr marL="108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q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현재 운영 중인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ESXi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Host,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템플릿 현황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Snapshot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현황 등을 조회하는 대시보드 생성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72000" marR="36000" marT="72000" marB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534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64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021F1-5CE7-418E-EEFC-B1B0325C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인터뷰 항목</a:t>
            </a:r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EF614-F6FE-C6D9-2AE4-ED5E4A895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대시보드 기능 반영을 위한 인터뷰 항목입니다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59CD3DF-3814-4EBD-E317-E8709B7A190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7273AB2D-1EED-1738-22BC-9B603845BAC6}"/>
              </a:ext>
            </a:extLst>
          </p:cNvPr>
          <p:cNvGraphicFramePr>
            <a:graphicFrameLocks noGrp="1"/>
          </p:cNvGraphicFramePr>
          <p:nvPr/>
        </p:nvGraphicFramePr>
        <p:xfrm>
          <a:off x="596839" y="1125538"/>
          <a:ext cx="10993499" cy="50466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505533">
                  <a:extLst>
                    <a:ext uri="{9D8B030D-6E8A-4147-A177-3AD203B41FA5}">
                      <a16:colId xmlns:a16="http://schemas.microsoft.com/office/drawing/2014/main" val="2104281755"/>
                    </a:ext>
                  </a:extLst>
                </a:gridCol>
                <a:gridCol w="1505533">
                  <a:extLst>
                    <a:ext uri="{9D8B030D-6E8A-4147-A177-3AD203B41FA5}">
                      <a16:colId xmlns:a16="http://schemas.microsoft.com/office/drawing/2014/main" val="2901572011"/>
                    </a:ext>
                  </a:extLst>
                </a:gridCol>
                <a:gridCol w="7982433">
                  <a:extLst>
                    <a:ext uri="{9D8B030D-6E8A-4147-A177-3AD203B41FA5}">
                      <a16:colId xmlns:a16="http://schemas.microsoft.com/office/drawing/2014/main" val="2558172399"/>
                    </a:ext>
                  </a:extLst>
                </a:gridCol>
              </a:tblGrid>
              <a:tr h="2523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대분류</a:t>
                      </a:r>
                    </a:p>
                  </a:txBody>
                  <a:tcPr marL="180000" marR="180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중분류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질의 항목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59796"/>
                  </a:ext>
                </a:extLst>
              </a:tr>
              <a:tr h="25233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아키텍처 설계</a:t>
                      </a: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 구성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가상화 인프라 상태를 모니터링 또는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서비스 상태를 일괄 모니터링 하는 솔루션이 존재하나요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033648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본사 네트워크와 법인 네트워크 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RTT(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ms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어느 정도인가요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289777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Aria Operations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제품을 배포하기 위한 인프라 리소스 확보가 가능합니까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093980"/>
                  </a:ext>
                </a:extLst>
              </a:tr>
              <a:tr h="252333"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대시보드 설계</a:t>
                      </a: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SLA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각 인프라 별로 준수해야 할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SLA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정책이 존재하나요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42266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업무별 중요도 기준에 따른 서비스 품질 관리 체계가 존재합니까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157862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사용량이 적은 워크로드를 확인하고 인프라 운영 효율성을 높이기 위한 자원 회수 작업이 존재합니까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25384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성능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KPI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성능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bottleneck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발생 이력이 있습니까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586286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서버 리소스 경합으로 인한 성능 저하 현상이 감지되고 있나요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780655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성능 관리를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CPU, Memory, DISK Latency </a:t>
                      </a:r>
                      <a:r>
                        <a:rPr lang="ko-KR" altLang="en-US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와 같은 임계치 기준이 있습니까</a:t>
                      </a:r>
                      <a:r>
                        <a:rPr lang="en-US" altLang="ko-KR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480880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용량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KPI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ESX</a:t>
                      </a:r>
                      <a:r>
                        <a:rPr lang="ko-KR" altLang="en-US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Overcommit </a:t>
                      </a:r>
                      <a:r>
                        <a:rPr lang="ko-KR" altLang="en-US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기준</a:t>
                      </a:r>
                      <a:endParaRPr lang="en-US" altLang="ko-KR" sz="1000" b="0" i="0" u="none" strike="noStrike" dirty="0">
                        <a:solidFill>
                          <a:schemeClr val="tx2">
                            <a:lumMod val="1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34270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데이터스토어 용량 관리 기준</a:t>
                      </a:r>
                      <a:endParaRPr lang="en-US" altLang="ko-KR" sz="1000" b="0" i="0" u="none" strike="noStrike" dirty="0">
                        <a:solidFill>
                          <a:schemeClr val="tx2">
                            <a:lumMod val="1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939967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2">
                              <a:lumMod val="1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클러스터별 장애 대비 호스트 보유 현황</a:t>
                      </a:r>
                      <a:endParaRPr lang="en-US" altLang="ko-KR" sz="1000" b="0" i="0" u="none" strike="noStrike" dirty="0">
                        <a:solidFill>
                          <a:schemeClr val="tx2">
                            <a:lumMod val="1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425108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컴플라이언스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가상화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Component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적용해야 하는 보안 지침이 존재합니까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09321"/>
                  </a:ext>
                </a:extLst>
              </a:tr>
              <a:tr h="25233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리포트 설계</a:t>
                      </a: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리포트 구성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시스템의 현황과 상태에 대한 운영 점검 프로세스와 기록 관리가 이루어지고 있습니까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460782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1885" marB="0" anchor="ctr"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SMTP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서버가 존재합니까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224612"/>
                  </a:ext>
                </a:extLst>
              </a:tr>
              <a:tr h="252333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알림 시스템 운영 현황</a:t>
                      </a: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로그 수집 관리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각 가상화 컴포넌트 또는 관련 인프라에서 발생하는 로그는 어떻게 관리하고 </a:t>
                      </a:r>
                      <a:r>
                        <a:rPr lang="ko-KR" altLang="en-US" sz="1000" u="none" strike="noStrike" dirty="0" err="1">
                          <a:effectLst/>
                          <a:latin typeface="+mn-ea"/>
                          <a:ea typeface="+mn-ea"/>
                        </a:rPr>
                        <a:t>계신가요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172916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반복적인 장애가 발생한 이력이 있습니까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46144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6544" marR="188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알람 구성</a:t>
                      </a: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가상화 환경 장애 감지 시 운영자에게 알람이 전송되는 시스템이 존재합니까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221611"/>
                  </a:ext>
                </a:extLst>
              </a:tr>
              <a:tr h="2523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188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44" marR="188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UMS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와 같은 전사적으로 운영되고 있는 알람 시스템이 존재합니까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?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9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77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426D1705-8251-3904-6C7F-4E131C24D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4EB566D4-14F9-8C0D-5771-2A52A28A0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통합 상태 모니터링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9CE3CA0D-13B1-633A-D51C-BEF14E4435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n-ea"/>
                <a:ea typeface="+mn-ea"/>
              </a:rPr>
              <a:t>통합 상태 모니터링 대시보드는 실시간 상태 </a:t>
            </a:r>
            <a:r>
              <a:rPr lang="en-US" altLang="ko-KR" sz="1400" dirty="0">
                <a:latin typeface="+mn-ea"/>
                <a:ea typeface="+mn-ea"/>
              </a:rPr>
              <a:t>SECTION</a:t>
            </a:r>
            <a:r>
              <a:rPr lang="ko-KR" altLang="en-US" sz="1400" dirty="0">
                <a:latin typeface="+mn-ea"/>
                <a:ea typeface="+mn-ea"/>
              </a:rPr>
              <a:t>과 </a:t>
            </a:r>
            <a:r>
              <a:rPr lang="en-US" altLang="ko-KR" sz="1400" dirty="0">
                <a:latin typeface="+mn-ea"/>
                <a:ea typeface="+mn-ea"/>
              </a:rPr>
              <a:t>VMware </a:t>
            </a:r>
            <a:r>
              <a:rPr lang="ko-KR" altLang="en-US" sz="1400" dirty="0">
                <a:latin typeface="+mn-ea"/>
                <a:ea typeface="+mn-ea"/>
              </a:rPr>
              <a:t>플랫폼 상태 모니터링 </a:t>
            </a:r>
            <a:r>
              <a:rPr lang="en-US" altLang="ko-KR" sz="1400" dirty="0">
                <a:latin typeface="+mn-ea"/>
                <a:ea typeface="+mn-ea"/>
              </a:rPr>
              <a:t>SECTION</a:t>
            </a:r>
            <a:r>
              <a:rPr lang="ko-KR" altLang="en-US" sz="1400" dirty="0">
                <a:latin typeface="+mn-ea"/>
                <a:ea typeface="+mn-ea"/>
              </a:rPr>
              <a:t>인 </a:t>
            </a:r>
            <a:r>
              <a:rPr lang="en-US" altLang="ko-KR" sz="1400" dirty="0">
                <a:latin typeface="+mn-ea"/>
                <a:ea typeface="+mn-ea"/>
              </a:rPr>
              <a:t>2</a:t>
            </a:r>
            <a:r>
              <a:rPr lang="ko-KR" altLang="en-US" sz="1400" dirty="0">
                <a:latin typeface="+mn-ea"/>
                <a:ea typeface="+mn-ea"/>
              </a:rPr>
              <a:t>개의 </a:t>
            </a:r>
            <a:r>
              <a:rPr lang="en-US" altLang="ko-KR" sz="1400" dirty="0">
                <a:latin typeface="+mn-ea"/>
                <a:ea typeface="+mn-ea"/>
              </a:rPr>
              <a:t>SECTION</a:t>
            </a:r>
            <a:r>
              <a:rPr lang="ko-KR" altLang="en-US" sz="1400" dirty="0">
                <a:latin typeface="+mn-ea"/>
                <a:ea typeface="+mn-ea"/>
              </a:rPr>
              <a:t>으로 구분됩니다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n-ea"/>
                <a:ea typeface="+mn-ea"/>
              </a:rPr>
              <a:t>실시간 상태 </a:t>
            </a:r>
            <a:r>
              <a:rPr lang="en-US" altLang="ko-KR" sz="1400" dirty="0">
                <a:latin typeface="+mn-ea"/>
                <a:ea typeface="+mn-ea"/>
              </a:rPr>
              <a:t>SECTION</a:t>
            </a:r>
            <a:r>
              <a:rPr lang="ko-KR" altLang="en-US" sz="1400" dirty="0">
                <a:latin typeface="+mn-ea"/>
                <a:ea typeface="+mn-ea"/>
              </a:rPr>
              <a:t>은 서버</a:t>
            </a:r>
            <a:r>
              <a:rPr lang="en-US" altLang="ko-KR" sz="1400" dirty="0">
                <a:latin typeface="+mn-ea"/>
                <a:ea typeface="+mn-ea"/>
              </a:rPr>
              <a:t>,</a:t>
            </a:r>
            <a:r>
              <a:rPr lang="ko-KR" altLang="en-US" sz="1400" dirty="0">
                <a:latin typeface="+mn-ea"/>
                <a:ea typeface="+mn-ea"/>
              </a:rPr>
              <a:t> 가상 네트워크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데이터스토어와 </a:t>
            </a:r>
            <a:r>
              <a:rPr lang="en-US" altLang="ko-KR" sz="1400" dirty="0">
                <a:latin typeface="+mn-ea"/>
                <a:ea typeface="+mn-ea"/>
              </a:rPr>
              <a:t>NSX ALB</a:t>
            </a:r>
            <a:r>
              <a:rPr lang="ko-KR" altLang="en-US" sz="1400" dirty="0">
                <a:latin typeface="+mn-ea"/>
                <a:ea typeface="+mn-ea"/>
              </a:rPr>
              <a:t>에서 제공하는 </a:t>
            </a:r>
            <a:r>
              <a:rPr lang="en-US" altLang="ko-KR" sz="1400" dirty="0">
                <a:latin typeface="+mn-ea"/>
                <a:ea typeface="+mn-ea"/>
              </a:rPr>
              <a:t>VIP</a:t>
            </a:r>
            <a:r>
              <a:rPr lang="ko-KR" altLang="en-US" sz="1400" dirty="0">
                <a:latin typeface="+mn-ea"/>
                <a:ea typeface="+mn-ea"/>
              </a:rPr>
              <a:t> 상태를 실시간 모니터링합니다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8020C87-A9EF-A768-6A28-2C8457DD24FE}"/>
              </a:ext>
            </a:extLst>
          </p:cNvPr>
          <p:cNvGrpSpPr/>
          <p:nvPr/>
        </p:nvGrpSpPr>
        <p:grpSpPr>
          <a:xfrm>
            <a:off x="594666" y="1596074"/>
            <a:ext cx="8200048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CA2F6E-2561-98B8-A2E7-83956A9DA697}"/>
                </a:ext>
              </a:extLst>
            </p:cNvPr>
            <p:cNvSpPr txBox="1"/>
            <p:nvPr/>
          </p:nvSpPr>
          <p:spPr>
            <a:xfrm>
              <a:off x="708710" y="1312922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 상태 모니터링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상태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SECTION ( 1 / 2 )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782064B-18C3-65A0-B044-D2D540B2408E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aphicFrame>
        <p:nvGraphicFramePr>
          <p:cNvPr id="10" name="Google Shape;1325;p75">
            <a:extLst>
              <a:ext uri="{FF2B5EF4-FFF2-40B4-BE49-F238E27FC236}">
                <a16:creationId xmlns:a16="http://schemas.microsoft.com/office/drawing/2014/main" id="{74ACD0FE-4BDB-0FBB-F7D3-3DDA01C7866C}"/>
              </a:ext>
            </a:extLst>
          </p:cNvPr>
          <p:cNvGraphicFramePr/>
          <p:nvPr/>
        </p:nvGraphicFramePr>
        <p:xfrm>
          <a:off x="8935031" y="1610412"/>
          <a:ext cx="2645782" cy="45765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67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08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1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별로 유효한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Health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알람 발생 수를 실시간 표시하여 대상 개체의 서비스 상태 문제 여부를 모니터링 가능합니다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 시 하위 위젯이 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기준으로 리스트 업데이트 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8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2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"①"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발생된 알람의 발생 대상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알람 제목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발생 시간 등을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알람 선택 시 하위 위젯이 발생 대상 기준으로 리스트 업데이트 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243278"/>
                  </a:ext>
                </a:extLst>
              </a:tr>
              <a:tr h="230488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3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iDRAC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: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Health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IP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모니터링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ESXi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Host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: Health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상태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및 연결 상태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IP, Uptime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모니터링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가상 머신 상태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: Health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OS IP, Uptime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모니터링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가상 네트워크 상태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: </a:t>
                      </a:r>
                      <a:r>
                        <a:rPr lang="en-US" altLang="ko-KR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ESXi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Host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구성된 가상 기본 스위치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분산 스위치의 물리적인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NIC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상태를 모니터링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데이터스토어 상태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: Health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Path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 모니터링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VIP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: Health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상태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Request Error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율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VIP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모니터링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72000" marR="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28395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9B3F89-CCC1-8C59-A0CB-F2C42097DC19}"/>
              </a:ext>
            </a:extLst>
          </p:cNvPr>
          <p:cNvGrpSpPr/>
          <p:nvPr/>
        </p:nvGrpSpPr>
        <p:grpSpPr>
          <a:xfrm>
            <a:off x="626519" y="2015685"/>
            <a:ext cx="8206398" cy="4162298"/>
            <a:chOff x="699935" y="1668780"/>
            <a:chExt cx="8206398" cy="4442460"/>
          </a:xfrm>
        </p:grpSpPr>
        <p:pic>
          <p:nvPicPr>
            <p:cNvPr id="21" name="그림 20" descr="텍스트, 스크린샷, 번호, 디스플레이이(가) 표시된 사진&#10;&#10;자동 생성된 설명">
              <a:extLst>
                <a:ext uri="{FF2B5EF4-FFF2-40B4-BE49-F238E27FC236}">
                  <a16:creationId xmlns:a16="http://schemas.microsoft.com/office/drawing/2014/main" id="{1017BC66-2B45-FE74-0F0C-F090D26D46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35" t="7923" b="45426"/>
            <a:stretch/>
          </p:blipFill>
          <p:spPr>
            <a:xfrm>
              <a:off x="704849" y="1668780"/>
              <a:ext cx="8161315" cy="4442460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DB22188-2A36-CC39-DE60-4EE588AEF625}"/>
                </a:ext>
              </a:extLst>
            </p:cNvPr>
            <p:cNvSpPr/>
            <p:nvPr/>
          </p:nvSpPr>
          <p:spPr>
            <a:xfrm>
              <a:off x="699935" y="1863476"/>
              <a:ext cx="8200048" cy="536824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EA04E3-F702-875C-1BB4-0DEB4EE5B152}"/>
                </a:ext>
              </a:extLst>
            </p:cNvPr>
            <p:cNvSpPr txBox="1"/>
            <p:nvPr/>
          </p:nvSpPr>
          <p:spPr>
            <a:xfrm>
              <a:off x="986867" y="2122885"/>
              <a:ext cx="247650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en-US" altLang="ko-KR" dirty="0">
                  <a:sym typeface="Malgun Gothic"/>
                </a:rPr>
                <a:t>vCenter</a:t>
              </a:r>
              <a:r>
                <a:rPr lang="ko-KR" altLang="en-US" dirty="0">
                  <a:sym typeface="Malgun Gothic"/>
                </a:rPr>
                <a:t>별 </a:t>
              </a:r>
              <a:r>
                <a:rPr lang="en-US" altLang="ko-KR" dirty="0">
                  <a:sym typeface="Malgun Gothic"/>
                </a:rPr>
                <a:t>Health </a:t>
              </a:r>
              <a:r>
                <a:rPr lang="ko-KR" altLang="en-US" dirty="0">
                  <a:sym typeface="Malgun Gothic"/>
                </a:rPr>
                <a:t>알람 발생 건</a:t>
              </a:r>
              <a:endParaRPr lang="en-US" dirty="0"/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C372E706-2230-DBA0-72F3-29C7581D9865}"/>
                </a:ext>
              </a:extLst>
            </p:cNvPr>
            <p:cNvSpPr txBox="1"/>
            <p:nvPr/>
          </p:nvSpPr>
          <p:spPr>
            <a:xfrm>
              <a:off x="734834" y="2135046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69AF2D-AF0D-DB28-DA21-DF99EA3AAD4C}"/>
                </a:ext>
              </a:extLst>
            </p:cNvPr>
            <p:cNvSpPr/>
            <p:nvPr/>
          </p:nvSpPr>
          <p:spPr>
            <a:xfrm>
              <a:off x="699935" y="2458720"/>
              <a:ext cx="8200048" cy="104902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079EC6-DF45-A650-FAA8-99150293E6AD}"/>
                </a:ext>
              </a:extLst>
            </p:cNvPr>
            <p:cNvSpPr txBox="1"/>
            <p:nvPr/>
          </p:nvSpPr>
          <p:spPr>
            <a:xfrm>
              <a:off x="986867" y="3230325"/>
              <a:ext cx="247650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en-US" altLang="ko-KR" dirty="0">
                  <a:sym typeface="Malgun Gothic"/>
                </a:rPr>
                <a:t>vCenter</a:t>
              </a:r>
              <a:r>
                <a:rPr lang="ko-KR" altLang="en-US" dirty="0">
                  <a:sym typeface="Malgun Gothic"/>
                </a:rPr>
                <a:t>별 </a:t>
              </a:r>
              <a:r>
                <a:rPr lang="en-US" altLang="ko-KR" dirty="0">
                  <a:sym typeface="Malgun Gothic"/>
                </a:rPr>
                <a:t>Health </a:t>
              </a:r>
              <a:r>
                <a:rPr lang="ko-KR" altLang="en-US" dirty="0">
                  <a:sym typeface="Malgun Gothic"/>
                </a:rPr>
                <a:t>알람 발생 목록</a:t>
              </a:r>
              <a:endParaRPr lang="en-US" dirty="0"/>
            </a:p>
          </p:txBody>
        </p:sp>
        <p:sp>
          <p:nvSpPr>
            <p:cNvPr id="25" name="Google Shape;1333;p75">
              <a:extLst>
                <a:ext uri="{FF2B5EF4-FFF2-40B4-BE49-F238E27FC236}">
                  <a16:creationId xmlns:a16="http://schemas.microsoft.com/office/drawing/2014/main" id="{BABDF1A6-E4EF-FA5F-A287-EAFAF9FE2463}"/>
                </a:ext>
              </a:extLst>
            </p:cNvPr>
            <p:cNvSpPr txBox="1"/>
            <p:nvPr/>
          </p:nvSpPr>
          <p:spPr>
            <a:xfrm>
              <a:off x="734834" y="3242486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48705D9-6DA4-3A6D-01C2-EFFB8230240E}"/>
                </a:ext>
              </a:extLst>
            </p:cNvPr>
            <p:cNvSpPr/>
            <p:nvPr/>
          </p:nvSpPr>
          <p:spPr>
            <a:xfrm>
              <a:off x="706285" y="3535680"/>
              <a:ext cx="8200048" cy="256286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8AC6F4-093D-2653-7E78-329D3CBA001E}"/>
                </a:ext>
              </a:extLst>
            </p:cNvPr>
            <p:cNvSpPr txBox="1"/>
            <p:nvPr/>
          </p:nvSpPr>
          <p:spPr>
            <a:xfrm>
              <a:off x="993217" y="5821125"/>
              <a:ext cx="247650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모니터링 대상 상태 조회</a:t>
              </a:r>
              <a:endParaRPr lang="en-US" dirty="0"/>
            </a:p>
          </p:txBody>
        </p:sp>
        <p:sp>
          <p:nvSpPr>
            <p:cNvPr id="28" name="Google Shape;1333;p75">
              <a:extLst>
                <a:ext uri="{FF2B5EF4-FFF2-40B4-BE49-F238E27FC236}">
                  <a16:creationId xmlns:a16="http://schemas.microsoft.com/office/drawing/2014/main" id="{B3244C22-703D-684A-80A7-78E2842CB041}"/>
                </a:ext>
              </a:extLst>
            </p:cNvPr>
            <p:cNvSpPr txBox="1"/>
            <p:nvPr/>
          </p:nvSpPr>
          <p:spPr>
            <a:xfrm>
              <a:off x="741184" y="5833286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9" name="Google Shape;1286;p75">
              <a:extLst>
                <a:ext uri="{FF2B5EF4-FFF2-40B4-BE49-F238E27FC236}">
                  <a16:creationId xmlns:a16="http://schemas.microsoft.com/office/drawing/2014/main" id="{AAF8501A-CE81-2E62-66A9-857F7F6E2371}"/>
                </a:ext>
              </a:extLst>
            </p:cNvPr>
            <p:cNvSpPr/>
            <p:nvPr/>
          </p:nvSpPr>
          <p:spPr>
            <a:xfrm>
              <a:off x="4328160" y="2533650"/>
              <a:ext cx="3714750" cy="828040"/>
            </a:xfrm>
            <a:prstGeom prst="roundRect">
              <a:avLst>
                <a:gd name="adj" fmla="val 3695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8000" tIns="18000" rIns="18000" bIns="18000" anchor="t" anchorCtr="0">
              <a:noAutofit/>
            </a:bodyPr>
            <a:lstStyle/>
            <a:p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[ Health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상태 기준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]</a:t>
              </a:r>
            </a:p>
            <a:p>
              <a:pPr marL="171450" indent="-82550">
                <a:buFont typeface="Wingdings" panose="05000000000000000000" pitchFamily="2" charset="2"/>
                <a:buChar char="§"/>
              </a:pP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전체 대상 공통</a:t>
              </a:r>
              <a:br>
                <a:rPr lang="en-US" sz="800" b="1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</a:br>
              <a:r>
                <a:rPr 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- Green : 100%, 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정상 문제 없음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.</a:t>
              </a:r>
              <a:br>
                <a:rPr 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</a:br>
              <a:r>
                <a:rPr 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-</a:t>
              </a:r>
              <a:r>
                <a:rPr 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r>
                <a:rPr 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Yellow : 75%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↓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경고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등급의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Health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알람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  <a:sym typeface="Wingdings" panose="05000000000000000000" pitchFamily="2" charset="2"/>
                </a:rPr>
                <a:t>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  <a:sym typeface="Wingdings" panose="05000000000000000000" pitchFamily="2" charset="2"/>
                </a:rPr>
                <a:t>모니터링 경계</a:t>
              </a:r>
              <a:b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</a:t>
              </a:r>
              <a:r>
                <a:rPr 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 Orange : 50%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↓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즉시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등급의 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Health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  <a:t>알람 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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원인 분석 및 대응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 </a:t>
              </a:r>
              <a:b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rgbClr val="C00000"/>
                  </a:solidFill>
                  <a:latin typeface="Metropolis" panose="00000500000000000000" pitchFamily="2" charset="0"/>
                  <a:ea typeface="+mn-ea"/>
                </a:rPr>
                <a:t>- </a:t>
              </a:r>
              <a:r>
                <a:rPr 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Red : 25%</a:t>
              </a:r>
              <a:r>
                <a:rPr lang="ko-KR" altLang="en-US" sz="800" b="1" dirty="0">
                  <a:solidFill>
                    <a:srgbClr val="FF0000"/>
                  </a:solidFill>
                  <a:latin typeface="+mn-ea"/>
                  <a:ea typeface="+mn-ea"/>
                </a:rPr>
                <a:t> ↓</a:t>
              </a:r>
              <a:r>
                <a:rPr lang="en-US" altLang="ko-KR" sz="800" b="1" dirty="0">
                  <a:solidFill>
                    <a:srgbClr val="FF0000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b="1" dirty="0">
                  <a:solidFill>
                    <a:srgbClr val="FF0000"/>
                  </a:solidFill>
                  <a:latin typeface="+mn-ea"/>
                  <a:ea typeface="+mn-ea"/>
                </a:rPr>
                <a:t>위험 등급의 </a:t>
              </a:r>
              <a:r>
                <a:rPr lang="en-US" altLang="ko-KR" sz="800" b="1" dirty="0">
                  <a:solidFill>
                    <a:srgbClr val="FF0000"/>
                  </a:solidFill>
                  <a:latin typeface="+mn-ea"/>
                  <a:ea typeface="+mn-ea"/>
                </a:rPr>
                <a:t>Health </a:t>
              </a:r>
              <a:r>
                <a:rPr lang="ko-KR" altLang="en-US" sz="800" b="1" dirty="0">
                  <a:solidFill>
                    <a:srgbClr val="FF0000"/>
                  </a:solidFill>
                  <a:latin typeface="+mn-ea"/>
                  <a:ea typeface="+mn-ea"/>
                </a:rPr>
                <a:t>알람 </a:t>
              </a:r>
              <a:r>
                <a:rPr lang="en-US" altLang="ko-KR" sz="800" b="1" dirty="0">
                  <a:solidFill>
                    <a:srgbClr val="FF0000"/>
                  </a:solidFill>
                  <a:latin typeface="+mn-ea"/>
                  <a:ea typeface="+mn-ea"/>
                  <a:sym typeface="Wingdings" panose="05000000000000000000" pitchFamily="2" charset="2"/>
                </a:rPr>
                <a:t> </a:t>
              </a:r>
              <a:r>
                <a:rPr lang="ko-KR" altLang="en-US" sz="800" b="1" dirty="0">
                  <a:solidFill>
                    <a:srgbClr val="FF0000"/>
                  </a:solidFill>
                  <a:latin typeface="+mn-ea"/>
                  <a:ea typeface="+mn-ea"/>
                  <a:sym typeface="Wingdings" panose="05000000000000000000" pitchFamily="2" charset="2"/>
                </a:rPr>
                <a:t>즉각 조치 필요</a:t>
              </a:r>
              <a:br>
                <a:rPr lang="en-US" altLang="ko-KR" sz="800" b="1" dirty="0">
                  <a:solidFill>
                    <a:srgbClr val="FF0000"/>
                  </a:solidFill>
                  <a:latin typeface="+mn-ea"/>
                  <a:ea typeface="+mn-ea"/>
                </a:rPr>
              </a:br>
              <a:r>
                <a:rPr lang="en-US" sz="800" b="1" dirty="0">
                  <a:solidFill>
                    <a:srgbClr val="C00000"/>
                  </a:solidFill>
                  <a:latin typeface="Metropolis" panose="00000500000000000000" pitchFamily="2" charset="0"/>
                  <a:ea typeface="+mn-ea"/>
                </a:rPr>
                <a:t> </a:t>
              </a:r>
              <a:endParaRPr lang="en-US" sz="8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1959CBF3-5AB2-E98A-306F-192AF9DDC21D}"/>
                </a:ext>
              </a:extLst>
            </p:cNvPr>
            <p:cNvSpPr/>
            <p:nvPr/>
          </p:nvSpPr>
          <p:spPr>
            <a:xfrm>
              <a:off x="7526020" y="5218304"/>
              <a:ext cx="154940" cy="165226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9" name="Google Shape;1286;p75">
              <a:extLst>
                <a:ext uri="{FF2B5EF4-FFF2-40B4-BE49-F238E27FC236}">
                  <a16:creationId xmlns:a16="http://schemas.microsoft.com/office/drawing/2014/main" id="{D8554642-1C53-E5CD-363D-A8CFD13B4FB0}"/>
                </a:ext>
              </a:extLst>
            </p:cNvPr>
            <p:cNvSpPr/>
            <p:nvPr/>
          </p:nvSpPr>
          <p:spPr>
            <a:xfrm>
              <a:off x="6954520" y="4993531"/>
              <a:ext cx="1600226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0" rIns="91425" bIns="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VIP</a:t>
              </a:r>
              <a:r>
                <a:rPr lang="ko-KR" alt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에 연결 중인 활성 세션 수</a:t>
              </a:r>
              <a:endParaRPr sz="800" i="0" u="none" strike="noStrike" cap="none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091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ED3AA4CC-A330-6707-1033-41711A4A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텍스트, 스크린샷, 번호, 디스플레이이(가) 표시된 사진&#10;&#10;자동 생성된 설명">
            <a:extLst>
              <a:ext uri="{FF2B5EF4-FFF2-40B4-BE49-F238E27FC236}">
                <a16:creationId xmlns:a16="http://schemas.microsoft.com/office/drawing/2014/main" id="{54379651-411D-ECF4-F414-AC72265316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3" t="54867" r="140" b="18475"/>
          <a:stretch/>
        </p:blipFill>
        <p:spPr>
          <a:xfrm>
            <a:off x="611410" y="2574981"/>
            <a:ext cx="8161315" cy="2538617"/>
          </a:xfrm>
          <a:prstGeom prst="rect">
            <a:avLst/>
          </a:prstGeom>
        </p:spPr>
      </p:pic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F38D7DCF-8A70-0B01-C58A-165A4412E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통합 상태 모니터링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DFFDEB8D-CF70-85B1-EC51-7B2C524889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실시간 상태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에서는 선택된 모니터링 대상 개체의 상</a:t>
            </a:r>
            <a:r>
              <a:rPr lang="en-US" altLang="ko-KR" sz="1400" dirty="0">
                <a:latin typeface="+mj-ea"/>
                <a:ea typeface="+mj-ea"/>
              </a:rPr>
              <a:t>,</a:t>
            </a:r>
            <a:r>
              <a:rPr lang="ko-KR" altLang="en-US" sz="1400" dirty="0">
                <a:latin typeface="+mj-ea"/>
                <a:ea typeface="+mj-ea"/>
              </a:rPr>
              <a:t>하위 연관 개체의 상태를 관계도를 통해 모니터링하고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선택된 모니터링 대상 개체에 해당하는 로그 또한 조회 할 수 있습니다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31EE4C-0EC3-6178-0F49-F55FC0EDA5C8}"/>
              </a:ext>
            </a:extLst>
          </p:cNvPr>
          <p:cNvSpPr/>
          <p:nvPr/>
        </p:nvSpPr>
        <p:spPr>
          <a:xfrm>
            <a:off x="601416" y="2547041"/>
            <a:ext cx="8200048" cy="1120140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graphicFrame>
        <p:nvGraphicFramePr>
          <p:cNvPr id="10" name="Google Shape;1325;p75">
            <a:extLst>
              <a:ext uri="{FF2B5EF4-FFF2-40B4-BE49-F238E27FC236}">
                <a16:creationId xmlns:a16="http://schemas.microsoft.com/office/drawing/2014/main" id="{8F7C17F5-92CC-055E-46AD-08B993F9E39B}"/>
              </a:ext>
            </a:extLst>
          </p:cNvPr>
          <p:cNvGraphicFramePr/>
          <p:nvPr/>
        </p:nvGraphicFramePr>
        <p:xfrm>
          <a:off x="8935031" y="1610411"/>
          <a:ext cx="2645782" cy="45628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97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1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위젯의</a:t>
                      </a:r>
                      <a:b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</a:b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모니터링 대상 개체 선택 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연결된 다른 리소스의 관계 및 상태를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예를 들어 </a:t>
                      </a:r>
                      <a:r>
                        <a:rPr lang="en-US" altLang="ko-KR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ESXi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Host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 시 해당 호스트에서 동작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과 데이터 스토어 목록을 하위 개체로 표시하고</a:t>
                      </a:r>
                      <a:b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</a:b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클러스터 및 분산 스위치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iDRAC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등을 상위 개체로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연관된 상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∙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하위 개체에서 발생된 문제는 모니터링 대상 개체에 영향을 줄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4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2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Server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및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NSX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로그를 바탕으로 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위젯의 모니터링 대상 개체 선택 시 해당 개체에서 발생된 로그를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특정 날짜 및 특정 키워드로 로그 검색 또한 가능합니다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28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BC19BC-59BF-6CDA-C16B-57AF7B293B8D}"/>
              </a:ext>
            </a:extLst>
          </p:cNvPr>
          <p:cNvSpPr txBox="1"/>
          <p:nvPr/>
        </p:nvSpPr>
        <p:spPr>
          <a:xfrm>
            <a:off x="888348" y="3389766"/>
            <a:ext cx="2476500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관련 리소스 관계도</a:t>
            </a:r>
            <a:endParaRPr lang="en-US" dirty="0"/>
          </a:p>
        </p:txBody>
      </p:sp>
      <p:sp>
        <p:nvSpPr>
          <p:cNvPr id="4" name="Google Shape;1333;p75">
            <a:extLst>
              <a:ext uri="{FF2B5EF4-FFF2-40B4-BE49-F238E27FC236}">
                <a16:creationId xmlns:a16="http://schemas.microsoft.com/office/drawing/2014/main" id="{31F3A79C-77D6-FD83-7F2E-FE43DFD76294}"/>
              </a:ext>
            </a:extLst>
          </p:cNvPr>
          <p:cNvSpPr txBox="1"/>
          <p:nvPr/>
        </p:nvSpPr>
        <p:spPr>
          <a:xfrm>
            <a:off x="636315" y="3401927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1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57B69F-649F-3777-06AF-689C63108785}"/>
              </a:ext>
            </a:extLst>
          </p:cNvPr>
          <p:cNvSpPr/>
          <p:nvPr/>
        </p:nvSpPr>
        <p:spPr>
          <a:xfrm>
            <a:off x="600709" y="3711583"/>
            <a:ext cx="8200048" cy="172903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BE334F-12B4-E2CB-C806-4DE995756180}"/>
              </a:ext>
            </a:extLst>
          </p:cNvPr>
          <p:cNvSpPr txBox="1"/>
          <p:nvPr/>
        </p:nvSpPr>
        <p:spPr>
          <a:xfrm>
            <a:off x="9351703" y="219969"/>
            <a:ext cx="2476500" cy="400110"/>
          </a:xfrm>
          <a:prstGeom prst="rect">
            <a:avLst/>
          </a:prstGeom>
          <a:solidFill>
            <a:srgbClr val="FFC000"/>
          </a:solidFill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ctr"/>
            <a:r>
              <a:rPr lang="en-US" sz="2000" dirty="0">
                <a:sym typeface="Malgun Gothic"/>
              </a:rPr>
              <a:t>Aria</a:t>
            </a:r>
            <a:r>
              <a:rPr lang="ko-KR" altLang="en-US" sz="2000" dirty="0">
                <a:sym typeface="Malgun Gothic"/>
              </a:rPr>
              <a:t> </a:t>
            </a:r>
            <a:r>
              <a:rPr lang="en-US" altLang="ko-KR" sz="2000" dirty="0">
                <a:sym typeface="Malgun Gothic"/>
              </a:rPr>
              <a:t>Logs </a:t>
            </a:r>
            <a:r>
              <a:rPr lang="ko-KR" altLang="en-US" sz="2000" dirty="0">
                <a:sym typeface="Malgun Gothic"/>
              </a:rPr>
              <a:t>필요</a:t>
            </a:r>
            <a:endParaRPr lang="en-US" sz="2000" dirty="0"/>
          </a:p>
        </p:txBody>
      </p:sp>
      <p:sp>
        <p:nvSpPr>
          <p:cNvPr id="25" name="Google Shape;1333;p75">
            <a:extLst>
              <a:ext uri="{FF2B5EF4-FFF2-40B4-BE49-F238E27FC236}">
                <a16:creationId xmlns:a16="http://schemas.microsoft.com/office/drawing/2014/main" id="{D8618716-30DF-DAF7-76DD-1CB4307B2E66}"/>
              </a:ext>
            </a:extLst>
          </p:cNvPr>
          <p:cNvSpPr txBox="1"/>
          <p:nvPr/>
        </p:nvSpPr>
        <p:spPr>
          <a:xfrm>
            <a:off x="635608" y="5175361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2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9" name="Google Shape;1286;p75">
            <a:extLst>
              <a:ext uri="{FF2B5EF4-FFF2-40B4-BE49-F238E27FC236}">
                <a16:creationId xmlns:a16="http://schemas.microsoft.com/office/drawing/2014/main" id="{AC09E4E1-0345-40A3-A28F-41E568137AE3}"/>
              </a:ext>
            </a:extLst>
          </p:cNvPr>
          <p:cNvSpPr/>
          <p:nvPr/>
        </p:nvSpPr>
        <p:spPr>
          <a:xfrm>
            <a:off x="7161309" y="3968018"/>
            <a:ext cx="690372" cy="180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  <a:t>로그 검색</a:t>
            </a:r>
            <a:endParaRPr sz="800" dirty="0">
              <a:solidFill>
                <a:schemeClr val="dk2"/>
              </a:solidFill>
              <a:latin typeface="Metropolis" panose="00000500000000000000" pitchFamily="2" charset="0"/>
              <a:ea typeface="+mn-ea"/>
            </a:endParaRPr>
          </a:p>
        </p:txBody>
      </p:sp>
      <p:sp>
        <p:nvSpPr>
          <p:cNvPr id="13" name="Google Shape;1286;p75">
            <a:extLst>
              <a:ext uri="{FF2B5EF4-FFF2-40B4-BE49-F238E27FC236}">
                <a16:creationId xmlns:a16="http://schemas.microsoft.com/office/drawing/2014/main" id="{310E0813-317A-2BC9-0083-F8450C0C0208}"/>
              </a:ext>
            </a:extLst>
          </p:cNvPr>
          <p:cNvSpPr/>
          <p:nvPr/>
        </p:nvSpPr>
        <p:spPr>
          <a:xfrm>
            <a:off x="7485921" y="4548925"/>
            <a:ext cx="1158240" cy="17642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 algn="ctr"/>
            <a:r>
              <a:rPr lang="ko-KR" altLang="en-US" sz="800">
                <a:solidFill>
                  <a:schemeClr val="dk2"/>
                </a:solidFill>
                <a:latin typeface="+mn-ea"/>
                <a:ea typeface="+mn-ea"/>
              </a:rPr>
              <a:t>시간대별 발생 기록</a:t>
            </a:r>
            <a:endParaRPr sz="800" dirty="0">
              <a:solidFill>
                <a:schemeClr val="dk2"/>
              </a:solidFill>
              <a:latin typeface="Metropolis" panose="00000500000000000000" pitchFamily="2" charset="0"/>
              <a:ea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DC54671-FAFB-9981-8119-64648934E716}"/>
              </a:ext>
            </a:extLst>
          </p:cNvPr>
          <p:cNvGrpSpPr/>
          <p:nvPr/>
        </p:nvGrpSpPr>
        <p:grpSpPr>
          <a:xfrm>
            <a:off x="594666" y="1596074"/>
            <a:ext cx="8200048" cy="324000"/>
            <a:chOff x="608228" y="1298585"/>
            <a:chExt cx="10972799" cy="324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3972E7-1003-D7BA-E0CA-93D5EF67E79F}"/>
                </a:ext>
              </a:extLst>
            </p:cNvPr>
            <p:cNvSpPr txBox="1"/>
            <p:nvPr/>
          </p:nvSpPr>
          <p:spPr>
            <a:xfrm>
              <a:off x="708710" y="1312922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 상태 모니터링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상태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SECTION ( 2 / 2 )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98670D6-BC62-7D8A-5175-063A509DF0F5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25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49D21CCC-628C-1196-DF9A-2CD34A292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40F1ECA6-B41C-0655-A397-5E53A1CF17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용량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3B274657-D41B-A2BE-317A-4021C5CAB4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요약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각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와 클러스터의 배포된 자원 </a:t>
            </a:r>
            <a:r>
              <a:rPr lang="ko-KR" altLang="en-US" sz="1400" dirty="0" err="1">
                <a:latin typeface="+mj-ea"/>
                <a:ea typeface="+mj-ea"/>
              </a:rPr>
              <a:t>할당률을</a:t>
            </a:r>
            <a:r>
              <a:rPr lang="ko-KR" altLang="en-US" sz="1400" dirty="0">
                <a:latin typeface="+mj-ea"/>
                <a:ea typeface="+mj-ea"/>
              </a:rPr>
              <a:t> 실시간으로 계산하여 유연한 자원 관리에 도움을 주고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개별 호스트 및 데이터스토어에 집중 배포 되고 있지 않은 지 점검합니다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298C0E1-EA32-AF05-D9F2-8C84E74180D2}"/>
              </a:ext>
            </a:extLst>
          </p:cNvPr>
          <p:cNvGrpSpPr/>
          <p:nvPr/>
        </p:nvGrpSpPr>
        <p:grpSpPr>
          <a:xfrm>
            <a:off x="587991" y="1596076"/>
            <a:ext cx="8206759" cy="324000"/>
            <a:chOff x="608228" y="1298585"/>
            <a:chExt cx="820675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A894D7-2FD4-348B-A21D-167D8B5AC8D8}"/>
                </a:ext>
              </a:extLst>
            </p:cNvPr>
            <p:cNvSpPr txBox="1"/>
            <p:nvPr/>
          </p:nvSpPr>
          <p:spPr>
            <a:xfrm>
              <a:off x="708710" y="1312922"/>
              <a:ext cx="810627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용량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vCenter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용량 관리 및 알람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C5A1CCE-D13C-56C3-607D-529DA7AD4680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61467A4-9A9E-33C7-B70F-199A0A0BFF91}"/>
              </a:ext>
            </a:extLst>
          </p:cNvPr>
          <p:cNvGrpSpPr/>
          <p:nvPr/>
        </p:nvGrpSpPr>
        <p:grpSpPr>
          <a:xfrm>
            <a:off x="587991" y="1968964"/>
            <a:ext cx="8214225" cy="4207126"/>
            <a:chOff x="608013" y="1697990"/>
            <a:chExt cx="8301036" cy="4398010"/>
          </a:xfrm>
        </p:grpSpPr>
        <p:pic>
          <p:nvPicPr>
            <p:cNvPr id="13" name="그림 12" descr="텍스트, 스크린샷, 소프트웨어, 번호이(가) 표시된 사진&#10;&#10;자동 생성된 설명">
              <a:extLst>
                <a:ext uri="{FF2B5EF4-FFF2-40B4-BE49-F238E27FC236}">
                  <a16:creationId xmlns:a16="http://schemas.microsoft.com/office/drawing/2014/main" id="{77F7E496-BF8F-E8B0-C5CA-1AAC65E704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2" t="8759" b="44000"/>
            <a:stretch/>
          </p:blipFill>
          <p:spPr>
            <a:xfrm>
              <a:off x="613093" y="1697990"/>
              <a:ext cx="8251507" cy="4102715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0134750-045C-E8C5-4A24-C5DD8D80D47C}"/>
                </a:ext>
              </a:extLst>
            </p:cNvPr>
            <p:cNvSpPr/>
            <p:nvPr/>
          </p:nvSpPr>
          <p:spPr>
            <a:xfrm>
              <a:off x="608013" y="1700530"/>
              <a:ext cx="8297226" cy="1112774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32C3FD-532F-855B-DFE0-640EC6332112}"/>
                </a:ext>
              </a:extLst>
            </p:cNvPr>
            <p:cNvSpPr txBox="1"/>
            <p:nvPr/>
          </p:nvSpPr>
          <p:spPr>
            <a:xfrm>
              <a:off x="894944" y="2524205"/>
              <a:ext cx="308221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en-US" dirty="0"/>
                <a:t>vCenter</a:t>
              </a:r>
              <a:r>
                <a:rPr lang="ko-KR" altLang="en-US" dirty="0"/>
                <a:t>별 호스트</a:t>
              </a:r>
              <a:r>
                <a:rPr lang="en-US" altLang="ko-KR" dirty="0"/>
                <a:t>/</a:t>
              </a:r>
              <a:r>
                <a:rPr lang="ko-KR" altLang="en-US" dirty="0"/>
                <a:t>스토리지 용량 현황</a:t>
              </a:r>
              <a:endParaRPr lang="en-US" dirty="0"/>
            </a:p>
          </p:txBody>
        </p:sp>
        <p:sp>
          <p:nvSpPr>
            <p:cNvPr id="19" name="Google Shape;1333;p75">
              <a:extLst>
                <a:ext uri="{FF2B5EF4-FFF2-40B4-BE49-F238E27FC236}">
                  <a16:creationId xmlns:a16="http://schemas.microsoft.com/office/drawing/2014/main" id="{674FE8BE-70E8-3C76-E549-E826C062B0AF}"/>
                </a:ext>
              </a:extLst>
            </p:cNvPr>
            <p:cNvSpPr txBox="1"/>
            <p:nvPr/>
          </p:nvSpPr>
          <p:spPr>
            <a:xfrm>
              <a:off x="642912" y="2536366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0B908BD-873A-AD3A-2DE2-03045BBC9127}"/>
                </a:ext>
              </a:extLst>
            </p:cNvPr>
            <p:cNvSpPr/>
            <p:nvPr/>
          </p:nvSpPr>
          <p:spPr>
            <a:xfrm>
              <a:off x="608013" y="2836296"/>
              <a:ext cx="8297226" cy="1112774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8D5D90-E3B8-E59F-6B43-7EE36C6B8C8B}"/>
                </a:ext>
              </a:extLst>
            </p:cNvPr>
            <p:cNvSpPr txBox="1"/>
            <p:nvPr/>
          </p:nvSpPr>
          <p:spPr>
            <a:xfrm>
              <a:off x="894944" y="3659971"/>
              <a:ext cx="308221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클러스터별 호스트</a:t>
              </a:r>
              <a:r>
                <a:rPr lang="en-US" altLang="ko-KR" dirty="0"/>
                <a:t>/</a:t>
              </a:r>
              <a:r>
                <a:rPr lang="ko-KR" altLang="en-US" dirty="0"/>
                <a:t>스토리지 용량 현황</a:t>
              </a:r>
              <a:endParaRPr lang="en-US" dirty="0"/>
            </a:p>
          </p:txBody>
        </p:sp>
        <p:sp>
          <p:nvSpPr>
            <p:cNvPr id="34" name="Google Shape;1333;p75">
              <a:extLst>
                <a:ext uri="{FF2B5EF4-FFF2-40B4-BE49-F238E27FC236}">
                  <a16:creationId xmlns:a16="http://schemas.microsoft.com/office/drawing/2014/main" id="{B7A2712C-0536-EDCB-AEEB-BB968088473A}"/>
                </a:ext>
              </a:extLst>
            </p:cNvPr>
            <p:cNvSpPr txBox="1"/>
            <p:nvPr/>
          </p:nvSpPr>
          <p:spPr>
            <a:xfrm>
              <a:off x="642912" y="3672132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D7FF1B0-5BE4-D64F-754A-5C9D110F2A9F}"/>
                </a:ext>
              </a:extLst>
            </p:cNvPr>
            <p:cNvSpPr/>
            <p:nvPr/>
          </p:nvSpPr>
          <p:spPr>
            <a:xfrm>
              <a:off x="608013" y="3975486"/>
              <a:ext cx="8297226" cy="707004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0DD3999-049C-30D4-9984-4B42A098E23B}"/>
                </a:ext>
              </a:extLst>
            </p:cNvPr>
            <p:cNvSpPr txBox="1"/>
            <p:nvPr/>
          </p:nvSpPr>
          <p:spPr>
            <a:xfrm>
              <a:off x="894944" y="4399111"/>
              <a:ext cx="308221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호스트</a:t>
              </a:r>
              <a:r>
                <a:rPr lang="en-US" altLang="ko-KR" dirty="0"/>
                <a:t>/</a:t>
              </a:r>
              <a:r>
                <a:rPr lang="ko-KR" altLang="en-US" dirty="0"/>
                <a:t>스토리지 용량 관리 알람</a:t>
              </a:r>
              <a:endParaRPr lang="en-US" dirty="0"/>
            </a:p>
          </p:txBody>
        </p:sp>
        <p:sp>
          <p:nvSpPr>
            <p:cNvPr id="37" name="Google Shape;1333;p75">
              <a:extLst>
                <a:ext uri="{FF2B5EF4-FFF2-40B4-BE49-F238E27FC236}">
                  <a16:creationId xmlns:a16="http://schemas.microsoft.com/office/drawing/2014/main" id="{0BE880F1-7F16-DD7E-FB3D-540E3A864651}"/>
                </a:ext>
              </a:extLst>
            </p:cNvPr>
            <p:cNvSpPr txBox="1"/>
            <p:nvPr/>
          </p:nvSpPr>
          <p:spPr>
            <a:xfrm>
              <a:off x="642912" y="4411272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C92DCD9-C8B0-A309-3016-1D975CBCA16F}"/>
                </a:ext>
              </a:extLst>
            </p:cNvPr>
            <p:cNvSpPr/>
            <p:nvPr/>
          </p:nvSpPr>
          <p:spPr>
            <a:xfrm>
              <a:off x="611823" y="4714626"/>
              <a:ext cx="8297226" cy="1381374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4DF5A41-DB99-3A4A-36D4-AF8AF13BAEFE}"/>
                </a:ext>
              </a:extLst>
            </p:cNvPr>
            <p:cNvSpPr txBox="1"/>
            <p:nvPr/>
          </p:nvSpPr>
          <p:spPr>
            <a:xfrm>
              <a:off x="898754" y="5820241"/>
              <a:ext cx="308221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en-US" dirty="0"/>
                <a:t>CPU</a:t>
              </a:r>
              <a:r>
                <a:rPr lang="ko-KR" altLang="en-US" dirty="0"/>
                <a:t> </a:t>
              </a:r>
              <a:r>
                <a:rPr lang="en-US" altLang="ko-KR" dirty="0"/>
                <a:t>/</a:t>
              </a:r>
              <a:r>
                <a:rPr lang="ko-KR" altLang="en-US" dirty="0"/>
                <a:t> </a:t>
              </a:r>
              <a:r>
                <a:rPr lang="en-US" altLang="ko-KR" dirty="0"/>
                <a:t>MEM</a:t>
              </a:r>
              <a:r>
                <a:rPr lang="ko-KR" altLang="en-US" dirty="0"/>
                <a:t> </a:t>
              </a:r>
              <a:r>
                <a:rPr lang="en-US" altLang="ko-KR" dirty="0"/>
                <a:t>/</a:t>
              </a:r>
              <a:r>
                <a:rPr lang="ko-KR" altLang="en-US" dirty="0"/>
                <a:t> </a:t>
              </a:r>
              <a:r>
                <a:rPr lang="en-US" altLang="ko-KR" dirty="0"/>
                <a:t>DISK </a:t>
              </a:r>
              <a:r>
                <a:rPr lang="ko-KR" altLang="en-US" dirty="0"/>
                <a:t>자원 할당 분포 현황</a:t>
              </a:r>
              <a:endParaRPr lang="en-US" dirty="0"/>
            </a:p>
          </p:txBody>
        </p:sp>
        <p:sp>
          <p:nvSpPr>
            <p:cNvPr id="43" name="Google Shape;1333;p75">
              <a:extLst>
                <a:ext uri="{FF2B5EF4-FFF2-40B4-BE49-F238E27FC236}">
                  <a16:creationId xmlns:a16="http://schemas.microsoft.com/office/drawing/2014/main" id="{82C29D13-5F71-BF27-5DB1-A8835D948D4F}"/>
                </a:ext>
              </a:extLst>
            </p:cNvPr>
            <p:cNvSpPr txBox="1"/>
            <p:nvPr/>
          </p:nvSpPr>
          <p:spPr>
            <a:xfrm>
              <a:off x="646722" y="5832402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4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44" name="막힌 원호 43">
              <a:extLst>
                <a:ext uri="{FF2B5EF4-FFF2-40B4-BE49-F238E27FC236}">
                  <a16:creationId xmlns:a16="http://schemas.microsoft.com/office/drawing/2014/main" id="{D9CC0D0F-EB39-38A1-B426-13CB4E8D49DE}"/>
                </a:ext>
              </a:extLst>
            </p:cNvPr>
            <p:cNvSpPr/>
            <p:nvPr/>
          </p:nvSpPr>
          <p:spPr>
            <a:xfrm rot="16588330">
              <a:off x="1403771" y="5112440"/>
              <a:ext cx="527521" cy="462590"/>
            </a:xfrm>
            <a:prstGeom prst="blockArc">
              <a:avLst>
                <a:gd name="adj1" fmla="val 11531400"/>
                <a:gd name="adj2" fmla="val 0"/>
                <a:gd name="adj3" fmla="val 25000"/>
              </a:avLst>
            </a:prstGeom>
            <a:noFill/>
            <a:ln w="19050">
              <a:solidFill>
                <a:srgbClr val="C00000"/>
              </a:solidFill>
              <a:prstDash val="sysDot"/>
            </a:ln>
            <a:effectLst>
              <a:glow rad="381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anose="00000500000000000000" pitchFamily="2" charset="0"/>
              </a:endParaRPr>
            </a:p>
          </p:txBody>
        </p:sp>
        <p:sp>
          <p:nvSpPr>
            <p:cNvPr id="45" name="Google Shape;1286;p75">
              <a:extLst>
                <a:ext uri="{FF2B5EF4-FFF2-40B4-BE49-F238E27FC236}">
                  <a16:creationId xmlns:a16="http://schemas.microsoft.com/office/drawing/2014/main" id="{5849D1A1-D007-6286-C5D5-D12D20E53FC0}"/>
                </a:ext>
              </a:extLst>
            </p:cNvPr>
            <p:cNvSpPr/>
            <p:nvPr/>
          </p:nvSpPr>
          <p:spPr>
            <a:xfrm>
              <a:off x="1470660" y="4742958"/>
              <a:ext cx="3052572" cy="176964"/>
            </a:xfrm>
            <a:prstGeom prst="roundRect">
              <a:avLst>
                <a:gd name="adj" fmla="val 3695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72000" tIns="18000" rIns="72000" bIns="18000" anchor="t" anchorCtr="0">
              <a:noAutofit/>
            </a:bodyPr>
            <a:lstStyle/>
            <a:p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클릭 시 해당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CPU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수량을 가진 가상 머신 리스트가 나열됩니다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</a:t>
              </a:r>
            </a:p>
          </p:txBody>
        </p: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F2974B81-19D9-9F6A-7BB1-5E768C243E94}"/>
                </a:ext>
              </a:extLst>
            </p:cNvPr>
            <p:cNvCxnSpPr>
              <a:cxnSpLocks/>
              <a:stCxn id="45" idx="2"/>
              <a:endCxn id="44" idx="1"/>
            </p:cNvCxnSpPr>
            <p:nvPr/>
          </p:nvCxnSpPr>
          <p:spPr>
            <a:xfrm rot="5400000">
              <a:off x="2234252" y="4376416"/>
              <a:ext cx="219189" cy="1306201"/>
            </a:xfrm>
            <a:prstGeom prst="bentConnector2">
              <a:avLst/>
            </a:prstGeom>
            <a:noFill/>
            <a:ln w="19050">
              <a:solidFill>
                <a:srgbClr val="C00000"/>
              </a:solidFill>
              <a:prstDash val="sysDot"/>
              <a:headEnd type="oval" w="sm" len="sm"/>
              <a:tailEnd type="oval" w="sm" len="sm"/>
            </a:ln>
            <a:effectLst>
              <a:glow rad="381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Google Shape;1286;p75">
              <a:extLst>
                <a:ext uri="{FF2B5EF4-FFF2-40B4-BE49-F238E27FC236}">
                  <a16:creationId xmlns:a16="http://schemas.microsoft.com/office/drawing/2014/main" id="{E73B7DC8-2A8F-3BE6-F2BC-E0F967DC36C1}"/>
                </a:ext>
              </a:extLst>
            </p:cNvPr>
            <p:cNvSpPr/>
            <p:nvPr/>
          </p:nvSpPr>
          <p:spPr>
            <a:xfrm>
              <a:off x="3520440" y="2157730"/>
              <a:ext cx="5364000" cy="828040"/>
            </a:xfrm>
            <a:prstGeom prst="roundRect">
              <a:avLst>
                <a:gd name="adj" fmla="val 3695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8000" tIns="18000" rIns="18000" bIns="18000" anchor="t" anchorCtr="0">
              <a:noAutofit/>
            </a:bodyPr>
            <a:lstStyle/>
            <a:p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[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용량 관리 기준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]</a:t>
              </a:r>
            </a:p>
            <a:p>
              <a:pPr marL="177800" indent="-88900">
                <a:buFont typeface="Wingdings" panose="05000000000000000000" pitchFamily="2" charset="2"/>
                <a:buChar char="§"/>
              </a:pP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호스트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(CPU,MEM) /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데이터스토어 공통 관리 기준</a:t>
              </a:r>
              <a:br>
                <a:rPr lang="en-US" sz="800" b="1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</a:br>
              <a:r>
                <a:rPr 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- Green : 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전체 할당 용량의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70% 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미만 사용 상태</a:t>
              </a:r>
              <a:r>
                <a:rPr 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정상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.</a:t>
              </a:r>
              <a:br>
                <a:rPr 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</a:br>
              <a:r>
                <a:rPr 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-</a:t>
              </a:r>
              <a:r>
                <a:rPr 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r>
                <a:rPr 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Yellow : </a:t>
              </a:r>
              <a:r>
                <a:rPr lang="ko-KR" alt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전체 할당 용량의 </a:t>
              </a:r>
              <a:r>
                <a:rPr lang="en-US" altLang="ko-KR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70% </a:t>
              </a:r>
              <a:r>
                <a:rPr lang="ko-KR" alt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이상 사용 상태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경고 등급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알람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  <a:sym typeface="Wingdings" panose="05000000000000000000" pitchFamily="2" charset="2"/>
                </a:rPr>
                <a:t>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  <a:sym typeface="Wingdings" panose="05000000000000000000" pitchFamily="2" charset="2"/>
                </a:rPr>
                <a:t>지속적 모니터링</a:t>
              </a:r>
              <a:b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</a:t>
              </a:r>
              <a:r>
                <a:rPr 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 Orange : </a:t>
              </a:r>
              <a:r>
                <a:rPr lang="ko-KR" alt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전체 할당 용량의 </a:t>
              </a:r>
              <a:r>
                <a:rPr lang="en-US" altLang="ko-KR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80% </a:t>
              </a:r>
              <a:r>
                <a:rPr lang="ko-KR" alt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이상 사용 상태</a:t>
              </a:r>
              <a:r>
                <a:rPr lang="en-US" altLang="ko-KR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, </a:t>
              </a:r>
              <a:r>
                <a:rPr lang="ko-KR" altLang="en-US" sz="800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</a:rPr>
                <a:t>즉시 등급 알람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 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호스트 </a:t>
              </a:r>
              <a: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/ </a:t>
              </a:r>
              <a:r>
                <a:rPr lang="ko-KR" altLang="en-US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  <a:sym typeface="Wingdings" panose="05000000000000000000" pitchFamily="2" charset="2"/>
                </a:rPr>
                <a:t>데이터스토어 자원 균형 상태 점검</a:t>
              </a:r>
              <a:br>
                <a:rPr lang="en-US" altLang="ko-KR" sz="800" dirty="0">
                  <a:solidFill>
                    <a:schemeClr val="tx2">
                      <a:lumMod val="10000"/>
                    </a:schemeClr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rgbClr val="C00000"/>
                  </a:solidFill>
                  <a:latin typeface="Metropolis" panose="00000500000000000000" pitchFamily="2" charset="0"/>
                  <a:ea typeface="+mn-ea"/>
                </a:rPr>
                <a:t>- </a:t>
              </a:r>
              <a:r>
                <a:rPr 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Red : </a:t>
              </a:r>
              <a:r>
                <a:rPr lang="ko-KR" alt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전체 할당 용량의 </a:t>
              </a:r>
              <a:r>
                <a:rPr lang="en-US" altLang="ko-KR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90% </a:t>
              </a:r>
              <a:r>
                <a:rPr lang="ko-KR" alt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이상 사용 상태</a:t>
              </a:r>
              <a:r>
                <a:rPr lang="en-US" altLang="ko-KR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, </a:t>
              </a:r>
              <a:r>
                <a:rPr lang="ko-KR" alt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</a:rPr>
                <a:t>위험 등급 알람 </a:t>
              </a:r>
              <a:r>
                <a:rPr lang="en-US" altLang="ko-KR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  <a:sym typeface="Wingdings" panose="05000000000000000000" pitchFamily="2" charset="2"/>
                </a:rPr>
                <a:t> </a:t>
              </a:r>
              <a:r>
                <a:rPr lang="ko-KR" alt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  <a:sym typeface="Wingdings" panose="05000000000000000000" pitchFamily="2" charset="2"/>
                </a:rPr>
                <a:t>미사용 </a:t>
              </a:r>
              <a:r>
                <a:rPr lang="en-US" altLang="ko-KR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  <a:sym typeface="Wingdings" panose="05000000000000000000" pitchFamily="2" charset="2"/>
                </a:rPr>
                <a:t>VM </a:t>
              </a:r>
              <a:r>
                <a:rPr lang="ko-KR" altLang="en-US" sz="800" b="1" dirty="0">
                  <a:solidFill>
                    <a:srgbClr val="FF0000"/>
                  </a:solidFill>
                  <a:latin typeface="Metropolis" panose="00000500000000000000" pitchFamily="2" charset="0"/>
                  <a:ea typeface="+mn-ea"/>
                  <a:sym typeface="Wingdings" panose="05000000000000000000" pitchFamily="2" charset="2"/>
                </a:rPr>
                <a:t>회수 또는 자원 증설 고려</a:t>
              </a:r>
              <a:br>
                <a:rPr lang="en-US" altLang="ko-KR" sz="800" b="1" dirty="0">
                  <a:solidFill>
                    <a:srgbClr val="FF0000"/>
                  </a:solidFill>
                  <a:latin typeface="+mn-ea"/>
                  <a:ea typeface="+mn-ea"/>
                </a:rPr>
              </a:br>
              <a:r>
                <a:rPr lang="en-US" sz="800" b="1" dirty="0">
                  <a:solidFill>
                    <a:srgbClr val="C00000"/>
                  </a:solidFill>
                  <a:latin typeface="Metropolis" panose="00000500000000000000" pitchFamily="2" charset="0"/>
                  <a:ea typeface="+mn-ea"/>
                </a:rPr>
                <a:t> </a:t>
              </a:r>
              <a:endParaRPr lang="en-US" sz="8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2" name="Google Shape;1325;p75">
            <a:extLst>
              <a:ext uri="{FF2B5EF4-FFF2-40B4-BE49-F238E27FC236}">
                <a16:creationId xmlns:a16="http://schemas.microsoft.com/office/drawing/2014/main" id="{E9CA1B68-0B30-6455-5156-DC18401C44ED}"/>
              </a:ext>
            </a:extLst>
          </p:cNvPr>
          <p:cNvGraphicFramePr/>
          <p:nvPr/>
        </p:nvGraphicFramePr>
        <p:xfrm>
          <a:off x="8929802" y="1618831"/>
          <a:ext cx="2645782" cy="45758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4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 보유한 호스트 및 데이터 스토어 수량 표시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전체 용량 대비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할당률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표시</a:t>
                      </a:r>
                      <a:b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</a:b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호스트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/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데이터스토어 용량 관리 도달 시 발생된 알람 건 수</a:t>
                      </a:r>
                      <a:b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</a:b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해당 위젯에서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 시 하위 위젯들의 데이터는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기준으로 업데이트 됨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9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"①"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구성된 클러스터의 보유 호스트 및 외장 데이터스토어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현재 자원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할당률을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  <a:tr h="61025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"①"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호스트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/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스토리지 중 용량 관리 대상 알람 발생 목록 입니다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354810"/>
                  </a:ext>
                </a:extLst>
              </a:tr>
              <a:tr h="10743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"①"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배포된 가상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머신들의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/ MEM / 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스펙 분포 현황입니다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리소스 스펙을 선택할 경우 해당되는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리스트를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28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92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0C9A6B5C-8ADF-7302-716C-1EBF15B1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2CBE618F-DF36-A53E-A0BC-98707A080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용량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95F0E8F4-B252-16B2-A5F0-12A9828DC6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호스트 자원 </a:t>
            </a:r>
            <a:r>
              <a:rPr lang="ko-KR" altLang="en-US" sz="1400" dirty="0" err="1">
                <a:latin typeface="+mj-ea"/>
                <a:ea typeface="+mj-ea"/>
              </a:rPr>
              <a:t>할당률</a:t>
            </a:r>
            <a:r>
              <a:rPr lang="ko-KR" altLang="en-US" sz="1400" dirty="0">
                <a:latin typeface="+mj-ea"/>
                <a:ea typeface="+mj-ea"/>
              </a:rPr>
              <a:t> 모니터링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선택된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에서 운영 중인 호스트의 개별 자원 </a:t>
            </a:r>
            <a:r>
              <a:rPr lang="ko-KR" altLang="en-US" sz="1400" dirty="0" err="1">
                <a:latin typeface="+mj-ea"/>
                <a:ea typeface="+mj-ea"/>
              </a:rPr>
              <a:t>관리을</a:t>
            </a:r>
            <a:r>
              <a:rPr lang="ko-KR" altLang="en-US" sz="1400" dirty="0">
                <a:latin typeface="+mj-ea"/>
                <a:ea typeface="+mj-ea"/>
              </a:rPr>
              <a:t> 위한 모니터링 위젯을 제공합니다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F83B5BE-8D37-F8A6-D0EE-B4776DB3F0EA}"/>
              </a:ext>
            </a:extLst>
          </p:cNvPr>
          <p:cNvGrpSpPr/>
          <p:nvPr/>
        </p:nvGrpSpPr>
        <p:grpSpPr>
          <a:xfrm>
            <a:off x="587991" y="1602749"/>
            <a:ext cx="8206759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6C4C5C-738C-5F25-4DDC-397037410E88}"/>
                </a:ext>
              </a:extLst>
            </p:cNvPr>
            <p:cNvSpPr txBox="1"/>
            <p:nvPr/>
          </p:nvSpPr>
          <p:spPr>
            <a:xfrm>
              <a:off x="708710" y="1307842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용량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호스트 자원 </a:t>
              </a:r>
              <a:r>
                <a:rPr lang="ko-KR" altLang="en-US" b="1" spc="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할당률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모니터링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92A866E-44BF-31AE-F1F3-3153B3B66E69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87F76E8-81EA-1DF0-343B-8D075397A757}"/>
              </a:ext>
            </a:extLst>
          </p:cNvPr>
          <p:cNvGrpSpPr/>
          <p:nvPr/>
        </p:nvGrpSpPr>
        <p:grpSpPr>
          <a:xfrm>
            <a:off x="608013" y="2378783"/>
            <a:ext cx="8186737" cy="2550159"/>
            <a:chOff x="608013" y="2378783"/>
            <a:chExt cx="8318817" cy="2550159"/>
          </a:xfrm>
        </p:grpSpPr>
        <p:pic>
          <p:nvPicPr>
            <p:cNvPr id="13" name="그림 12" descr="텍스트, 스크린샷, 소프트웨어, 번호이(가) 표시된 사진&#10;&#10;자동 생성된 설명">
              <a:extLst>
                <a:ext uri="{FF2B5EF4-FFF2-40B4-BE49-F238E27FC236}">
                  <a16:creationId xmlns:a16="http://schemas.microsoft.com/office/drawing/2014/main" id="{E31EF28A-B3FB-EBE5-683E-6D7A4AB4B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34" t="55748" r="-93" b="18091"/>
            <a:stretch/>
          </p:blipFill>
          <p:spPr>
            <a:xfrm>
              <a:off x="613093" y="2378783"/>
              <a:ext cx="8251507" cy="2272030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5FB1D94-ABD4-51DA-A88A-53BDD9125515}"/>
                </a:ext>
              </a:extLst>
            </p:cNvPr>
            <p:cNvSpPr/>
            <p:nvPr/>
          </p:nvSpPr>
          <p:spPr>
            <a:xfrm>
              <a:off x="608013" y="2611192"/>
              <a:ext cx="3434397" cy="126619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482CD0F-8735-DD6B-503B-8849F512C0ED}"/>
                </a:ext>
              </a:extLst>
            </p:cNvPr>
            <p:cNvSpPr txBox="1"/>
            <p:nvPr/>
          </p:nvSpPr>
          <p:spPr>
            <a:xfrm>
              <a:off x="898754" y="3585997"/>
              <a:ext cx="308221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선택된 </a:t>
              </a:r>
              <a:r>
                <a:rPr lang="en-US" altLang="ko-KR" dirty="0"/>
                <a:t>vCenter</a:t>
              </a:r>
              <a:r>
                <a:rPr lang="ko-KR" altLang="en-US" dirty="0"/>
                <a:t>의 호스트들의 자원 </a:t>
              </a:r>
              <a:r>
                <a:rPr lang="ko-KR" altLang="en-US" dirty="0" err="1"/>
                <a:t>할당률</a:t>
              </a:r>
              <a:endParaRPr lang="en-US" dirty="0"/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73F0A606-98CE-43A3-FC0C-1A5DE5344C53}"/>
                </a:ext>
              </a:extLst>
            </p:cNvPr>
            <p:cNvSpPr txBox="1"/>
            <p:nvPr/>
          </p:nvSpPr>
          <p:spPr>
            <a:xfrm>
              <a:off x="646722" y="3598158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60653A0-A4B1-E196-6142-93CF840DC375}"/>
                </a:ext>
              </a:extLst>
            </p:cNvPr>
            <p:cNvSpPr/>
            <p:nvPr/>
          </p:nvSpPr>
          <p:spPr>
            <a:xfrm>
              <a:off x="4075113" y="2612462"/>
              <a:ext cx="2747327" cy="125857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4" name="Google Shape;1333;p75">
              <a:extLst>
                <a:ext uri="{FF2B5EF4-FFF2-40B4-BE49-F238E27FC236}">
                  <a16:creationId xmlns:a16="http://schemas.microsoft.com/office/drawing/2014/main" id="{2922D5DF-E410-05BF-39FB-9A65F00F9F01}"/>
                </a:ext>
              </a:extLst>
            </p:cNvPr>
            <p:cNvSpPr txBox="1"/>
            <p:nvPr/>
          </p:nvSpPr>
          <p:spPr>
            <a:xfrm>
              <a:off x="4110012" y="3601968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6B1F65-F5FE-B0FE-4894-514B83A3FF0D}"/>
                </a:ext>
              </a:extLst>
            </p:cNvPr>
            <p:cNvSpPr txBox="1"/>
            <p:nvPr/>
          </p:nvSpPr>
          <p:spPr>
            <a:xfrm>
              <a:off x="7135725" y="3594887"/>
              <a:ext cx="1709571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선택된 </a:t>
              </a:r>
              <a:r>
                <a:rPr lang="ko-KR" altLang="en-US"/>
                <a:t>호스트 </a:t>
              </a:r>
              <a:r>
                <a:rPr lang="en-US" altLang="ko-KR" dirty="0"/>
                <a:t>VM </a:t>
              </a:r>
              <a:r>
                <a:rPr lang="ko-KR" altLang="en-US" dirty="0"/>
                <a:t>목록</a:t>
              </a:r>
              <a:endParaRPr lang="en-US" dirty="0"/>
            </a:p>
          </p:txBody>
        </p:sp>
        <p:sp>
          <p:nvSpPr>
            <p:cNvPr id="16" name="Google Shape;1333;p75">
              <a:extLst>
                <a:ext uri="{FF2B5EF4-FFF2-40B4-BE49-F238E27FC236}">
                  <a16:creationId xmlns:a16="http://schemas.microsoft.com/office/drawing/2014/main" id="{2D626CBD-6F65-3B9D-D963-6F2B3B6EB4AE}"/>
                </a:ext>
              </a:extLst>
            </p:cNvPr>
            <p:cNvSpPr txBox="1"/>
            <p:nvPr/>
          </p:nvSpPr>
          <p:spPr>
            <a:xfrm>
              <a:off x="6883692" y="3607048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E9219B8-96F3-DDFA-7929-2889EBB579AC}"/>
                </a:ext>
              </a:extLst>
            </p:cNvPr>
            <p:cNvSpPr/>
            <p:nvPr/>
          </p:nvSpPr>
          <p:spPr>
            <a:xfrm>
              <a:off x="6845745" y="2612462"/>
              <a:ext cx="2072703" cy="125857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785798-4A1E-E087-952A-3961528DA66C}"/>
                </a:ext>
              </a:extLst>
            </p:cNvPr>
            <p:cNvSpPr txBox="1"/>
            <p:nvPr/>
          </p:nvSpPr>
          <p:spPr>
            <a:xfrm>
              <a:off x="897993" y="4626480"/>
              <a:ext cx="3224427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선택된 호스트 자원 </a:t>
              </a:r>
              <a:r>
                <a:rPr lang="ko-KR" altLang="en-US" dirty="0" err="1"/>
                <a:t>할당률</a:t>
              </a:r>
              <a:r>
                <a:rPr lang="ko-KR" altLang="en-US" dirty="0"/>
                <a:t> 추세</a:t>
              </a:r>
              <a:endParaRPr lang="en-US" dirty="0"/>
            </a:p>
          </p:txBody>
        </p:sp>
        <p:sp>
          <p:nvSpPr>
            <p:cNvPr id="22" name="Google Shape;1333;p75">
              <a:extLst>
                <a:ext uri="{FF2B5EF4-FFF2-40B4-BE49-F238E27FC236}">
                  <a16:creationId xmlns:a16="http://schemas.microsoft.com/office/drawing/2014/main" id="{BF6574BB-6AF0-6496-B809-7507EA7C925F}"/>
                </a:ext>
              </a:extLst>
            </p:cNvPr>
            <p:cNvSpPr txBox="1"/>
            <p:nvPr/>
          </p:nvSpPr>
          <p:spPr>
            <a:xfrm>
              <a:off x="645960" y="4638641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4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0D5485E-B77C-4E94-D8C0-9BB44542157E}"/>
                </a:ext>
              </a:extLst>
            </p:cNvPr>
            <p:cNvSpPr/>
            <p:nvPr/>
          </p:nvSpPr>
          <p:spPr>
            <a:xfrm>
              <a:off x="608013" y="3910755"/>
              <a:ext cx="8318817" cy="1018187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4" name="Google Shape;1286;p75">
              <a:extLst>
                <a:ext uri="{FF2B5EF4-FFF2-40B4-BE49-F238E27FC236}">
                  <a16:creationId xmlns:a16="http://schemas.microsoft.com/office/drawing/2014/main" id="{872D30D9-B14B-34A2-1236-255544B91E0B}"/>
                </a:ext>
              </a:extLst>
            </p:cNvPr>
            <p:cNvSpPr/>
            <p:nvPr/>
          </p:nvSpPr>
          <p:spPr>
            <a:xfrm>
              <a:off x="2677514" y="3142830"/>
              <a:ext cx="3665374" cy="184642"/>
            </a:xfrm>
            <a:prstGeom prst="roundRect">
              <a:avLst>
                <a:gd name="adj" fmla="val 3695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72000" tIns="18000" rIns="72000" bIns="18000" anchor="t" anchorCtr="0">
              <a:noAutofit/>
            </a:bodyPr>
            <a:lstStyle/>
            <a:p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선택 시 ②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③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④ 위젯들은 선택된 호스트를 기준으로 데이터가 갱신됩니다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</a:t>
              </a:r>
            </a:p>
          </p:txBody>
        </p: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56693D44-DF34-0BBE-20A4-4D17F4FFE396}"/>
                </a:ext>
              </a:extLst>
            </p:cNvPr>
            <p:cNvCxnSpPr>
              <a:cxnSpLocks/>
              <a:stCxn id="27" idx="2"/>
              <a:endCxn id="24" idx="1"/>
            </p:cNvCxnSpPr>
            <p:nvPr/>
          </p:nvCxnSpPr>
          <p:spPr>
            <a:xfrm rot="16200000" flipH="1">
              <a:off x="2346604" y="2904240"/>
              <a:ext cx="231783" cy="430038"/>
            </a:xfrm>
            <a:prstGeom prst="bentConnector2">
              <a:avLst/>
            </a:prstGeom>
            <a:noFill/>
            <a:ln w="19050">
              <a:solidFill>
                <a:srgbClr val="C00000"/>
              </a:solidFill>
              <a:prstDash val="sysDot"/>
              <a:headEnd type="oval" w="sm" len="sm"/>
              <a:tailEnd type="oval" w="sm" len="sm"/>
            </a:ln>
            <a:effectLst>
              <a:glow rad="381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48D3033-8A8D-A327-531F-D742D8325F4E}"/>
                </a:ext>
              </a:extLst>
            </p:cNvPr>
            <p:cNvSpPr/>
            <p:nvPr/>
          </p:nvSpPr>
          <p:spPr>
            <a:xfrm>
              <a:off x="630088" y="2865575"/>
              <a:ext cx="3234775" cy="137793"/>
            </a:xfrm>
            <a:prstGeom prst="roundRect">
              <a:avLst>
                <a:gd name="adj" fmla="val 2821"/>
              </a:avLst>
            </a:prstGeom>
            <a:noFill/>
            <a:ln w="127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Metropolis" panose="00000500000000000000" pitchFamily="2" charset="0"/>
              </a:endParaRPr>
            </a:p>
          </p:txBody>
        </p:sp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49729D48-124E-5E5A-C905-B8088B8E3BE8}"/>
                </a:ext>
              </a:extLst>
            </p:cNvPr>
            <p:cNvCxnSpPr>
              <a:cxnSpLocks/>
              <a:stCxn id="14" idx="0"/>
              <a:endCxn id="24" idx="2"/>
            </p:cNvCxnSpPr>
            <p:nvPr/>
          </p:nvCxnSpPr>
          <p:spPr>
            <a:xfrm rot="5400000" flipH="1" flipV="1">
              <a:off x="4235858" y="3327626"/>
              <a:ext cx="274496" cy="27418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00000"/>
              </a:solidFill>
              <a:prstDash val="solid"/>
              <a:headEnd type="triangle" w="sm" len="sm"/>
              <a:tailEnd type="none" w="sm" len="sm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연결선: 꺾임 48">
              <a:extLst>
                <a:ext uri="{FF2B5EF4-FFF2-40B4-BE49-F238E27FC236}">
                  <a16:creationId xmlns:a16="http://schemas.microsoft.com/office/drawing/2014/main" id="{65DFA07C-2016-7C32-57ED-CA51982F8C55}"/>
                </a:ext>
              </a:extLst>
            </p:cNvPr>
            <p:cNvCxnSpPr>
              <a:cxnSpLocks/>
              <a:stCxn id="16" idx="0"/>
              <a:endCxn id="24" idx="2"/>
            </p:cNvCxnSpPr>
            <p:nvPr/>
          </p:nvCxnSpPr>
          <p:spPr>
            <a:xfrm rot="16200000" flipV="1">
              <a:off x="5620159" y="2217514"/>
              <a:ext cx="279576" cy="2499491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00000"/>
              </a:solidFill>
              <a:prstDash val="solid"/>
              <a:headEnd type="triangle" w="sm" len="sm"/>
              <a:tailEnd type="none" w="sm" len="sm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연결선: 꺾임 51">
              <a:extLst>
                <a:ext uri="{FF2B5EF4-FFF2-40B4-BE49-F238E27FC236}">
                  <a16:creationId xmlns:a16="http://schemas.microsoft.com/office/drawing/2014/main" id="{5C3F5C5C-1BB4-5F4C-9EEC-4C9FE303C5FE}"/>
                </a:ext>
              </a:extLst>
            </p:cNvPr>
            <p:cNvCxnSpPr>
              <a:cxnSpLocks/>
              <a:stCxn id="23" idx="0"/>
              <a:endCxn id="24" idx="2"/>
            </p:cNvCxnSpPr>
            <p:nvPr/>
          </p:nvCxnSpPr>
          <p:spPr>
            <a:xfrm rot="16200000" flipV="1">
              <a:off x="4347171" y="3490503"/>
              <a:ext cx="583283" cy="257221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00000"/>
              </a:solidFill>
              <a:prstDash val="solid"/>
              <a:headEnd type="triangle" w="sm" len="sm"/>
              <a:tailEnd type="none" w="sm" len="sm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4B4A5B-2AD2-E3FE-E5C6-99B4338471C7}"/>
                </a:ext>
              </a:extLst>
            </p:cNvPr>
            <p:cNvSpPr txBox="1"/>
            <p:nvPr/>
          </p:nvSpPr>
          <p:spPr>
            <a:xfrm>
              <a:off x="4362045" y="3589807"/>
              <a:ext cx="2301645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주간 호스트 자원 </a:t>
              </a:r>
              <a:r>
                <a:rPr lang="ko-KR" altLang="en-US" dirty="0" err="1"/>
                <a:t>할당률</a:t>
              </a:r>
              <a:r>
                <a:rPr lang="ko-KR" altLang="en-US" dirty="0"/>
                <a:t> 변화량</a:t>
              </a:r>
              <a:endParaRPr lang="en-US" dirty="0"/>
            </a:p>
          </p:txBody>
        </p:sp>
      </p:grpSp>
      <p:graphicFrame>
        <p:nvGraphicFramePr>
          <p:cNvPr id="9" name="Google Shape;1325;p75">
            <a:extLst>
              <a:ext uri="{FF2B5EF4-FFF2-40B4-BE49-F238E27FC236}">
                <a16:creationId xmlns:a16="http://schemas.microsoft.com/office/drawing/2014/main" id="{394374D6-564D-02EC-7542-11763B2830AD}"/>
              </a:ext>
            </a:extLst>
          </p:cNvPr>
          <p:cNvGraphicFramePr/>
          <p:nvPr/>
        </p:nvGraphicFramePr>
        <p:xfrm>
          <a:off x="9008182" y="1600200"/>
          <a:ext cx="2567401" cy="45719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1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호스트들의 리스트이며 각 호스트의 리소스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전체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가상화률을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5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선택된 호스트의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일동안 증감된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수량과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증감 수량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증감 용량을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  <a:tr h="8505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선택된 호스트에서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목록과 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할당된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CPU,MEM,DISK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용량을 표기합니다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354810"/>
                  </a:ext>
                </a:extLst>
              </a:tr>
              <a:tr h="13666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선택된 호스트의 자원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할당률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추세를 표기합니다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②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위젯은 일주일전과 현재의 비교량인 반면 해당 위젯은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할당 변화량을 추적할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28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16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7EF8B442-EFF6-E102-C176-9C16B148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A93795B1-BFEB-265C-FDEC-3DF9C0436B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용량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38CD8931-0794-283E-F6B3-EE952ABF65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데이터 스토어 자원 </a:t>
            </a:r>
            <a:r>
              <a:rPr lang="ko-KR" altLang="en-US" sz="1400" dirty="0" err="1">
                <a:latin typeface="+mj-ea"/>
                <a:ea typeface="+mj-ea"/>
              </a:rPr>
              <a:t>할당률</a:t>
            </a:r>
            <a:r>
              <a:rPr lang="ko-KR" altLang="en-US" sz="1400" dirty="0">
                <a:latin typeface="+mj-ea"/>
                <a:ea typeface="+mj-ea"/>
              </a:rPr>
              <a:t> 모니터링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선택된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에서 운영 중인 데이터스토어의 개별 자원 </a:t>
            </a:r>
            <a:r>
              <a:rPr lang="ko-KR" altLang="en-US" sz="1400" dirty="0" err="1">
                <a:latin typeface="+mj-ea"/>
                <a:ea typeface="+mj-ea"/>
              </a:rPr>
              <a:t>관리을</a:t>
            </a:r>
            <a:r>
              <a:rPr lang="ko-KR" altLang="en-US" sz="1400" dirty="0">
                <a:latin typeface="+mj-ea"/>
                <a:ea typeface="+mj-ea"/>
              </a:rPr>
              <a:t> 위한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모니터링 위젯을 제공합니다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8A2794-9E96-15AB-3E70-0E596566B3E4}"/>
              </a:ext>
            </a:extLst>
          </p:cNvPr>
          <p:cNvGrpSpPr/>
          <p:nvPr/>
        </p:nvGrpSpPr>
        <p:grpSpPr>
          <a:xfrm>
            <a:off x="608013" y="1596074"/>
            <a:ext cx="8186737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8584EB-1FB2-6585-AB30-5F2799B3A74D}"/>
                </a:ext>
              </a:extLst>
            </p:cNvPr>
            <p:cNvSpPr txBox="1"/>
            <p:nvPr/>
          </p:nvSpPr>
          <p:spPr>
            <a:xfrm>
              <a:off x="708710" y="1312922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용량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데이터스토어 자원 </a:t>
              </a:r>
              <a:r>
                <a:rPr lang="ko-KR" altLang="en-US" b="1" spc="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할당률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모니터링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942EEDB-72C9-81F2-7BD2-82C724D52BA8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8A923F0-3F61-9C04-8176-2159CCE10D1A}"/>
              </a:ext>
            </a:extLst>
          </p:cNvPr>
          <p:cNvGrpSpPr/>
          <p:nvPr/>
        </p:nvGrpSpPr>
        <p:grpSpPr>
          <a:xfrm>
            <a:off x="613093" y="2011679"/>
            <a:ext cx="8181657" cy="1844041"/>
            <a:chOff x="613093" y="2011679"/>
            <a:chExt cx="8284019" cy="1844041"/>
          </a:xfrm>
        </p:grpSpPr>
        <p:pic>
          <p:nvPicPr>
            <p:cNvPr id="13" name="그림 12" descr="텍스트, 스크린샷, 소프트웨어, 번호이(가) 표시된 사진&#10;&#10;자동 생성된 설명">
              <a:extLst>
                <a:ext uri="{FF2B5EF4-FFF2-40B4-BE49-F238E27FC236}">
                  <a16:creationId xmlns:a16="http://schemas.microsoft.com/office/drawing/2014/main" id="{82540BEC-544C-4E68-1FD3-005294A160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50" t="81970" r="-109" b="-132"/>
            <a:stretch/>
          </p:blipFill>
          <p:spPr>
            <a:xfrm>
              <a:off x="613093" y="2011679"/>
              <a:ext cx="8251507" cy="1577341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011725B-EFB4-158F-D9B8-CD8E3D28E48F}"/>
                </a:ext>
              </a:extLst>
            </p:cNvPr>
            <p:cNvSpPr/>
            <p:nvPr/>
          </p:nvSpPr>
          <p:spPr>
            <a:xfrm>
              <a:off x="632397" y="2194560"/>
              <a:ext cx="4110291" cy="166116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871B858-B0FD-2C15-17A1-3764455740C3}"/>
                </a:ext>
              </a:extLst>
            </p:cNvPr>
            <p:cNvSpPr txBox="1"/>
            <p:nvPr/>
          </p:nvSpPr>
          <p:spPr>
            <a:xfrm>
              <a:off x="923138" y="3585604"/>
              <a:ext cx="308221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선택된 </a:t>
              </a:r>
              <a:r>
                <a:rPr lang="en-US" altLang="ko-KR" dirty="0"/>
                <a:t>vCenter</a:t>
              </a:r>
              <a:r>
                <a:rPr lang="ko-KR" altLang="en-US" dirty="0"/>
                <a:t>의 데이터스토어 사용률</a:t>
              </a:r>
              <a:endParaRPr lang="en-US" dirty="0"/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DD2E6969-2FFF-903E-64C9-D2B0D58C0443}"/>
                </a:ext>
              </a:extLst>
            </p:cNvPr>
            <p:cNvSpPr txBox="1"/>
            <p:nvPr/>
          </p:nvSpPr>
          <p:spPr>
            <a:xfrm>
              <a:off x="671106" y="3597765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FC3F964-964D-C58C-E7B4-D0E4E37CABDB}"/>
                </a:ext>
              </a:extLst>
            </p:cNvPr>
            <p:cNvSpPr/>
            <p:nvPr/>
          </p:nvSpPr>
          <p:spPr>
            <a:xfrm>
              <a:off x="4768533" y="2202181"/>
              <a:ext cx="4118927" cy="73533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4" name="Google Shape;1333;p75">
              <a:extLst>
                <a:ext uri="{FF2B5EF4-FFF2-40B4-BE49-F238E27FC236}">
                  <a16:creationId xmlns:a16="http://schemas.microsoft.com/office/drawing/2014/main" id="{71B0CBDA-C221-BBBF-3997-FA6B96548EBD}"/>
                </a:ext>
              </a:extLst>
            </p:cNvPr>
            <p:cNvSpPr txBox="1"/>
            <p:nvPr/>
          </p:nvSpPr>
          <p:spPr>
            <a:xfrm>
              <a:off x="4803432" y="2671681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380D02-726A-AAA9-CD07-B9ACF0886E7C}"/>
                </a:ext>
              </a:extLst>
            </p:cNvPr>
            <p:cNvSpPr txBox="1"/>
            <p:nvPr/>
          </p:nvSpPr>
          <p:spPr>
            <a:xfrm>
              <a:off x="5060037" y="3574936"/>
              <a:ext cx="210276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/>
                <a:t>데이터스토어 사용률 추세</a:t>
              </a:r>
              <a:endParaRPr lang="en-US" dirty="0"/>
            </a:p>
          </p:txBody>
        </p:sp>
        <p:sp>
          <p:nvSpPr>
            <p:cNvPr id="16" name="Google Shape;1333;p75">
              <a:extLst>
                <a:ext uri="{FF2B5EF4-FFF2-40B4-BE49-F238E27FC236}">
                  <a16:creationId xmlns:a16="http://schemas.microsoft.com/office/drawing/2014/main" id="{A18EACE4-83E5-A85F-1D1E-88D3808CC30B}"/>
                </a:ext>
              </a:extLst>
            </p:cNvPr>
            <p:cNvSpPr txBox="1"/>
            <p:nvPr/>
          </p:nvSpPr>
          <p:spPr>
            <a:xfrm>
              <a:off x="4808004" y="3587097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E6BA61-84A3-AB8E-9A0F-6131E3E4776E}"/>
                </a:ext>
              </a:extLst>
            </p:cNvPr>
            <p:cNvSpPr/>
            <p:nvPr/>
          </p:nvSpPr>
          <p:spPr>
            <a:xfrm>
              <a:off x="4773105" y="2971479"/>
              <a:ext cx="4124007" cy="884241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34BDC9-2D9D-8D44-D661-181BCC9B319B}"/>
                </a:ext>
              </a:extLst>
            </p:cNvPr>
            <p:cNvSpPr txBox="1"/>
            <p:nvPr/>
          </p:nvSpPr>
          <p:spPr>
            <a:xfrm>
              <a:off x="5055465" y="2659520"/>
              <a:ext cx="2301645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주간 데이터스토어 사용률 변화량</a:t>
              </a:r>
              <a:endParaRPr lang="en-US" dirty="0"/>
            </a:p>
          </p:txBody>
        </p:sp>
      </p:grpSp>
      <p:graphicFrame>
        <p:nvGraphicFramePr>
          <p:cNvPr id="9" name="Google Shape;1325;p75">
            <a:extLst>
              <a:ext uri="{FF2B5EF4-FFF2-40B4-BE49-F238E27FC236}">
                <a16:creationId xmlns:a16="http://schemas.microsoft.com/office/drawing/2014/main" id="{F33D8D97-672F-60F1-6140-307CE1EDAF79}"/>
              </a:ext>
            </a:extLst>
          </p:cNvPr>
          <p:cNvGraphicFramePr/>
          <p:nvPr/>
        </p:nvGraphicFramePr>
        <p:xfrm>
          <a:off x="8902700" y="1604494"/>
          <a:ext cx="2672883" cy="45677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8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47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데이터스토어들의 리스트이며 각 데이터스토어에 저장된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전체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남은 용량을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7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선택된 데이터스토어의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일동안 증감된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수량과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 용량 증감을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  <a:tr h="17269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선택된 데이터스토어의 사용률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추세를 표기합니다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②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위젯은 일주일전과 현재의 비교량인 반면 해당 위젯은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사용 변화량을 추적할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354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43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EFBAEDAC-8C60-9DB1-AE8F-493015E1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F45825A9-8E16-0B62-CEE5-588B985A2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성능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0D7FCDC2-12B3-9FF4-8E9B-A9BBA6D6AD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인프라 성능 관리 대시보드는 </a:t>
            </a:r>
            <a:r>
              <a:rPr lang="en-US" altLang="ko-KR" sz="1400" dirty="0">
                <a:latin typeface="+mj-ea"/>
                <a:ea typeface="+mj-ea"/>
              </a:rPr>
              <a:t>3</a:t>
            </a:r>
            <a:r>
              <a:rPr lang="ko-KR" altLang="en-US" sz="1400" dirty="0">
                <a:latin typeface="+mj-ea"/>
                <a:ea typeface="+mj-ea"/>
              </a:rPr>
              <a:t>개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으로 구분됩니다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첫번째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운영 기준으로 나뉘어진 각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 그룹별로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CPU, MEM, DISK </a:t>
            </a:r>
            <a:r>
              <a:rPr lang="ko-KR" altLang="en-US" sz="1400" dirty="0">
                <a:latin typeface="+mj-ea"/>
                <a:ea typeface="+mj-ea"/>
              </a:rPr>
              <a:t>성능 저하가 발생하는 </a:t>
            </a: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의 수량을 실시간으로 모니터링 할 수 있습니다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60FEEB-328E-0C64-E9DC-BC9DB7903402}"/>
              </a:ext>
            </a:extLst>
          </p:cNvPr>
          <p:cNvGrpSpPr/>
          <p:nvPr/>
        </p:nvGrpSpPr>
        <p:grpSpPr>
          <a:xfrm>
            <a:off x="585789" y="1603075"/>
            <a:ext cx="8208962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A82999-4713-C41F-8905-8AB341574318}"/>
                </a:ext>
              </a:extLst>
            </p:cNvPr>
            <p:cNvSpPr txBox="1"/>
            <p:nvPr/>
          </p:nvSpPr>
          <p:spPr>
            <a:xfrm>
              <a:off x="708710" y="130747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성능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SECTION 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E28E481-9561-C473-49E7-5E6FF5303D20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204EE17-C8A0-AE8B-8073-7D41627E7E27}"/>
              </a:ext>
            </a:extLst>
          </p:cNvPr>
          <p:cNvGrpSpPr/>
          <p:nvPr/>
        </p:nvGrpSpPr>
        <p:grpSpPr>
          <a:xfrm>
            <a:off x="617562" y="2182033"/>
            <a:ext cx="8212748" cy="3134165"/>
            <a:chOff x="617562" y="1895035"/>
            <a:chExt cx="8212748" cy="3134165"/>
          </a:xfrm>
        </p:grpSpPr>
        <p:pic>
          <p:nvPicPr>
            <p:cNvPr id="19" name="그림 18" descr="텍스트, 스크린샷, 번호, 평행이(가) 표시된 사진&#10;&#10;자동 생성된 설명">
              <a:extLst>
                <a:ext uri="{FF2B5EF4-FFF2-40B4-BE49-F238E27FC236}">
                  <a16:creationId xmlns:a16="http://schemas.microsoft.com/office/drawing/2014/main" id="{D4A5F785-41FD-400E-1B4C-46DABEDE65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6" t="3963" b="78927"/>
            <a:stretch/>
          </p:blipFill>
          <p:spPr>
            <a:xfrm>
              <a:off x="618489" y="2291208"/>
              <a:ext cx="8143031" cy="241173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55F202-2908-453B-7902-0D01F101A421}"/>
                </a:ext>
              </a:extLst>
            </p:cNvPr>
            <p:cNvSpPr txBox="1"/>
            <p:nvPr/>
          </p:nvSpPr>
          <p:spPr>
            <a:xfrm>
              <a:off x="918210" y="3282899"/>
              <a:ext cx="247650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en-US" altLang="ko-KR" dirty="0">
                  <a:sym typeface="Malgun Gothic"/>
                </a:rPr>
                <a:t>vCenter</a:t>
              </a:r>
              <a:r>
                <a:rPr lang="ko-KR" altLang="en-US" dirty="0">
                  <a:sym typeface="Malgun Gothic"/>
                </a:rPr>
                <a:t>별 </a:t>
              </a:r>
              <a:r>
                <a:rPr lang="en-US" altLang="ko-KR" dirty="0">
                  <a:sym typeface="Malgun Gothic"/>
                </a:rPr>
                <a:t>Poor Performance </a:t>
              </a:r>
              <a:r>
                <a:rPr lang="ko-KR" altLang="en-US" dirty="0">
                  <a:sym typeface="Malgun Gothic"/>
                </a:rPr>
                <a:t>수량</a:t>
              </a:r>
              <a:endParaRPr 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0B5AAF-AEC2-74E1-4669-1599A2B6B4D6}"/>
                </a:ext>
              </a:extLst>
            </p:cNvPr>
            <p:cNvSpPr/>
            <p:nvPr/>
          </p:nvSpPr>
          <p:spPr>
            <a:xfrm>
              <a:off x="617562" y="2283588"/>
              <a:ext cx="8200048" cy="128397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9925E983-7D96-8EAD-19E9-50BDC9CA6F54}"/>
                </a:ext>
              </a:extLst>
            </p:cNvPr>
            <p:cNvSpPr txBox="1"/>
            <p:nvPr/>
          </p:nvSpPr>
          <p:spPr>
            <a:xfrm>
              <a:off x="666177" y="3295060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0D23693-C302-0A4B-DF03-0EC5EE04B052}"/>
                </a:ext>
              </a:extLst>
            </p:cNvPr>
            <p:cNvSpPr/>
            <p:nvPr/>
          </p:nvSpPr>
          <p:spPr>
            <a:xfrm>
              <a:off x="644313" y="2515999"/>
              <a:ext cx="2675468" cy="495300"/>
            </a:xfrm>
            <a:prstGeom prst="roundRect">
              <a:avLst>
                <a:gd name="adj" fmla="val 2821"/>
              </a:avLst>
            </a:prstGeom>
            <a:noFill/>
            <a:ln w="127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Metropolis" panose="00000500000000000000" pitchFamily="2" charset="0"/>
              </a:endParaRPr>
            </a:p>
          </p:txBody>
        </p:sp>
        <p:sp>
          <p:nvSpPr>
            <p:cNvPr id="18" name="Google Shape;1286;p75">
              <a:extLst>
                <a:ext uri="{FF2B5EF4-FFF2-40B4-BE49-F238E27FC236}">
                  <a16:creationId xmlns:a16="http://schemas.microsoft.com/office/drawing/2014/main" id="{AE86852A-D451-F6F5-B703-CDEF7FC439BA}"/>
                </a:ext>
              </a:extLst>
            </p:cNvPr>
            <p:cNvSpPr/>
            <p:nvPr/>
          </p:nvSpPr>
          <p:spPr>
            <a:xfrm>
              <a:off x="1226820" y="2429865"/>
              <a:ext cx="446659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8000" rIns="91425" bIns="18000" anchor="ctr" anchorCtr="0">
              <a:spAutoFit/>
            </a:bodyPr>
            <a:lstStyle/>
            <a:p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클릭 시 상호 작용하여 아래 모든 위젯의 데이터 대상을 클릭한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vCenter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기준으로 표시합니다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</a:t>
              </a:r>
              <a:endParaRPr sz="800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</a:endParaRPr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42EDA1AC-92C9-BA15-B619-C9DAD7C64C75}"/>
                </a:ext>
              </a:extLst>
            </p:cNvPr>
            <p:cNvSpPr/>
            <p:nvPr/>
          </p:nvSpPr>
          <p:spPr>
            <a:xfrm>
              <a:off x="8000788" y="2308987"/>
              <a:ext cx="791422" cy="124461"/>
            </a:xfrm>
            <a:prstGeom prst="roundRect">
              <a:avLst>
                <a:gd name="adj" fmla="val 2821"/>
              </a:avLst>
            </a:prstGeom>
            <a:noFill/>
            <a:ln w="127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Metropolis" panose="00000500000000000000" pitchFamily="2" charset="0"/>
              </a:endParaRPr>
            </a:p>
          </p:txBody>
        </p:sp>
        <p:sp>
          <p:nvSpPr>
            <p:cNvPr id="9" name="Google Shape;1286;p75">
              <a:extLst>
                <a:ext uri="{FF2B5EF4-FFF2-40B4-BE49-F238E27FC236}">
                  <a16:creationId xmlns:a16="http://schemas.microsoft.com/office/drawing/2014/main" id="{C9FF6828-B8E0-15BD-8659-4A0DDA6594DA}"/>
                </a:ext>
              </a:extLst>
            </p:cNvPr>
            <p:cNvSpPr/>
            <p:nvPr/>
          </p:nvSpPr>
          <p:spPr>
            <a:xfrm>
              <a:off x="4830445" y="1895035"/>
              <a:ext cx="3888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차트 계열의 위젯의 경우 아래 선택된 기간 기준에 따라 시간 계열이 변화합니다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</a:t>
              </a:r>
              <a:endParaRPr sz="800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</a:endParaRPr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2275B487-C4EF-E9D3-9D7C-5B88DE538D74}"/>
                </a:ext>
              </a:extLst>
            </p:cNvPr>
            <p:cNvCxnSpPr>
              <a:stCxn id="9" idx="2"/>
              <a:endCxn id="2" idx="0"/>
            </p:cNvCxnSpPr>
            <p:nvPr/>
          </p:nvCxnSpPr>
          <p:spPr>
            <a:xfrm rot="16200000" flipH="1">
              <a:off x="7468496" y="1380984"/>
              <a:ext cx="233952" cy="1622054"/>
            </a:xfrm>
            <a:prstGeom prst="bentConnector3">
              <a:avLst/>
            </a:prstGeom>
            <a:ln>
              <a:solidFill>
                <a:srgbClr val="C00000"/>
              </a:solidFill>
              <a:headEnd type="none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F215CE6-8345-AB57-3185-F6134DD4237E}"/>
                </a:ext>
              </a:extLst>
            </p:cNvPr>
            <p:cNvSpPr/>
            <p:nvPr/>
          </p:nvSpPr>
          <p:spPr>
            <a:xfrm>
              <a:off x="630262" y="3598038"/>
              <a:ext cx="8200048" cy="1431162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5B23C9-F641-ADBB-5EE9-DE280BA369A5}"/>
                </a:ext>
              </a:extLst>
            </p:cNvPr>
            <p:cNvSpPr txBox="1"/>
            <p:nvPr/>
          </p:nvSpPr>
          <p:spPr>
            <a:xfrm>
              <a:off x="924560" y="4723079"/>
              <a:ext cx="260985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실시간 </a:t>
              </a:r>
              <a:r>
                <a:rPr lang="en-US" altLang="ko-KR" dirty="0">
                  <a:sym typeface="Malgun Gothic"/>
                </a:rPr>
                <a:t>Poor Performance VM</a:t>
              </a:r>
              <a:r>
                <a:rPr lang="ko-KR" altLang="en-US" dirty="0">
                  <a:sym typeface="Malgun Gothic"/>
                </a:rPr>
                <a:t> 순위</a:t>
              </a:r>
              <a:endParaRPr lang="en-US" dirty="0"/>
            </a:p>
          </p:txBody>
        </p:sp>
        <p:sp>
          <p:nvSpPr>
            <p:cNvPr id="15" name="Google Shape;1333;p75">
              <a:extLst>
                <a:ext uri="{FF2B5EF4-FFF2-40B4-BE49-F238E27FC236}">
                  <a16:creationId xmlns:a16="http://schemas.microsoft.com/office/drawing/2014/main" id="{56E844A7-D485-BE35-7BC7-63741B83A99C}"/>
                </a:ext>
              </a:extLst>
            </p:cNvPr>
            <p:cNvSpPr txBox="1"/>
            <p:nvPr/>
          </p:nvSpPr>
          <p:spPr>
            <a:xfrm>
              <a:off x="678877" y="4735240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BA9803F-8BC8-FF14-4113-81E6452976E1}"/>
                </a:ext>
              </a:extLst>
            </p:cNvPr>
            <p:cNvSpPr/>
            <p:nvPr/>
          </p:nvSpPr>
          <p:spPr>
            <a:xfrm>
              <a:off x="5242306" y="2804288"/>
              <a:ext cx="255270" cy="2540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7" name="Google Shape;1286;p75">
              <a:extLst>
                <a:ext uri="{FF2B5EF4-FFF2-40B4-BE49-F238E27FC236}">
                  <a16:creationId xmlns:a16="http://schemas.microsoft.com/office/drawing/2014/main" id="{231C21E4-239D-905F-285A-82F78E039C86}"/>
                </a:ext>
              </a:extLst>
            </p:cNvPr>
            <p:cNvSpPr/>
            <p:nvPr/>
          </p:nvSpPr>
          <p:spPr>
            <a:xfrm>
              <a:off x="5091176" y="3091325"/>
              <a:ext cx="3671596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0" rIns="91425" bIns="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과거에 발생한 기록이며 상세 </a:t>
              </a:r>
              <a:r>
                <a:rPr lang="ko-KR" altLang="en-US" sz="800" i="0" u="none" strike="noStrike" cap="none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내역은  </a:t>
              </a:r>
              <a:r>
                <a:rPr lang="en-US" altLang="ko-KR" sz="800" i="0" u="none" strike="noStrike" cap="none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"SECTION </a:t>
              </a:r>
              <a:r>
                <a:rPr lang="en-US" altLang="ko-KR" sz="800">
                  <a:solidFill>
                    <a:schemeClr val="dk2"/>
                  </a:solidFill>
                  <a:latin typeface="+mn-ea"/>
                  <a:ea typeface="+mn-ea"/>
                </a:rPr>
                <a:t>B"</a:t>
              </a:r>
              <a:r>
                <a:rPr lang="ko-KR" altLang="en-US" sz="800">
                  <a:solidFill>
                    <a:schemeClr val="dk2"/>
                  </a:solidFill>
                  <a:latin typeface="+mn-ea"/>
                  <a:ea typeface="+mn-ea"/>
                </a:rPr>
                <a:t>에서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추적할 수 있습니다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endParaRPr sz="800" i="0" u="none" strike="noStrike" cap="none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  <a:sym typeface="Arial"/>
              </a:endParaRPr>
            </a:p>
          </p:txBody>
        </p:sp>
      </p:grpSp>
      <p:graphicFrame>
        <p:nvGraphicFramePr>
          <p:cNvPr id="10" name="Google Shape;1325;p75">
            <a:extLst>
              <a:ext uri="{FF2B5EF4-FFF2-40B4-BE49-F238E27FC236}">
                <a16:creationId xmlns:a16="http://schemas.microsoft.com/office/drawing/2014/main" id="{9E5EB01A-B9DF-B333-EE8A-2999FC3BF65F}"/>
              </a:ext>
            </a:extLst>
          </p:cNvPr>
          <p:cNvGraphicFramePr/>
          <p:nvPr/>
        </p:nvGraphicFramePr>
        <p:xfrm>
          <a:off x="9008182" y="1611965"/>
          <a:ext cx="2567401" cy="45602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1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운영 서비스 기준으로 나뉜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6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개의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Server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로 그룹을 분리하였습니다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Server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서비스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중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Poor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성능 상태인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수량을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위젯을 선택할 경우 아래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 A, SECTION B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위젯들이 해당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기준으로 업데이트 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2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클릭 시 서비스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Poor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성능 상태를</a:t>
                      </a:r>
                      <a:b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</a:b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가장 심각한 수준부터 순위를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모든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이 정상 임계치로 운영될 경우 녹색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Bar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로 표시됩니다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00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B5B7D37B-E2DB-138D-748B-2324EF82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3475810D-C911-A573-A90C-36D982848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성능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C234D285-2243-A8F2-3818-1C73AE3A861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실시간 호스트 및 </a:t>
            </a: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성능 모니터링</a:t>
            </a:r>
            <a:r>
              <a:rPr lang="en-US" altLang="ko-KR" sz="1400" dirty="0">
                <a:latin typeface="+mj-ea"/>
                <a:ea typeface="+mj-ea"/>
              </a:rPr>
              <a:t> SECTION</a:t>
            </a:r>
            <a:r>
              <a:rPr lang="ko-KR" altLang="en-US" sz="1400" dirty="0">
                <a:latin typeface="+mj-ea"/>
                <a:ea typeface="+mj-ea"/>
              </a:rPr>
              <a:t>은 실시간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에서 선택된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의 대상 호스트 전체와 해당 호스트에서 운영 중인 </a:t>
            </a: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 및 데이터 스토어에서 기록된 리소스 사용률 및 성능 저하와 관련된 경합 수치를 실시간 조회 할 수 있습니다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68CA931-20C1-8840-3021-69F5B5FDB437}"/>
              </a:ext>
            </a:extLst>
          </p:cNvPr>
          <p:cNvGrpSpPr/>
          <p:nvPr/>
        </p:nvGrpSpPr>
        <p:grpSpPr>
          <a:xfrm>
            <a:off x="594665" y="1609427"/>
            <a:ext cx="8200085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8DD710-0F8D-0180-408D-4F045576BE07}"/>
                </a:ext>
              </a:extLst>
            </p:cNvPr>
            <p:cNvSpPr txBox="1"/>
            <p:nvPr/>
          </p:nvSpPr>
          <p:spPr>
            <a:xfrm>
              <a:off x="708710" y="130747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성능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호스트 및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성능 모니터링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803D4D-4115-C619-DB81-49B717B0692A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9E28653-C75A-8B62-9E31-AFE641950FE2}"/>
              </a:ext>
            </a:extLst>
          </p:cNvPr>
          <p:cNvGrpSpPr/>
          <p:nvPr/>
        </p:nvGrpSpPr>
        <p:grpSpPr>
          <a:xfrm>
            <a:off x="577533" y="2037402"/>
            <a:ext cx="8217217" cy="4142987"/>
            <a:chOff x="577533" y="1673651"/>
            <a:chExt cx="8332787" cy="4259788"/>
          </a:xfrm>
        </p:grpSpPr>
        <p:pic>
          <p:nvPicPr>
            <p:cNvPr id="19" name="그림 18" descr="텍스트, 스크린샷, 번호, 평행이(가) 표시된 사진&#10;&#10;자동 생성된 설명">
              <a:extLst>
                <a:ext uri="{FF2B5EF4-FFF2-40B4-BE49-F238E27FC236}">
                  <a16:creationId xmlns:a16="http://schemas.microsoft.com/office/drawing/2014/main" id="{C08EF4D9-C6C8-54FB-FA7C-720C695D53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6" t="21143" b="51456"/>
            <a:stretch/>
          </p:blipFill>
          <p:spPr>
            <a:xfrm>
              <a:off x="577533" y="1673651"/>
              <a:ext cx="8322221" cy="394716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9907E0-6745-7B5B-5A21-BD771DA853C5}"/>
                </a:ext>
              </a:extLst>
            </p:cNvPr>
            <p:cNvSpPr txBox="1"/>
            <p:nvPr/>
          </p:nvSpPr>
          <p:spPr>
            <a:xfrm>
              <a:off x="893421" y="2882512"/>
              <a:ext cx="247650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실시간 호스트 성능 모니터링 종합</a:t>
              </a:r>
              <a:endParaRPr 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14B80E4-BF74-7273-B6F5-4B2C6A2991B6}"/>
                </a:ext>
              </a:extLst>
            </p:cNvPr>
            <p:cNvSpPr/>
            <p:nvPr/>
          </p:nvSpPr>
          <p:spPr>
            <a:xfrm>
              <a:off x="608012" y="1867961"/>
              <a:ext cx="8292147" cy="128397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0C951828-A93F-209E-6207-299E4D8E7212}"/>
                </a:ext>
              </a:extLst>
            </p:cNvPr>
            <p:cNvSpPr txBox="1"/>
            <p:nvPr/>
          </p:nvSpPr>
          <p:spPr>
            <a:xfrm>
              <a:off x="641388" y="2894673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11CCE93-75A7-11E6-FF6C-E135B1B03DD8}"/>
                </a:ext>
              </a:extLst>
            </p:cNvPr>
            <p:cNvSpPr/>
            <p:nvPr/>
          </p:nvSpPr>
          <p:spPr>
            <a:xfrm>
              <a:off x="608012" y="3209081"/>
              <a:ext cx="8302307" cy="68580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9E09B9F-9223-D923-4FA4-F8286D06CF3D}"/>
                </a:ext>
              </a:extLst>
            </p:cNvPr>
            <p:cNvSpPr txBox="1"/>
            <p:nvPr/>
          </p:nvSpPr>
          <p:spPr>
            <a:xfrm>
              <a:off x="882492" y="3611453"/>
              <a:ext cx="344566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호스트 리소스 경합 추세</a:t>
              </a:r>
              <a:endParaRPr lang="en-US" dirty="0"/>
            </a:p>
          </p:txBody>
        </p:sp>
        <p:sp>
          <p:nvSpPr>
            <p:cNvPr id="15" name="Google Shape;1333;p75">
              <a:extLst>
                <a:ext uri="{FF2B5EF4-FFF2-40B4-BE49-F238E27FC236}">
                  <a16:creationId xmlns:a16="http://schemas.microsoft.com/office/drawing/2014/main" id="{05E9EFE0-D491-0A40-E1FB-00BBFF542F23}"/>
                </a:ext>
              </a:extLst>
            </p:cNvPr>
            <p:cNvSpPr txBox="1"/>
            <p:nvPr/>
          </p:nvSpPr>
          <p:spPr>
            <a:xfrm>
              <a:off x="636809" y="3623614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4AD262-CF0E-7560-E491-6A441D0E1E8B}"/>
                </a:ext>
              </a:extLst>
            </p:cNvPr>
            <p:cNvSpPr/>
            <p:nvPr/>
          </p:nvSpPr>
          <p:spPr>
            <a:xfrm>
              <a:off x="608013" y="3952285"/>
              <a:ext cx="8302307" cy="887476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E0339E-0A91-67BF-01FD-C5E496EE8FD1}"/>
                </a:ext>
              </a:extLst>
            </p:cNvPr>
            <p:cNvSpPr txBox="1"/>
            <p:nvPr/>
          </p:nvSpPr>
          <p:spPr>
            <a:xfrm>
              <a:off x="882492" y="4552777"/>
              <a:ext cx="4066697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호스트의 실시간 </a:t>
              </a:r>
              <a:r>
                <a:rPr lang="en-US" altLang="ko-KR" dirty="0"/>
                <a:t>VM </a:t>
              </a:r>
              <a:r>
                <a:rPr lang="ko-KR" altLang="en-US" dirty="0"/>
                <a:t>성능 상태 및 </a:t>
              </a:r>
              <a:r>
                <a:rPr lang="en-US" altLang="ko-KR" dirty="0"/>
                <a:t>VM </a:t>
              </a:r>
              <a:r>
                <a:rPr lang="ko-KR" altLang="en-US" dirty="0"/>
                <a:t>리소스 경합 추세</a:t>
              </a:r>
              <a:endParaRPr lang="en-US" dirty="0"/>
            </a:p>
          </p:txBody>
        </p:sp>
        <p:sp>
          <p:nvSpPr>
            <p:cNvPr id="20" name="Google Shape;1333;p75">
              <a:extLst>
                <a:ext uri="{FF2B5EF4-FFF2-40B4-BE49-F238E27FC236}">
                  <a16:creationId xmlns:a16="http://schemas.microsoft.com/office/drawing/2014/main" id="{563DC9E7-BC6A-AD3D-C030-B840D4755DE5}"/>
                </a:ext>
              </a:extLst>
            </p:cNvPr>
            <p:cNvSpPr txBox="1"/>
            <p:nvPr/>
          </p:nvSpPr>
          <p:spPr>
            <a:xfrm>
              <a:off x="636810" y="4564938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A5EB759-A819-E655-973C-E278DD60E1A6}"/>
                </a:ext>
              </a:extLst>
            </p:cNvPr>
            <p:cNvSpPr/>
            <p:nvPr/>
          </p:nvSpPr>
          <p:spPr>
            <a:xfrm>
              <a:off x="608013" y="4892084"/>
              <a:ext cx="8302307" cy="1041355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3A71F95-67B6-3E05-E346-AE1AF56B828B}"/>
                </a:ext>
              </a:extLst>
            </p:cNvPr>
            <p:cNvSpPr txBox="1"/>
            <p:nvPr/>
          </p:nvSpPr>
          <p:spPr>
            <a:xfrm>
              <a:off x="882492" y="5634817"/>
              <a:ext cx="776366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호스트 또는 </a:t>
              </a:r>
              <a:r>
                <a:rPr lang="en-US" altLang="ko-KR" dirty="0"/>
                <a:t>VM</a:t>
              </a:r>
              <a:r>
                <a:rPr lang="ko-KR" altLang="en-US" dirty="0"/>
                <a:t>과 연결된 데이터 스토어의 실시간 디스크 지연 현황 </a:t>
              </a:r>
              <a:endParaRPr lang="en-US" dirty="0"/>
            </a:p>
          </p:txBody>
        </p:sp>
        <p:sp>
          <p:nvSpPr>
            <p:cNvPr id="26" name="Google Shape;1333;p75">
              <a:extLst>
                <a:ext uri="{FF2B5EF4-FFF2-40B4-BE49-F238E27FC236}">
                  <a16:creationId xmlns:a16="http://schemas.microsoft.com/office/drawing/2014/main" id="{DFF4AFB1-519B-9FF3-6420-DD123B594290}"/>
                </a:ext>
              </a:extLst>
            </p:cNvPr>
            <p:cNvSpPr txBox="1"/>
            <p:nvPr/>
          </p:nvSpPr>
          <p:spPr>
            <a:xfrm>
              <a:off x="636810" y="5646978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4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8" name="Google Shape;1286;p75">
              <a:extLst>
                <a:ext uri="{FF2B5EF4-FFF2-40B4-BE49-F238E27FC236}">
                  <a16:creationId xmlns:a16="http://schemas.microsoft.com/office/drawing/2014/main" id="{8BB779CE-AE10-41C0-2AFD-5CD761D0DB47}"/>
                </a:ext>
              </a:extLst>
            </p:cNvPr>
            <p:cNvSpPr/>
            <p:nvPr/>
          </p:nvSpPr>
          <p:spPr>
            <a:xfrm>
              <a:off x="5467096" y="2320081"/>
              <a:ext cx="3299969" cy="980440"/>
            </a:xfrm>
            <a:prstGeom prst="roundRect">
              <a:avLst>
                <a:gd name="adj" fmla="val 3695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8000" tIns="18000" rIns="18000" bIns="18000" anchor="t" anchorCtr="0">
              <a:noAutofit/>
            </a:bodyPr>
            <a:lstStyle/>
            <a:p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[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성능 지연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SLA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기준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]</a:t>
              </a:r>
            </a:p>
            <a:p>
              <a:pPr marL="171450" indent="-82550">
                <a:buFont typeface="Wingdings" panose="05000000000000000000" pitchFamily="2" charset="2"/>
                <a:buChar char="§"/>
              </a:pPr>
              <a:r>
                <a:rPr 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CPU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경합</a:t>
              </a:r>
              <a:b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Green : 2.5%</a:t>
              </a:r>
              <a:r>
                <a:rPr lang="ko-KR" altLang="en-US" sz="800" b="1" dirty="0">
                  <a:solidFill>
                    <a:srgbClr val="597539"/>
                  </a:solidFill>
                  <a:latin typeface="+mn-ea"/>
                  <a:ea typeface="+mn-ea"/>
                </a:rPr>
                <a:t>↓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Yellow: 2.5%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↑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Orange: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5%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↑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Red:</a:t>
              </a:r>
              <a:r>
                <a:rPr lang="ko-KR" altLang="en-US" sz="800" b="1" dirty="0">
                  <a:solidFill>
                    <a:srgbClr val="C00000"/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7.5%</a:t>
              </a:r>
              <a:r>
                <a:rPr lang="ko-KR" altLang="en-US" sz="800" b="1" dirty="0">
                  <a:solidFill>
                    <a:srgbClr val="C00000"/>
                  </a:solidFill>
                  <a:latin typeface="+mn-ea"/>
                  <a:ea typeface="+mn-ea"/>
                </a:rPr>
                <a:t>↑</a:t>
              </a:r>
              <a:endParaRPr lang="en-US" altLang="ko-KR" sz="800" b="1" dirty="0">
                <a:solidFill>
                  <a:srgbClr val="C00000"/>
                </a:solidFill>
                <a:latin typeface="+mn-ea"/>
                <a:ea typeface="+mn-ea"/>
              </a:endParaRPr>
            </a:p>
            <a:p>
              <a:pPr marL="179388" indent="-90488">
                <a:buFont typeface="Wingdings" panose="05000000000000000000" pitchFamily="2" charset="2"/>
                <a:buChar char="§"/>
              </a:pPr>
              <a:r>
                <a:rPr 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MEM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경합</a:t>
              </a:r>
              <a:b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Green : 0.1%↓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Yellow: 0.1%↑, Orange: 0.5%↑,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Red: 1%↑</a:t>
              </a:r>
            </a:p>
            <a:p>
              <a:pPr marL="171450" indent="-82550">
                <a:buFont typeface="Wingdings" panose="05000000000000000000" pitchFamily="2" charset="2"/>
                <a:buChar char="§"/>
              </a:pP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DISK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또는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HBA Read/Write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Latency</a:t>
              </a:r>
              <a:b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Green : 10ms↓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, Yellow: 10ms↑, Orange: 20ms↑,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Red: 30ms↑</a:t>
              </a:r>
              <a:endParaRPr lang="en-US" sz="800" b="1" dirty="0">
                <a:solidFill>
                  <a:srgbClr val="C00000"/>
                </a:solidFill>
                <a:latin typeface="Metropolis" panose="00000500000000000000" pitchFamily="2" charset="0"/>
                <a:ea typeface="+mn-ea"/>
              </a:endParaRPr>
            </a:p>
            <a:p>
              <a:pPr marL="88900"/>
              <a:endParaRPr lang="en-US" sz="800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</a:endParaRPr>
            </a:p>
          </p:txBody>
        </p:sp>
      </p:grpSp>
      <p:graphicFrame>
        <p:nvGraphicFramePr>
          <p:cNvPr id="2" name="Google Shape;1325;p75">
            <a:extLst>
              <a:ext uri="{FF2B5EF4-FFF2-40B4-BE49-F238E27FC236}">
                <a16:creationId xmlns:a16="http://schemas.microsoft.com/office/drawing/2014/main" id="{6AB79948-88B7-2DC7-A84E-506BBE49C475}"/>
              </a:ext>
            </a:extLst>
          </p:cNvPr>
          <p:cNvGraphicFramePr/>
          <p:nvPr/>
        </p:nvGraphicFramePr>
        <p:xfrm>
          <a:off x="8902700" y="1606380"/>
          <a:ext cx="2672883" cy="45658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9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77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호스트 전체의 리소스 사용률 및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경합률을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조회합니다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HBA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모니터링되고 있는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Storage Array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지연 시간도 모니터링 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88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호스트의 경합 추세를 모니터링합니다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현재 수치만 표현되는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위젯과 달리 과거에 기록된 이력을 추적할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55953"/>
                  </a:ext>
                </a:extLst>
              </a:tr>
              <a:tr h="8288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호스트에서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리소스 사용률 및 경합 추세를 모니터링 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271313"/>
                  </a:ext>
                </a:extLst>
              </a:tr>
              <a:tr h="816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또는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③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선택한 호스트 및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연결된 데이터 스토어의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또는 지연 시간을 모니터링합니다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07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D1BE1DC8-4729-9E92-4CEA-DA80A0A4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31BE6583-9F20-0283-E2B5-1D3440FEB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성능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AF48116F-281F-4AD9-01FE-DC29D35B9B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최근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 호스트 및 </a:t>
            </a: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성능 모니터링</a:t>
            </a:r>
            <a:r>
              <a:rPr lang="en-US" altLang="ko-KR" sz="1400" dirty="0">
                <a:latin typeface="+mj-ea"/>
                <a:ea typeface="+mj-ea"/>
              </a:rPr>
              <a:t> SECTION</a:t>
            </a:r>
            <a:r>
              <a:rPr lang="ko-KR" altLang="en-US" sz="1400" dirty="0">
                <a:latin typeface="+mj-ea"/>
                <a:ea typeface="+mj-ea"/>
              </a:rPr>
              <a:t>은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선택된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에서 운영 중인 호스트들의 최근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 간 발생한 최고 성능 저하 이력을 모니터링하고 특정 호스트를 선택하여 일일 단위로 기록된 최고 성능 저하 이력을 조회 할 수 있습니다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113F2C4-606B-D52B-B5A5-ACA44A8B147E}"/>
              </a:ext>
            </a:extLst>
          </p:cNvPr>
          <p:cNvGrpSpPr/>
          <p:nvPr/>
        </p:nvGrpSpPr>
        <p:grpSpPr>
          <a:xfrm>
            <a:off x="608013" y="1602753"/>
            <a:ext cx="8186737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DE251E-DA50-30F3-1109-CB7C85DF9B57}"/>
                </a:ext>
              </a:extLst>
            </p:cNvPr>
            <p:cNvSpPr txBox="1"/>
            <p:nvPr/>
          </p:nvSpPr>
          <p:spPr>
            <a:xfrm>
              <a:off x="708710" y="1307842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성능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최근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7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호스트 및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성능 모니터링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( 1 / 2 )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C4CC3A-8E83-4B04-5D8B-EEAD6EBDC3FD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AC03620-BF01-40D0-3172-2698A74B7B01}"/>
              </a:ext>
            </a:extLst>
          </p:cNvPr>
          <p:cNvGrpSpPr/>
          <p:nvPr/>
        </p:nvGrpSpPr>
        <p:grpSpPr>
          <a:xfrm>
            <a:off x="613456" y="1942266"/>
            <a:ext cx="7465507" cy="4229934"/>
            <a:chOff x="1180782" y="1600200"/>
            <a:chExt cx="7465507" cy="4572000"/>
          </a:xfrm>
        </p:grpSpPr>
        <p:pic>
          <p:nvPicPr>
            <p:cNvPr id="19" name="그림 18" descr="텍스트, 스크린샷, 번호, 평행이(가) 표시된 사진&#10;&#10;자동 생성된 설명">
              <a:extLst>
                <a:ext uri="{FF2B5EF4-FFF2-40B4-BE49-F238E27FC236}">
                  <a16:creationId xmlns:a16="http://schemas.microsoft.com/office/drawing/2014/main" id="{5FD59334-F5D3-9D0C-01B8-7FB48107E9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24" t="48651" r="192" b="10942"/>
            <a:stretch/>
          </p:blipFill>
          <p:spPr>
            <a:xfrm>
              <a:off x="1180782" y="1600200"/>
              <a:ext cx="6473508" cy="45277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978A6C-B4D0-916A-FC0B-E93C7BF76446}"/>
                </a:ext>
              </a:extLst>
            </p:cNvPr>
            <p:cNvSpPr txBox="1"/>
            <p:nvPr/>
          </p:nvSpPr>
          <p:spPr>
            <a:xfrm>
              <a:off x="1494597" y="2313463"/>
              <a:ext cx="2476500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최근 </a:t>
              </a:r>
              <a:r>
                <a:rPr lang="en-US" altLang="ko-KR" dirty="0">
                  <a:sym typeface="Malgun Gothic"/>
                </a:rPr>
                <a:t>7</a:t>
              </a:r>
              <a:r>
                <a:rPr lang="ko-KR" altLang="en-US" dirty="0">
                  <a:sym typeface="Malgun Gothic"/>
                </a:rPr>
                <a:t>일 호스트 성능 </a:t>
              </a:r>
              <a:r>
                <a:rPr lang="en-US" altLang="ko-KR" dirty="0">
                  <a:sym typeface="Malgun Gothic"/>
                </a:rPr>
                <a:t>PEAK </a:t>
              </a:r>
              <a:r>
                <a:rPr lang="ko-KR" altLang="en-US" dirty="0">
                  <a:sym typeface="Malgun Gothic"/>
                </a:rPr>
                <a:t>기록</a:t>
              </a:r>
              <a:endParaRPr 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C6A2E3A-0247-79AD-D27F-141398D76CF8}"/>
                </a:ext>
              </a:extLst>
            </p:cNvPr>
            <p:cNvSpPr/>
            <p:nvPr/>
          </p:nvSpPr>
          <p:spPr>
            <a:xfrm>
              <a:off x="1208723" y="1725721"/>
              <a:ext cx="6479857" cy="876509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B18237D5-9BD7-7F17-1D39-65CA89CECA5A}"/>
                </a:ext>
              </a:extLst>
            </p:cNvPr>
            <p:cNvSpPr txBox="1"/>
            <p:nvPr/>
          </p:nvSpPr>
          <p:spPr>
            <a:xfrm>
              <a:off x="1227324" y="2323129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D03C64F-2EB9-9C8F-8BC5-804177F8FCD0}"/>
                </a:ext>
              </a:extLst>
            </p:cNvPr>
            <p:cNvSpPr/>
            <p:nvPr/>
          </p:nvSpPr>
          <p:spPr>
            <a:xfrm>
              <a:off x="1209993" y="2626360"/>
              <a:ext cx="6465888" cy="113284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669623-0234-ACFF-A49B-FBE3B6580CE0}"/>
                </a:ext>
              </a:extLst>
            </p:cNvPr>
            <p:cNvSpPr txBox="1"/>
            <p:nvPr/>
          </p:nvSpPr>
          <p:spPr>
            <a:xfrm>
              <a:off x="1484472" y="3475772"/>
              <a:ext cx="344566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일일 호스트 </a:t>
              </a:r>
              <a:r>
                <a:rPr lang="en-US" altLang="ko-KR" dirty="0"/>
                <a:t>Poor CPU VM </a:t>
              </a:r>
              <a:r>
                <a:rPr lang="ko-KR" altLang="en-US" dirty="0"/>
                <a:t>동시 최대 발생 수량</a:t>
              </a:r>
              <a:endParaRPr lang="en-US" dirty="0"/>
            </a:p>
          </p:txBody>
        </p:sp>
        <p:sp>
          <p:nvSpPr>
            <p:cNvPr id="15" name="Google Shape;1333;p75">
              <a:extLst>
                <a:ext uri="{FF2B5EF4-FFF2-40B4-BE49-F238E27FC236}">
                  <a16:creationId xmlns:a16="http://schemas.microsoft.com/office/drawing/2014/main" id="{E91D102D-0B48-6125-6968-8994839C5AF6}"/>
                </a:ext>
              </a:extLst>
            </p:cNvPr>
            <p:cNvSpPr txBox="1"/>
            <p:nvPr/>
          </p:nvSpPr>
          <p:spPr>
            <a:xfrm>
              <a:off x="1238789" y="3487933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92055A1-1F38-19AC-EE6B-E213CE3E61E2}"/>
                </a:ext>
              </a:extLst>
            </p:cNvPr>
            <p:cNvSpPr/>
            <p:nvPr/>
          </p:nvSpPr>
          <p:spPr>
            <a:xfrm>
              <a:off x="2504186" y="1907668"/>
              <a:ext cx="147574" cy="139255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6" name="Google Shape;1286;p75">
              <a:extLst>
                <a:ext uri="{FF2B5EF4-FFF2-40B4-BE49-F238E27FC236}">
                  <a16:creationId xmlns:a16="http://schemas.microsoft.com/office/drawing/2014/main" id="{3359F22F-F1FC-C221-8EA8-A4701974F697}"/>
                </a:ext>
              </a:extLst>
            </p:cNvPr>
            <p:cNvSpPr/>
            <p:nvPr/>
          </p:nvSpPr>
          <p:spPr>
            <a:xfrm>
              <a:off x="2521648" y="2059450"/>
              <a:ext cx="5195888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0" rIns="91425" bIns="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지난 </a:t>
              </a:r>
              <a:r>
                <a:rPr lang="en-US" altLang="ko-KR" sz="800" i="0" u="none" strike="noStrike" cap="none" dirty="0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7</a:t>
              </a: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일 간 최대 </a:t>
              </a:r>
              <a:r>
                <a:rPr lang="en-US" altLang="ko-KR" sz="800" i="0" u="none" strike="noStrike" cap="none" dirty="0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3</a:t>
              </a: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+mn-ea"/>
                  <a:ea typeface="+mn-ea"/>
                  <a:sym typeface="Arial"/>
                </a:rPr>
                <a:t>대의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Poor DISK VM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이 발생되었습니다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 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대상 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VM</a:t>
              </a:r>
              <a: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  <a:t>은 아래 별도 위젯에서 확인 가능합니다</a:t>
              </a: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.</a:t>
              </a:r>
              <a:endParaRPr sz="800" i="0" u="none" strike="noStrike" cap="none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  <a:sym typeface="Arial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7EC18A5-0479-3CDE-0C21-0D751F6CB3C9}"/>
                </a:ext>
              </a:extLst>
            </p:cNvPr>
            <p:cNvSpPr/>
            <p:nvPr/>
          </p:nvSpPr>
          <p:spPr>
            <a:xfrm>
              <a:off x="1213803" y="3788410"/>
              <a:ext cx="6465888" cy="113284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BBF044-27FE-B253-B850-2B429D4F1150}"/>
                </a:ext>
              </a:extLst>
            </p:cNvPr>
            <p:cNvSpPr txBox="1"/>
            <p:nvPr/>
          </p:nvSpPr>
          <p:spPr>
            <a:xfrm>
              <a:off x="1488282" y="4637822"/>
              <a:ext cx="344566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일일 호스트 </a:t>
              </a:r>
              <a:r>
                <a:rPr lang="en-US" altLang="ko-KR" dirty="0"/>
                <a:t>Poor MEM VM </a:t>
              </a:r>
              <a:r>
                <a:rPr lang="ko-KR" altLang="en-US" dirty="0"/>
                <a:t>동시 최대 발생 수량</a:t>
              </a:r>
              <a:endParaRPr lang="en-US" dirty="0"/>
            </a:p>
          </p:txBody>
        </p:sp>
        <p:sp>
          <p:nvSpPr>
            <p:cNvPr id="22" name="Google Shape;1333;p75">
              <a:extLst>
                <a:ext uri="{FF2B5EF4-FFF2-40B4-BE49-F238E27FC236}">
                  <a16:creationId xmlns:a16="http://schemas.microsoft.com/office/drawing/2014/main" id="{99A0F7C2-EB43-195B-0406-AAAA4AFA6C32}"/>
                </a:ext>
              </a:extLst>
            </p:cNvPr>
            <p:cNvSpPr txBox="1"/>
            <p:nvPr/>
          </p:nvSpPr>
          <p:spPr>
            <a:xfrm>
              <a:off x="1242599" y="4649983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59DBEC3-6DDA-561E-583A-71EAC19A9C53}"/>
                </a:ext>
              </a:extLst>
            </p:cNvPr>
            <p:cNvSpPr/>
            <p:nvPr/>
          </p:nvSpPr>
          <p:spPr>
            <a:xfrm>
              <a:off x="1213803" y="4950460"/>
              <a:ext cx="6465888" cy="1221740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FD2CA4-12C6-92B3-33B8-5023DEF96D2E}"/>
                </a:ext>
              </a:extLst>
            </p:cNvPr>
            <p:cNvSpPr txBox="1"/>
            <p:nvPr/>
          </p:nvSpPr>
          <p:spPr>
            <a:xfrm>
              <a:off x="1488282" y="5906552"/>
              <a:ext cx="344566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일일 호스트 </a:t>
              </a:r>
              <a:r>
                <a:rPr lang="en-US" altLang="ko-KR" dirty="0"/>
                <a:t>Poor DISK VM </a:t>
              </a:r>
              <a:r>
                <a:rPr lang="ko-KR" altLang="en-US" dirty="0"/>
                <a:t>동시 최대 발생 수량</a:t>
              </a:r>
              <a:endParaRPr lang="en-US" dirty="0"/>
            </a:p>
          </p:txBody>
        </p:sp>
        <p:sp>
          <p:nvSpPr>
            <p:cNvPr id="28" name="Google Shape;1333;p75">
              <a:extLst>
                <a:ext uri="{FF2B5EF4-FFF2-40B4-BE49-F238E27FC236}">
                  <a16:creationId xmlns:a16="http://schemas.microsoft.com/office/drawing/2014/main" id="{27BE76E0-092D-5562-5AB1-ED3664D3331E}"/>
                </a:ext>
              </a:extLst>
            </p:cNvPr>
            <p:cNvSpPr txBox="1"/>
            <p:nvPr/>
          </p:nvSpPr>
          <p:spPr>
            <a:xfrm>
              <a:off x="1242599" y="5918713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4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86A73C2B-AEE8-397E-D46C-19F56626F988}"/>
                </a:ext>
              </a:extLst>
            </p:cNvPr>
            <p:cNvSpPr/>
            <p:nvPr/>
          </p:nvSpPr>
          <p:spPr>
            <a:xfrm>
              <a:off x="2037249" y="2732407"/>
              <a:ext cx="599271" cy="90803"/>
            </a:xfrm>
            <a:prstGeom prst="roundRect">
              <a:avLst>
                <a:gd name="adj" fmla="val 2821"/>
              </a:avLst>
            </a:prstGeom>
            <a:noFill/>
            <a:ln w="127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Metropolis" panose="00000500000000000000" pitchFamily="2" charset="0"/>
              </a:endParaRPr>
            </a:p>
          </p:txBody>
        </p:sp>
        <p:sp>
          <p:nvSpPr>
            <p:cNvPr id="30" name="Google Shape;1286;p75">
              <a:extLst>
                <a:ext uri="{FF2B5EF4-FFF2-40B4-BE49-F238E27FC236}">
                  <a16:creationId xmlns:a16="http://schemas.microsoft.com/office/drawing/2014/main" id="{FB1CFC88-AB11-954C-CBCC-12B3307C47D5}"/>
                </a:ext>
              </a:extLst>
            </p:cNvPr>
            <p:cNvSpPr/>
            <p:nvPr/>
          </p:nvSpPr>
          <p:spPr>
            <a:xfrm>
              <a:off x="2549842" y="2764300"/>
              <a:ext cx="4917758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0" rIns="91425" bIns="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Timestamp </a:t>
              </a: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컬럼은 </a:t>
              </a:r>
              <a:r>
                <a:rPr lang="en-US" altLang="ko-KR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PEAK </a:t>
              </a: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수치가 언제 기록되었는지 확인하여 </a:t>
              </a:r>
              <a:r>
                <a:rPr lang="en-US" altLang="ko-KR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PEAK </a:t>
              </a:r>
              <a:r>
                <a:rPr lang="ko-KR" altLang="en-US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패턴을 추적하는데 도움을 줍니다</a:t>
              </a:r>
              <a:r>
                <a:rPr lang="en-US" altLang="ko-KR" sz="800" i="0" u="none" strike="noStrike" cap="none" dirty="0">
                  <a:solidFill>
                    <a:schemeClr val="dk2"/>
                  </a:solidFill>
                  <a:latin typeface="Metropolis" panose="00000500000000000000" pitchFamily="2" charset="0"/>
                  <a:ea typeface="+mn-ea"/>
                  <a:sym typeface="Arial"/>
                </a:rPr>
                <a:t>.</a:t>
              </a:r>
              <a:endParaRPr sz="800" i="0" u="none" strike="noStrike" cap="none" dirty="0">
                <a:solidFill>
                  <a:schemeClr val="dk2"/>
                </a:solidFill>
                <a:latin typeface="Metropolis" panose="00000500000000000000" pitchFamily="2" charset="0"/>
                <a:ea typeface="+mn-ea"/>
                <a:sym typeface="Arial"/>
              </a:endParaRPr>
            </a:p>
          </p:txBody>
        </p:sp>
        <p:sp>
          <p:nvSpPr>
            <p:cNvPr id="32" name="Google Shape;1286;p75">
              <a:extLst>
                <a:ext uri="{FF2B5EF4-FFF2-40B4-BE49-F238E27FC236}">
                  <a16:creationId xmlns:a16="http://schemas.microsoft.com/office/drawing/2014/main" id="{5EB52AC6-16BE-9BB6-6D10-63CFECAFDB29}"/>
                </a:ext>
              </a:extLst>
            </p:cNvPr>
            <p:cNvSpPr/>
            <p:nvPr/>
          </p:nvSpPr>
          <p:spPr>
            <a:xfrm>
              <a:off x="5025136" y="3545840"/>
              <a:ext cx="3621153" cy="968287"/>
            </a:xfrm>
            <a:prstGeom prst="roundRect">
              <a:avLst>
                <a:gd name="adj" fmla="val 3695"/>
              </a:avLst>
            </a:prstGeom>
            <a:solidFill>
              <a:schemeClr val="lt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8000" tIns="18000" rIns="18000" bIns="18000" anchor="t" anchorCtr="0">
              <a:noAutofit/>
            </a:bodyPr>
            <a:lstStyle/>
            <a:p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[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성능 지연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SLA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기준 </a:t>
              </a:r>
              <a:r>
                <a:rPr lang="en-US" altLang="ko-KR" sz="800" b="1" dirty="0">
                  <a:solidFill>
                    <a:schemeClr val="dk2"/>
                  </a:solidFill>
                  <a:latin typeface="+mn-ea"/>
                  <a:ea typeface="+mn-ea"/>
                </a:rPr>
                <a:t>]</a:t>
              </a:r>
            </a:p>
            <a:p>
              <a:pPr marL="171450" indent="-82550">
                <a:buFont typeface="Wingdings" panose="05000000000000000000" pitchFamily="2" charset="2"/>
                <a:buChar char="§"/>
              </a:pPr>
              <a:r>
                <a:rPr 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CPU </a:t>
              </a:r>
              <a:r>
                <a:rPr lang="ko-KR" altLang="en-US" sz="800" b="1" dirty="0">
                  <a:solidFill>
                    <a:schemeClr val="dk2"/>
                  </a:solidFill>
                  <a:latin typeface="+mn-ea"/>
                  <a:ea typeface="+mn-ea"/>
                </a:rPr>
                <a:t>경합</a:t>
              </a:r>
              <a:b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 </a:t>
              </a:r>
              <a:r>
                <a:rPr lang="en-US" altLang="ko-KR" sz="800" b="1" dirty="0">
                  <a:solidFill>
                    <a:srgbClr val="92D050"/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Green : 2.5%↓</a:t>
              </a:r>
              <a:r>
                <a:rPr lang="en-US" altLang="ko-KR" sz="800" b="1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  <a:ea typeface="+mn-ea"/>
                </a:rPr>
                <a:t>Yellow: 2.5%↑, Orange: 5%↑,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Red: 7.5%↑ </a:t>
              </a:r>
            </a:p>
            <a:p>
              <a:pPr marL="171450" indent="-82550">
                <a:buFont typeface="Wingdings" panose="05000000000000000000" pitchFamily="2" charset="2"/>
                <a:buChar char="§"/>
              </a:pPr>
              <a:r>
                <a:rPr lang="en-US" sz="800" b="1" dirty="0">
                  <a:solidFill>
                    <a:schemeClr val="tx1"/>
                  </a:solidFill>
                  <a:latin typeface="+mn-ea"/>
                  <a:ea typeface="+mn-ea"/>
                </a:rPr>
                <a:t>MEM </a:t>
              </a:r>
              <a:r>
                <a:rPr lang="ko-KR" altLang="en-US" sz="800" b="1" dirty="0">
                  <a:solidFill>
                    <a:schemeClr val="tx1"/>
                  </a:solidFill>
                  <a:latin typeface="+mn-ea"/>
                  <a:ea typeface="+mn-ea"/>
                </a:rPr>
                <a:t>경합</a:t>
              </a:r>
              <a:br>
                <a:rPr lang="ko-KR" altLang="en-US" sz="800" dirty="0">
                  <a:solidFill>
                    <a:schemeClr val="tx1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+mn-ea"/>
                  <a:ea typeface="+mn-ea"/>
                </a:rPr>
                <a:t>- 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Green : 0.1%↓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  <a:ea typeface="+mn-ea"/>
                </a:rPr>
                <a:t>, Yellow: 0.1%↑, Orange: 0.5%↑,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Red: 1%↑</a:t>
              </a:r>
            </a:p>
            <a:p>
              <a:pPr marL="171450" indent="-82550">
                <a:buFont typeface="Wingdings" panose="05000000000000000000" pitchFamily="2" charset="2"/>
                <a:buChar char="§"/>
              </a:pPr>
              <a:r>
                <a:rPr lang="en-US" altLang="ko-KR" sz="800" b="1" dirty="0">
                  <a:solidFill>
                    <a:schemeClr val="tx1"/>
                  </a:solidFill>
                  <a:latin typeface="+mn-ea"/>
                  <a:ea typeface="+mn-ea"/>
                </a:rPr>
                <a:t>DISK </a:t>
              </a:r>
              <a:r>
                <a:rPr lang="ko-KR" altLang="en-US" sz="800" b="1" dirty="0">
                  <a:solidFill>
                    <a:schemeClr val="tx1"/>
                  </a:solidFill>
                  <a:latin typeface="+mn-ea"/>
                  <a:ea typeface="+mn-ea"/>
                </a:rPr>
                <a:t>또는 </a:t>
              </a:r>
              <a:r>
                <a:rPr lang="en-US" altLang="ko-KR" sz="800" b="1" dirty="0">
                  <a:solidFill>
                    <a:schemeClr val="tx1"/>
                  </a:solidFill>
                  <a:latin typeface="+mn-ea"/>
                  <a:ea typeface="+mn-ea"/>
                </a:rPr>
                <a:t>HBA Read/Write</a:t>
              </a:r>
              <a:r>
                <a:rPr lang="ko-KR" altLang="en-US" sz="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 b="1" dirty="0">
                  <a:solidFill>
                    <a:schemeClr val="tx1"/>
                  </a:solidFill>
                  <a:latin typeface="+mn-ea"/>
                  <a:ea typeface="+mn-ea"/>
                </a:rPr>
                <a:t>Latency</a:t>
              </a:r>
              <a:br>
                <a:rPr lang="ko-KR" altLang="en-US" sz="800" dirty="0">
                  <a:solidFill>
                    <a:schemeClr val="tx1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+mn-ea"/>
                  <a:ea typeface="+mn-ea"/>
                </a:rPr>
                <a:t>-  </a:t>
              </a:r>
              <a:r>
                <a:rPr lang="en-US" altLang="ko-KR" sz="800" b="1" dirty="0">
                  <a:solidFill>
                    <a:srgbClr val="597539"/>
                  </a:solidFill>
                  <a:latin typeface="+mn-ea"/>
                  <a:ea typeface="+mn-ea"/>
                </a:rPr>
                <a:t>Green : 10ms↓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  <a:ea typeface="+mn-ea"/>
                </a:rPr>
                <a:t>, Yellow: 10ms↑, Orange: 20ms↑, </a:t>
              </a:r>
              <a:r>
                <a:rPr lang="en-US" altLang="ko-KR" sz="800" b="1" dirty="0">
                  <a:solidFill>
                    <a:srgbClr val="C00000"/>
                  </a:solidFill>
                  <a:latin typeface="+mn-ea"/>
                  <a:ea typeface="+mn-ea"/>
                </a:rPr>
                <a:t>Red: 30ms↑</a:t>
              </a:r>
              <a:endParaRPr lang="en-US" sz="800" dirty="0">
                <a:solidFill>
                  <a:srgbClr val="C00000"/>
                </a:solidFill>
                <a:latin typeface="Metropolis" panose="00000500000000000000" pitchFamily="2" charset="0"/>
                <a:ea typeface="+mn-ea"/>
              </a:endParaRPr>
            </a:p>
          </p:txBody>
        </p:sp>
      </p:grpSp>
      <p:graphicFrame>
        <p:nvGraphicFramePr>
          <p:cNvPr id="2" name="Google Shape;1325;p75">
            <a:extLst>
              <a:ext uri="{FF2B5EF4-FFF2-40B4-BE49-F238E27FC236}">
                <a16:creationId xmlns:a16="http://schemas.microsoft.com/office/drawing/2014/main" id="{CC3B4283-897B-902D-63C8-9B4657BAB306}"/>
              </a:ext>
            </a:extLst>
          </p:cNvPr>
          <p:cNvGraphicFramePr/>
          <p:nvPr/>
        </p:nvGraphicFramePr>
        <p:xfrm>
          <a:off x="8902700" y="1612010"/>
          <a:ext cx="2672669" cy="45564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2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02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모든 호스트에서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발생된 최고 기록을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Poor 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경우 지난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동시 발생 수량이 가장 높은 수치로 표시됩니다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호스트에서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기록된 최고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및 최고 경합을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Timestamp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컬럼이 제공되어 어느 시점에 가장 높은 수치를 기록하였는지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55953"/>
                  </a:ext>
                </a:extLst>
              </a:tr>
              <a:tr h="1146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호스트에서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기록된 최고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및 최고 경합을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설계된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가상화율에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따른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SLA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기준은 메모리 경합을 허용하지 않으므로</a:t>
                      </a:r>
                      <a:b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</a:b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항상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0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이 기록되어야 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271313"/>
                  </a:ext>
                </a:extLst>
              </a:tr>
              <a:tr h="6863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호스트에서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기록된 호스트와 연결된 데이터 스토어의 지연 및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HBA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읽기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/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쓰기 지연을 모니터링합니다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56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9D30880C-500E-DF7D-86DD-F6B5D523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47A6C01E-97D3-FC91-4429-B26C0BF7FE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인프라 성능 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E09BF033-BA68-E1F6-7ABC-3F35C07A46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선택된 호스트에서 성능 저하 </a:t>
            </a: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이 발생할 경우 </a:t>
            </a: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목록을 조회하여 서비스 영향 범위를 특정할 수 있습니다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또한 지연 시점을 파악하여 패턴을 추적하고 동시점의 연결된 데이터스토어 상태 또한 추적할 수 있습니다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15D7BD8-E15A-F39F-38D7-BACDCFC1BAAC}"/>
              </a:ext>
            </a:extLst>
          </p:cNvPr>
          <p:cNvGrpSpPr/>
          <p:nvPr/>
        </p:nvGrpSpPr>
        <p:grpSpPr>
          <a:xfrm>
            <a:off x="582615" y="1601474"/>
            <a:ext cx="8212136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0BA203-FEA4-EDFE-8A77-A7BF18038546}"/>
                </a:ext>
              </a:extLst>
            </p:cNvPr>
            <p:cNvSpPr txBox="1"/>
            <p:nvPr/>
          </p:nvSpPr>
          <p:spPr>
            <a:xfrm>
              <a:off x="708710" y="131255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성능 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최근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7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호스트 및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성능 모니터링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( 2 / 2 )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2CBFA61-EAF8-AB1D-62A9-310F0F94E122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7BF944A-B9C9-7DFB-F0EB-D185923F9FF4}"/>
              </a:ext>
            </a:extLst>
          </p:cNvPr>
          <p:cNvGrpSpPr/>
          <p:nvPr/>
        </p:nvGrpSpPr>
        <p:grpSpPr>
          <a:xfrm>
            <a:off x="4645343" y="2009975"/>
            <a:ext cx="3904297" cy="876509"/>
            <a:chOff x="682943" y="2872531"/>
            <a:chExt cx="3942397" cy="87650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F0279F-1057-E72D-7F3B-9144EDA3797C}"/>
                </a:ext>
              </a:extLst>
            </p:cNvPr>
            <p:cNvSpPr txBox="1"/>
            <p:nvPr/>
          </p:nvSpPr>
          <p:spPr>
            <a:xfrm>
              <a:off x="945957" y="3471703"/>
              <a:ext cx="3606994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선택 </a:t>
              </a:r>
              <a:r>
                <a:rPr lang="en-US" altLang="ko-KR" dirty="0">
                  <a:sym typeface="Malgun Gothic"/>
                </a:rPr>
                <a:t>VM</a:t>
              </a:r>
              <a:r>
                <a:rPr lang="ko-KR" altLang="en-US" dirty="0">
                  <a:sym typeface="Malgun Gothic"/>
                </a:rPr>
                <a:t>의 일일 </a:t>
              </a:r>
              <a:r>
                <a:rPr lang="en-US" altLang="ko-KR" dirty="0">
                  <a:sym typeface="Malgun Gothic"/>
                </a:rPr>
                <a:t>PEAK </a:t>
              </a:r>
              <a:r>
                <a:rPr lang="ko-KR" altLang="en-US" dirty="0">
                  <a:sym typeface="Malgun Gothic"/>
                </a:rPr>
                <a:t>경합 기록</a:t>
              </a:r>
              <a:endParaRPr 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07214C1-87B5-C5FD-CF33-8A485338DBEA}"/>
                </a:ext>
              </a:extLst>
            </p:cNvPr>
            <p:cNvSpPr/>
            <p:nvPr/>
          </p:nvSpPr>
          <p:spPr>
            <a:xfrm>
              <a:off x="682943" y="2872531"/>
              <a:ext cx="3942397" cy="876509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3" name="Google Shape;1333;p75">
              <a:extLst>
                <a:ext uri="{FF2B5EF4-FFF2-40B4-BE49-F238E27FC236}">
                  <a16:creationId xmlns:a16="http://schemas.microsoft.com/office/drawing/2014/main" id="{6EBE2217-0A0A-F93B-BCAD-E89F230DEB88}"/>
                </a:ext>
              </a:extLst>
            </p:cNvPr>
            <p:cNvSpPr txBox="1"/>
            <p:nvPr/>
          </p:nvSpPr>
          <p:spPr>
            <a:xfrm>
              <a:off x="716784" y="3481369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CD9DFA-3DDB-A445-8FFA-87C24CA2165F}"/>
              </a:ext>
            </a:extLst>
          </p:cNvPr>
          <p:cNvSpPr/>
          <p:nvPr/>
        </p:nvSpPr>
        <p:spPr>
          <a:xfrm>
            <a:off x="686753" y="2905325"/>
            <a:ext cx="7855267" cy="876509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5B6BB4-BFBE-9D5A-135A-2BBB0269CC2E}"/>
              </a:ext>
            </a:extLst>
          </p:cNvPr>
          <p:cNvSpPr/>
          <p:nvPr/>
        </p:nvSpPr>
        <p:spPr>
          <a:xfrm>
            <a:off x="4615490" y="3785198"/>
            <a:ext cx="3922051" cy="876509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604B02-6CCC-7196-7175-2F72AA0EC0CD}"/>
              </a:ext>
            </a:extLst>
          </p:cNvPr>
          <p:cNvSpPr/>
          <p:nvPr/>
        </p:nvSpPr>
        <p:spPr>
          <a:xfrm>
            <a:off x="675950" y="4691978"/>
            <a:ext cx="7869448" cy="876509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FC5365B-7724-3E4B-912E-4853EDE4DCB9}"/>
              </a:ext>
            </a:extLst>
          </p:cNvPr>
          <p:cNvGrpSpPr/>
          <p:nvPr/>
        </p:nvGrpSpPr>
        <p:grpSpPr>
          <a:xfrm>
            <a:off x="585788" y="2237676"/>
            <a:ext cx="7837933" cy="3566785"/>
            <a:chOff x="658367" y="2009975"/>
            <a:chExt cx="7837933" cy="356678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FD7C721-80C3-9F7A-6D8B-ABAC8AB4C66A}"/>
                </a:ext>
              </a:extLst>
            </p:cNvPr>
            <p:cNvGrpSpPr/>
            <p:nvPr/>
          </p:nvGrpSpPr>
          <p:grpSpPr>
            <a:xfrm>
              <a:off x="658367" y="2010564"/>
              <a:ext cx="7837933" cy="3264789"/>
              <a:chOff x="3371087" y="2983611"/>
              <a:chExt cx="3674595" cy="1636394"/>
            </a:xfrm>
          </p:grpSpPr>
          <p:pic>
            <p:nvPicPr>
              <p:cNvPr id="13" name="그림 12" descr="텍스트, 스크린샷, 번호, 평행이(가) 표시된 사진&#10;&#10;자동 생성된 설명">
                <a:extLst>
                  <a:ext uri="{FF2B5EF4-FFF2-40B4-BE49-F238E27FC236}">
                    <a16:creationId xmlns:a16="http://schemas.microsoft.com/office/drawing/2014/main" id="{735297EA-43E4-1F33-0C98-C9451C25CF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57" t="76139"/>
              <a:stretch/>
            </p:blipFill>
            <p:spPr>
              <a:xfrm>
                <a:off x="3371087" y="2983611"/>
                <a:ext cx="3674595" cy="1636394"/>
              </a:xfrm>
              <a:prstGeom prst="rect">
                <a:avLst/>
              </a:prstGeom>
            </p:spPr>
          </p:pic>
          <p:pic>
            <p:nvPicPr>
              <p:cNvPr id="19" name="그림 18" descr="텍스트, 스크린샷, 번호, 평행이(가) 표시된 사진&#10;&#10;자동 생성된 설명">
                <a:extLst>
                  <a:ext uri="{FF2B5EF4-FFF2-40B4-BE49-F238E27FC236}">
                    <a16:creationId xmlns:a16="http://schemas.microsoft.com/office/drawing/2014/main" id="{0B6943DF-06B8-7BF3-2C95-35B233B47F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997" t="89012" r="49389" b="4410"/>
              <a:stretch/>
            </p:blipFill>
            <p:spPr>
              <a:xfrm>
                <a:off x="3390900" y="2987993"/>
                <a:ext cx="1845945" cy="442095"/>
              </a:xfrm>
              <a:prstGeom prst="rect">
                <a:avLst/>
              </a:prstGeom>
            </p:spPr>
          </p:pic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BE1F5CC-9EE6-60E1-4231-1020597AB825}"/>
                </a:ext>
              </a:extLst>
            </p:cNvPr>
            <p:cNvGrpSpPr/>
            <p:nvPr/>
          </p:nvGrpSpPr>
          <p:grpSpPr>
            <a:xfrm>
              <a:off x="682943" y="2009975"/>
              <a:ext cx="3942397" cy="876509"/>
              <a:chOff x="682943" y="2872531"/>
              <a:chExt cx="3942397" cy="87650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79878-7D77-0F5D-DC77-A04F7F2F540E}"/>
                  </a:ext>
                </a:extLst>
              </p:cNvPr>
              <p:cNvSpPr txBox="1"/>
              <p:nvPr/>
            </p:nvSpPr>
            <p:spPr>
              <a:xfrm>
                <a:off x="957387" y="3471703"/>
                <a:ext cx="3606994" cy="261610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0" indent="0" algn="r">
                  <a:buSzPts val="1000"/>
                  <a:buNone/>
                  <a:defRPr sz="1100" b="1">
                    <a:solidFill>
                      <a:srgbClr val="25688E"/>
                    </a:solidFill>
                    <a:effectLst>
                      <a:glow rad="38100">
                        <a:schemeClr val="bg1"/>
                      </a:glow>
                    </a:effectLst>
                    <a:latin typeface="Malgun Gothic"/>
                    <a:ea typeface="Malgun Gothic"/>
                  </a:defRPr>
                </a:lvl1pPr>
              </a:lstStyle>
              <a:p>
                <a:pPr algn="l"/>
                <a:r>
                  <a:rPr lang="ko-KR" altLang="en-US" dirty="0">
                    <a:sym typeface="Malgun Gothic"/>
                  </a:rPr>
                  <a:t>최근 </a:t>
                </a:r>
                <a:r>
                  <a:rPr lang="en-US" altLang="ko-KR" dirty="0">
                    <a:sym typeface="Malgun Gothic"/>
                  </a:rPr>
                  <a:t>7</a:t>
                </a:r>
                <a:r>
                  <a:rPr lang="ko-KR" altLang="en-US" dirty="0">
                    <a:sym typeface="Malgun Gothic"/>
                  </a:rPr>
                  <a:t>일 선택 호스트의 </a:t>
                </a:r>
                <a:r>
                  <a:rPr lang="en-US" altLang="ko-KR" dirty="0">
                    <a:sym typeface="Malgun Gothic"/>
                  </a:rPr>
                  <a:t>Poor VM </a:t>
                </a:r>
                <a:r>
                  <a:rPr lang="ko-KR" altLang="en-US" dirty="0">
                    <a:sym typeface="Malgun Gothic"/>
                  </a:rPr>
                  <a:t>발생 기록</a:t>
                </a:r>
                <a:endParaRPr lang="en-US" dirty="0"/>
              </a:p>
            </p:txBody>
          </p:sp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C71C892-EE82-1189-760E-C21644AC7179}"/>
                  </a:ext>
                </a:extLst>
              </p:cNvPr>
              <p:cNvSpPr/>
              <p:nvPr/>
            </p:nvSpPr>
            <p:spPr>
              <a:xfrm>
                <a:off x="682943" y="2872531"/>
                <a:ext cx="3942397" cy="876509"/>
              </a:xfrm>
              <a:prstGeom prst="rect">
                <a:avLst/>
              </a:prstGeom>
              <a:noFill/>
              <a:ln w="9525">
                <a:solidFill>
                  <a:srgbClr val="25688E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etropolis" panose="00000500000000000000" pitchFamily="2" charset="0"/>
                </a:endParaRPr>
              </a:p>
            </p:txBody>
          </p:sp>
          <p:sp>
            <p:nvSpPr>
              <p:cNvPr id="4" name="Google Shape;1333;p75">
                <a:extLst>
                  <a:ext uri="{FF2B5EF4-FFF2-40B4-BE49-F238E27FC236}">
                    <a16:creationId xmlns:a16="http://schemas.microsoft.com/office/drawing/2014/main" id="{C919C7F1-109A-E20A-A6C9-0B5B306C3552}"/>
                  </a:ext>
                </a:extLst>
              </p:cNvPr>
              <p:cNvSpPr txBox="1"/>
              <p:nvPr/>
            </p:nvSpPr>
            <p:spPr>
              <a:xfrm>
                <a:off x="716784" y="3481369"/>
                <a:ext cx="252000" cy="242278"/>
              </a:xfrm>
              <a:prstGeom prst="rect">
                <a:avLst/>
              </a:prstGeom>
              <a:solidFill>
                <a:srgbClr val="005F8E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u="none" strike="noStrike" cap="none" dirty="0">
                    <a:solidFill>
                      <a:schemeClr val="lt1"/>
                    </a:solidFill>
                    <a:latin typeface="Metropolis" panose="00000500000000000000" pitchFamily="2" charset="0"/>
                    <a:sym typeface="Arial"/>
                  </a:rPr>
                  <a:t>1</a:t>
                </a:r>
                <a:endParaRPr dirty="0">
                  <a:latin typeface="Metropolis" panose="00000500000000000000" pitchFamily="2" charset="0"/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D16390-FD21-3AAC-61AD-8734D1747A7D}"/>
                </a:ext>
              </a:extLst>
            </p:cNvPr>
            <p:cNvSpPr txBox="1"/>
            <p:nvPr/>
          </p:nvSpPr>
          <p:spPr>
            <a:xfrm>
              <a:off x="988769" y="4396940"/>
              <a:ext cx="473856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최근 </a:t>
              </a:r>
              <a:r>
                <a:rPr lang="en-US" altLang="ko-KR" dirty="0">
                  <a:sym typeface="Malgun Gothic"/>
                </a:rPr>
                <a:t>7</a:t>
              </a:r>
              <a:r>
                <a:rPr lang="ko-KR" altLang="en-US" dirty="0">
                  <a:sym typeface="Malgun Gothic"/>
                </a:rPr>
                <a:t>일 데이트스토어 지연 </a:t>
              </a:r>
              <a:r>
                <a:rPr lang="en-US" altLang="ko-KR" dirty="0">
                  <a:sym typeface="Malgun Gothic"/>
                </a:rPr>
                <a:t>PEAK </a:t>
              </a:r>
              <a:r>
                <a:rPr lang="ko-KR" altLang="en-US" dirty="0">
                  <a:sym typeface="Malgun Gothic"/>
                </a:rPr>
                <a:t>기록</a:t>
              </a:r>
              <a:endParaRPr 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E0F0099-2018-9B82-63C3-57081505B6C7}"/>
                </a:ext>
              </a:extLst>
            </p:cNvPr>
            <p:cNvSpPr/>
            <p:nvPr/>
          </p:nvSpPr>
          <p:spPr>
            <a:xfrm>
              <a:off x="678229" y="3783627"/>
              <a:ext cx="3922051" cy="876509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0" name="Google Shape;1333;p75">
              <a:extLst>
                <a:ext uri="{FF2B5EF4-FFF2-40B4-BE49-F238E27FC236}">
                  <a16:creationId xmlns:a16="http://schemas.microsoft.com/office/drawing/2014/main" id="{C76406C8-6478-326F-CA70-3C2C659FADA3}"/>
                </a:ext>
              </a:extLst>
            </p:cNvPr>
            <p:cNvSpPr txBox="1"/>
            <p:nvPr/>
          </p:nvSpPr>
          <p:spPr>
            <a:xfrm>
              <a:off x="721497" y="4406606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4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1D39C6E-2180-5BAD-C4B5-929898891C40}"/>
                </a:ext>
              </a:extLst>
            </p:cNvPr>
            <p:cNvSpPr txBox="1"/>
            <p:nvPr/>
          </p:nvSpPr>
          <p:spPr>
            <a:xfrm>
              <a:off x="987866" y="3504497"/>
              <a:ext cx="473856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>
                  <a:sym typeface="Malgun Gothic"/>
                </a:rPr>
                <a:t>선택 </a:t>
              </a:r>
              <a:r>
                <a:rPr lang="en-US" altLang="ko-KR" dirty="0">
                  <a:sym typeface="Malgun Gothic"/>
                </a:rPr>
                <a:t>VM</a:t>
              </a:r>
              <a:r>
                <a:rPr lang="ko-KR" altLang="en-US" dirty="0">
                  <a:sym typeface="Malgun Gothic"/>
                </a:rPr>
                <a:t>의 경합 추세 차트</a:t>
              </a:r>
              <a:endParaRPr lang="en-US" dirty="0"/>
            </a:p>
          </p:txBody>
        </p:sp>
        <p:sp>
          <p:nvSpPr>
            <p:cNvPr id="26" name="Google Shape;1333;p75">
              <a:extLst>
                <a:ext uri="{FF2B5EF4-FFF2-40B4-BE49-F238E27FC236}">
                  <a16:creationId xmlns:a16="http://schemas.microsoft.com/office/drawing/2014/main" id="{552129BC-3D1D-6562-741E-C683691A35E4}"/>
                </a:ext>
              </a:extLst>
            </p:cNvPr>
            <p:cNvSpPr txBox="1"/>
            <p:nvPr/>
          </p:nvSpPr>
          <p:spPr>
            <a:xfrm>
              <a:off x="720594" y="3514163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8" name="Google Shape;1333;p75">
              <a:extLst>
                <a:ext uri="{FF2B5EF4-FFF2-40B4-BE49-F238E27FC236}">
                  <a16:creationId xmlns:a16="http://schemas.microsoft.com/office/drawing/2014/main" id="{ED15A14B-6BA4-0156-518D-96D03007F933}"/>
                </a:ext>
              </a:extLst>
            </p:cNvPr>
            <p:cNvSpPr txBox="1"/>
            <p:nvPr/>
          </p:nvSpPr>
          <p:spPr>
            <a:xfrm>
              <a:off x="4658758" y="4408177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5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EC99D2-8BB1-6513-035C-21C33C33FF0F}"/>
                </a:ext>
              </a:extLst>
            </p:cNvPr>
            <p:cNvSpPr txBox="1"/>
            <p:nvPr/>
          </p:nvSpPr>
          <p:spPr>
            <a:xfrm>
              <a:off x="4905449" y="4408370"/>
              <a:ext cx="3190801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데이터스토어 일일 </a:t>
              </a:r>
              <a:r>
                <a:rPr lang="en-US" altLang="ko-KR" dirty="0"/>
                <a:t>PEAK </a:t>
              </a:r>
              <a:r>
                <a:rPr lang="ko-KR" altLang="en-US" dirty="0"/>
                <a:t>지연 기록</a:t>
              </a:r>
              <a:endParaRPr lang="en-US" dirty="0"/>
            </a:p>
          </p:txBody>
        </p:sp>
        <p:sp>
          <p:nvSpPr>
            <p:cNvPr id="31" name="Google Shape;1333;p75">
              <a:extLst>
                <a:ext uri="{FF2B5EF4-FFF2-40B4-BE49-F238E27FC236}">
                  <a16:creationId xmlns:a16="http://schemas.microsoft.com/office/drawing/2014/main" id="{BD9B84D2-0F22-6B61-076E-A3B5F7181F8E}"/>
                </a:ext>
              </a:extLst>
            </p:cNvPr>
            <p:cNvSpPr txBox="1"/>
            <p:nvPr/>
          </p:nvSpPr>
          <p:spPr>
            <a:xfrm>
              <a:off x="719218" y="5314957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6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A78C2D-AE26-D838-6634-371B460D8573}"/>
                </a:ext>
              </a:extLst>
            </p:cNvPr>
            <p:cNvSpPr txBox="1"/>
            <p:nvPr/>
          </p:nvSpPr>
          <p:spPr>
            <a:xfrm>
              <a:off x="965909" y="5315150"/>
              <a:ext cx="3190801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데이터스토어 지연 추세 차트</a:t>
              </a:r>
              <a:endParaRPr lang="en-US" dirty="0"/>
            </a:p>
          </p:txBody>
        </p:sp>
      </p:grpSp>
      <p:graphicFrame>
        <p:nvGraphicFramePr>
          <p:cNvPr id="11" name="Google Shape;1325;p75">
            <a:extLst>
              <a:ext uri="{FF2B5EF4-FFF2-40B4-BE49-F238E27FC236}">
                <a16:creationId xmlns:a16="http://schemas.microsoft.com/office/drawing/2014/main" id="{ED7BA5EF-CB1C-74AE-6E3A-93042DCDC99B}"/>
              </a:ext>
            </a:extLst>
          </p:cNvPr>
          <p:cNvGraphicFramePr/>
          <p:nvPr/>
        </p:nvGraphicFramePr>
        <p:xfrm>
          <a:off x="8902700" y="1600200"/>
          <a:ext cx="2672883" cy="46687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2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spc="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en-US" altLang="ko-KR" sz="1000" b="0" spc="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</a:t>
                      </a:r>
                      <a:r>
                        <a:rPr lang="ko-KR" altLang="en-US" sz="1000" dirty="0">
                          <a:sym typeface="Malgun Gothic"/>
                        </a:rPr>
                        <a:t>최근 </a:t>
                      </a:r>
                      <a:r>
                        <a:rPr lang="en-US" altLang="ko-KR" sz="1000" dirty="0">
                          <a:sym typeface="Malgun Gothic"/>
                        </a:rPr>
                        <a:t>7</a:t>
                      </a:r>
                      <a:r>
                        <a:rPr lang="ko-KR" altLang="en-US" sz="1000" dirty="0">
                          <a:sym typeface="Malgun Gothic"/>
                        </a:rPr>
                        <a:t>일 호스트 성능 </a:t>
                      </a:r>
                      <a:r>
                        <a:rPr lang="en-US" altLang="ko-KR" sz="1000" dirty="0">
                          <a:sym typeface="Malgun Gothic"/>
                        </a:rPr>
                        <a:t>PEAK </a:t>
                      </a:r>
                      <a:r>
                        <a:rPr lang="ko-KR" altLang="en-US" sz="1000" dirty="0">
                          <a:sym typeface="Malgun Gothic"/>
                        </a:rPr>
                        <a:t>기록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Poor 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이 기록되어 있을 경우 대상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및 기록된 경합 수치를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성능 저하가 발생한 포인트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(CPU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또는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또는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DISK)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모두 기록 및 조회됩니다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매일 기록된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수치를 및 시점을 확인하여 성능 저하 패턴을 분석할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27172"/>
                  </a:ext>
                </a:extLst>
              </a:tr>
              <a:tr h="6674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경합 추세 차트는 통해 지속적이며 반복적인 성능 저하인지 일시적이며 일회성인 증상인지 시각적으로 분석이 가능합니다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993215"/>
                  </a:ext>
                </a:extLst>
              </a:tr>
              <a:tr h="6674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선택된 호스트 또는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연결된 데이터스토어의 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최대 지연 시점 및 수치를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55953"/>
                  </a:ext>
                </a:extLst>
              </a:tr>
              <a:tr h="6674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선택된 호스트 또는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연결된 데이터스토어의 지연 및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발생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기록을 일일 단위로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271313"/>
                  </a:ext>
                </a:extLst>
              </a:tr>
              <a:tr h="6674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가 기록된 시점의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Timestamp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와 지연 추세 차트를 이용하여 발생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패턴을 추적할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 </a:t>
                      </a: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82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20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DF59F930-0EB9-CA2E-506A-3A7D9055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디스플레이, 평행이(가) 표시된 사진&#10;&#10;자동 생성된 설명">
            <a:extLst>
              <a:ext uri="{FF2B5EF4-FFF2-40B4-BE49-F238E27FC236}">
                <a16:creationId xmlns:a16="http://schemas.microsoft.com/office/drawing/2014/main" id="{492A9E52-B1D3-A41A-853C-7B98763A4E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1" t="6029" b="75661"/>
          <a:stretch/>
        </p:blipFill>
        <p:spPr>
          <a:xfrm>
            <a:off x="556166" y="2078062"/>
            <a:ext cx="7965665" cy="2338459"/>
          </a:xfrm>
          <a:prstGeom prst="rect">
            <a:avLst/>
          </a:prstGeom>
        </p:spPr>
      </p:pic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6B8A5A06-2025-5B02-1AD2-120E560DA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VM </a:t>
            </a:r>
            <a:r>
              <a:rPr lang="ko-KR" altLang="en-US" dirty="0"/>
              <a:t>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D4C99B97-4BA4-1CD1-7BB0-7BD4F8C61B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관리 대시보드는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실시간 자원 사용률 순위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주간</a:t>
            </a:r>
            <a:r>
              <a:rPr lang="en-US" altLang="ko-KR" sz="1400" dirty="0">
                <a:latin typeface="+mj-ea"/>
                <a:ea typeface="+mj-ea"/>
              </a:rPr>
              <a:t>/</a:t>
            </a:r>
            <a:r>
              <a:rPr lang="ko-KR" altLang="en-US" sz="1400" dirty="0">
                <a:latin typeface="+mj-ea"/>
                <a:ea typeface="+mj-ea"/>
              </a:rPr>
              <a:t>일간 자원 사용률 등 </a:t>
            </a:r>
            <a:r>
              <a:rPr lang="en-US" altLang="ko-KR" sz="1400" dirty="0">
                <a:latin typeface="+mj-ea"/>
                <a:ea typeface="+mj-ea"/>
              </a:rPr>
              <a:t>6</a:t>
            </a:r>
            <a:r>
              <a:rPr lang="ko-KR" altLang="en-US" sz="1400" dirty="0">
                <a:latin typeface="+mj-ea"/>
                <a:ea typeface="+mj-ea"/>
              </a:rPr>
              <a:t>개의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으로 구분됩니다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실시간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altLang="en-US" sz="1400" dirty="0">
                <a:latin typeface="+mj-ea"/>
                <a:ea typeface="+mj-ea"/>
              </a:rPr>
              <a:t>각 </a:t>
            </a:r>
            <a:r>
              <a:rPr lang="en-US" altLang="ko-KR" sz="1400" dirty="0">
                <a:latin typeface="+mj-ea"/>
                <a:ea typeface="+mj-ea"/>
              </a:rPr>
              <a:t>vCenter</a:t>
            </a:r>
            <a:r>
              <a:rPr lang="ko-KR" altLang="en-US" sz="1400" dirty="0">
                <a:latin typeface="+mj-ea"/>
                <a:ea typeface="+mj-ea"/>
              </a:rPr>
              <a:t>별로 배포된 </a:t>
            </a: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수량 위젯과 실시간으로 </a:t>
            </a:r>
            <a:r>
              <a:rPr lang="en-US" altLang="ko-KR" sz="1400" dirty="0">
                <a:latin typeface="+mj-ea"/>
                <a:ea typeface="+mj-ea"/>
              </a:rPr>
              <a:t>CPU/MEM/DISK/IOPS/TRAFFIC </a:t>
            </a:r>
            <a:r>
              <a:rPr lang="ko-KR" altLang="en-US" sz="1400" dirty="0">
                <a:latin typeface="+mj-ea"/>
                <a:ea typeface="+mj-ea"/>
              </a:rPr>
              <a:t>사용이 높은 </a:t>
            </a: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 순위 위젯을 제공합니다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E3B83F6-5301-A430-4283-2CD7E7D52739}"/>
              </a:ext>
            </a:extLst>
          </p:cNvPr>
          <p:cNvGrpSpPr/>
          <p:nvPr/>
        </p:nvGrpSpPr>
        <p:grpSpPr>
          <a:xfrm>
            <a:off x="581745" y="1595801"/>
            <a:ext cx="8213006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96BE72-1DA5-13A4-47B8-0C6000C44BEE}"/>
                </a:ext>
              </a:extLst>
            </p:cNvPr>
            <p:cNvSpPr txBox="1"/>
            <p:nvPr/>
          </p:nvSpPr>
          <p:spPr>
            <a:xfrm>
              <a:off x="708710" y="1307842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SECTION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A5E9018-E6AE-A027-1623-3C5BC9F83EE9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9818D8-0707-2496-05E9-4B8E77AC5E17}"/>
              </a:ext>
            </a:extLst>
          </p:cNvPr>
          <p:cNvSpPr txBox="1"/>
          <p:nvPr/>
        </p:nvSpPr>
        <p:spPr>
          <a:xfrm>
            <a:off x="905316" y="2371554"/>
            <a:ext cx="47385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en-US" dirty="0">
                <a:sym typeface="Malgun Gothic"/>
              </a:rPr>
              <a:t>vCenter</a:t>
            </a:r>
            <a:r>
              <a:rPr lang="ko-KR" altLang="en-US" dirty="0">
                <a:sym typeface="Malgun Gothic"/>
              </a:rPr>
              <a:t>별 운영 </a:t>
            </a:r>
            <a:r>
              <a:rPr lang="en-US" altLang="ko-KR" dirty="0">
                <a:sym typeface="Malgun Gothic"/>
              </a:rPr>
              <a:t>VM </a:t>
            </a:r>
            <a:r>
              <a:rPr lang="ko-KR" altLang="en-US" dirty="0">
                <a:sym typeface="Malgun Gothic"/>
              </a:rPr>
              <a:t>수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E76D6B-1D19-94E8-BDCA-4697C4786642}"/>
              </a:ext>
            </a:extLst>
          </p:cNvPr>
          <p:cNvSpPr/>
          <p:nvPr/>
        </p:nvSpPr>
        <p:spPr>
          <a:xfrm>
            <a:off x="608013" y="2100043"/>
            <a:ext cx="7972107" cy="54070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4" name="Google Shape;1333;p75">
            <a:extLst>
              <a:ext uri="{FF2B5EF4-FFF2-40B4-BE49-F238E27FC236}">
                <a16:creationId xmlns:a16="http://schemas.microsoft.com/office/drawing/2014/main" id="{AF187DFC-0C40-3D0B-1185-D855497E0AFF}"/>
              </a:ext>
            </a:extLst>
          </p:cNvPr>
          <p:cNvSpPr txBox="1"/>
          <p:nvPr/>
        </p:nvSpPr>
        <p:spPr>
          <a:xfrm>
            <a:off x="638044" y="2381220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1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6EFA2-2F7A-51C9-E81A-65E4822ED54F}"/>
              </a:ext>
            </a:extLst>
          </p:cNvPr>
          <p:cNvSpPr txBox="1"/>
          <p:nvPr/>
        </p:nvSpPr>
        <p:spPr>
          <a:xfrm>
            <a:off x="909126" y="4402778"/>
            <a:ext cx="47385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실시간 리소스 사용률 </a:t>
            </a:r>
            <a:r>
              <a:rPr lang="en-US" altLang="ko-KR" dirty="0"/>
              <a:t>VM </a:t>
            </a:r>
            <a:r>
              <a:rPr lang="ko-KR" altLang="en-US" dirty="0"/>
              <a:t>순위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5B5340-048F-B8CB-DDA0-D917AB6ED2F4}"/>
              </a:ext>
            </a:extLst>
          </p:cNvPr>
          <p:cNvSpPr/>
          <p:nvPr/>
        </p:nvSpPr>
        <p:spPr>
          <a:xfrm>
            <a:off x="608013" y="2820132"/>
            <a:ext cx="7972107" cy="1864814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0" name="Google Shape;1333;p75">
            <a:extLst>
              <a:ext uri="{FF2B5EF4-FFF2-40B4-BE49-F238E27FC236}">
                <a16:creationId xmlns:a16="http://schemas.microsoft.com/office/drawing/2014/main" id="{50F452DD-3E16-8DED-95D5-2FB661AC51BE}"/>
              </a:ext>
            </a:extLst>
          </p:cNvPr>
          <p:cNvSpPr txBox="1"/>
          <p:nvPr/>
        </p:nvSpPr>
        <p:spPr>
          <a:xfrm>
            <a:off x="641854" y="4412444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2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8" name="Google Shape;1286;p75">
            <a:extLst>
              <a:ext uri="{FF2B5EF4-FFF2-40B4-BE49-F238E27FC236}">
                <a16:creationId xmlns:a16="http://schemas.microsoft.com/office/drawing/2014/main" id="{B498A989-11AF-9E0E-9E07-A4688F938C7D}"/>
              </a:ext>
            </a:extLst>
          </p:cNvPr>
          <p:cNvSpPr/>
          <p:nvPr/>
        </p:nvSpPr>
        <p:spPr>
          <a:xfrm>
            <a:off x="4485752" y="2990795"/>
            <a:ext cx="4023055" cy="2460578"/>
          </a:xfrm>
          <a:prstGeom prst="roundRect">
            <a:avLst>
              <a:gd name="adj" fmla="val 2282"/>
            </a:avLst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[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각 </a:t>
            </a: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BAR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 표현 색상 정의 </a:t>
            </a: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</a:p>
          <a:p>
            <a:pPr marL="171450" indent="-825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CPU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사용률 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597539"/>
                </a:solidFill>
                <a:highlight>
                  <a:srgbClr val="322A3C"/>
                </a:highlight>
                <a:latin typeface="+mn-ea"/>
                <a:ea typeface="+mn-ea"/>
              </a:rPr>
              <a:t>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Green : 100%</a:t>
            </a:r>
            <a:r>
              <a:rPr lang="ko-KR" altLang="en-US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100%</a:t>
            </a:r>
            <a:r>
              <a:rPr lang="ko-KR" altLang="en-US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</a:t>
            </a:r>
            <a:r>
              <a:rPr lang="ko-KR" altLang="en-US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110%</a:t>
            </a:r>
            <a:r>
              <a:rPr lang="ko-KR" altLang="en-US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120%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↑</a:t>
            </a:r>
            <a:endParaRPr lang="en-US" altLang="ko-KR" sz="800" b="1" dirty="0">
              <a:solidFill>
                <a:srgbClr val="FF0000"/>
              </a:solidFill>
              <a:highlight>
                <a:srgbClr val="322A3C"/>
              </a:highlight>
              <a:latin typeface="+mn-ea"/>
              <a:ea typeface="+mn-ea"/>
            </a:endParaRPr>
          </a:p>
          <a:p>
            <a:pPr marL="179388" indent="-90488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chemeClr val="tx1"/>
                </a:solidFill>
                <a:latin typeface="+mn-ea"/>
                <a:ea typeface="+mn-ea"/>
              </a:rPr>
              <a:t>MEM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사용률</a:t>
            </a:r>
            <a:b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70%↓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70%↑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80%↑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90%↑</a:t>
            </a:r>
          </a:p>
          <a:p>
            <a:pPr marL="179388" indent="-90488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DISK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사용률</a:t>
            </a:r>
            <a:b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70%↓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70%↑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80%↑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90%↑</a:t>
            </a:r>
          </a:p>
          <a:p>
            <a:pPr marL="179388" indent="-90488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IOPS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발생량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5K↓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5K↑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80%↑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90%↑</a:t>
            </a:r>
          </a:p>
          <a:p>
            <a:pPr marL="171450" indent="-825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트래픽 사용량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100MB↓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100MB↑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200MB↑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300MB↑</a:t>
            </a:r>
          </a:p>
          <a:p>
            <a:pPr marL="171450" indent="-825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패킷 </a:t>
            </a:r>
            <a:r>
              <a:rPr lang="ko-KR" altLang="en-US" sz="800" b="1" dirty="0" err="1">
                <a:solidFill>
                  <a:schemeClr val="tx1"/>
                </a:solidFill>
                <a:latin typeface="+mn-ea"/>
                <a:ea typeface="+mn-ea"/>
              </a:rPr>
              <a:t>드랍율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 표시 색상 정의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0.5%↓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0.5%↑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0.8%↑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1%↑</a:t>
            </a:r>
          </a:p>
        </p:txBody>
      </p:sp>
      <p:sp>
        <p:nvSpPr>
          <p:cNvPr id="24" name="Google Shape;1286;p75">
            <a:extLst>
              <a:ext uri="{FF2B5EF4-FFF2-40B4-BE49-F238E27FC236}">
                <a16:creationId xmlns:a16="http://schemas.microsoft.com/office/drawing/2014/main" id="{86479B2E-A412-B468-FF0D-914F99F45026}"/>
              </a:ext>
            </a:extLst>
          </p:cNvPr>
          <p:cNvSpPr/>
          <p:nvPr/>
        </p:nvSpPr>
        <p:spPr>
          <a:xfrm>
            <a:off x="608013" y="5566362"/>
            <a:ext cx="7956867" cy="605837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VM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관리 대시보드에 정의된 리소스 사용률별 표현 색상 차이는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에 할당된 리소스의 사용률을 가시적으로 표현하기 위해</a:t>
            </a:r>
            <a:b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</a:b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설정한 것이며 그 의미가 정상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,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경고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,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즉시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,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위험을 나타내진 않습니다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.</a:t>
            </a:r>
            <a:b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</a:br>
            <a:b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</a:b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다만 리소스 사용량이 적절한지는 인프라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Side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가 아닌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OS/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애플리케이션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Side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에서 판단하여야 합니다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.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 </a:t>
            </a:r>
            <a:endParaRPr lang="en-US" altLang="ko-KR" sz="1000" dirty="0">
              <a:solidFill>
                <a:srgbClr val="322A3C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Google Shape;1325;p75">
            <a:extLst>
              <a:ext uri="{FF2B5EF4-FFF2-40B4-BE49-F238E27FC236}">
                <a16:creationId xmlns:a16="http://schemas.microsoft.com/office/drawing/2014/main" id="{B271B99C-0E9A-8B80-62C9-3728B74F286F}"/>
              </a:ext>
            </a:extLst>
          </p:cNvPr>
          <p:cNvGraphicFramePr/>
          <p:nvPr/>
        </p:nvGraphicFramePr>
        <p:xfrm>
          <a:off x="8902700" y="1605058"/>
          <a:ext cx="2672883" cy="45905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2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5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각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별로 배포된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수량을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특정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 시 해당 대시보드의 모든 위젯들은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데이터를 기준으로 업데이트됩니다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36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들 중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사용률이 가장 높은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부터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들 중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사용률이 가장 높은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부터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들 중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사용률이 가장 높은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부터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들 중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을 기준으로 가장 높은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부터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들 중 트래픽 발생량을 기준으로 가장 높은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부터 트래픽 발생량을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27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71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F622DE96-7EF3-48E2-F427-397DD52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디스플레이, 평행이(가) 표시된 사진&#10;&#10;자동 생성된 설명">
            <a:extLst>
              <a:ext uri="{FF2B5EF4-FFF2-40B4-BE49-F238E27FC236}">
                <a16:creationId xmlns:a16="http://schemas.microsoft.com/office/drawing/2014/main" id="{ED59D90A-802B-EDD6-3389-749B6506A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" t="23744" r="-59" b="62543"/>
          <a:stretch/>
        </p:blipFill>
        <p:spPr>
          <a:xfrm>
            <a:off x="608013" y="2231619"/>
            <a:ext cx="7965665" cy="1751402"/>
          </a:xfrm>
          <a:prstGeom prst="rect">
            <a:avLst/>
          </a:prstGeom>
        </p:spPr>
      </p:pic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04BF6187-4BC9-4F7E-F43B-761A237B4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VM </a:t>
            </a:r>
            <a:r>
              <a:rPr lang="ko-KR" altLang="en-US" dirty="0"/>
              <a:t>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230E34DD-57C4-B434-6CE1-EAD3B11ABA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관리 대시보드의 </a:t>
            </a:r>
            <a:r>
              <a:rPr lang="en-US" altLang="ko-KR" sz="1400" dirty="0">
                <a:latin typeface="+mj-ea"/>
                <a:ea typeface="+mj-ea"/>
              </a:rPr>
              <a:t>"</a:t>
            </a:r>
            <a:r>
              <a:rPr lang="ko-KR" altLang="en-US" sz="1400" dirty="0">
                <a:latin typeface="+mj-ea"/>
                <a:ea typeface="+mj-ea"/>
              </a:rPr>
              <a:t>주간</a:t>
            </a:r>
            <a:r>
              <a:rPr lang="en-US" altLang="ko-KR" sz="1400" dirty="0">
                <a:latin typeface="+mj-ea"/>
                <a:ea typeface="+mj-ea"/>
              </a:rPr>
              <a:t>/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CPU </a:t>
            </a:r>
            <a:r>
              <a:rPr lang="ko-KR" altLang="en-US" sz="1400" dirty="0">
                <a:latin typeface="+mj-ea"/>
                <a:ea typeface="+mj-ea"/>
              </a:rPr>
              <a:t>사용률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추세</a:t>
            </a:r>
            <a:r>
              <a:rPr lang="en-US" altLang="ko-KR" sz="1400" dirty="0">
                <a:latin typeface="+mj-ea"/>
                <a:ea typeface="+mj-ea"/>
              </a:rPr>
              <a:t>" SECTION</a:t>
            </a:r>
            <a:r>
              <a:rPr lang="ko-KR" altLang="en-US" sz="1400" dirty="0">
                <a:latin typeface="+mj-ea"/>
                <a:ea typeface="+mj-ea"/>
              </a:rPr>
              <a:t>은 지난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CPU </a:t>
            </a:r>
            <a:r>
              <a:rPr lang="ko-KR" altLang="en-US" sz="1400" dirty="0">
                <a:latin typeface="+mj-ea"/>
                <a:ea typeface="+mj-ea"/>
              </a:rPr>
              <a:t>사용률 </a:t>
            </a:r>
            <a:r>
              <a:rPr lang="en-US" altLang="ko-KR" sz="1400" dirty="0">
                <a:latin typeface="+mj-ea"/>
                <a:ea typeface="+mj-ea"/>
              </a:rPr>
              <a:t>PEAK</a:t>
            </a:r>
            <a:r>
              <a:rPr lang="ko-KR" altLang="en-US" sz="1400" dirty="0">
                <a:latin typeface="+mj-ea"/>
                <a:ea typeface="+mj-ea"/>
              </a:rPr>
              <a:t>가 가장 높았던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부터 일간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및 사용률 추세 차트를 제공하는 위젯이 구성되어 있어 </a:t>
            </a:r>
            <a:r>
              <a:rPr lang="en-US" altLang="ko-KR" sz="1400" dirty="0">
                <a:latin typeface="+mj-ea"/>
                <a:ea typeface="+mj-ea"/>
              </a:rPr>
              <a:t>CPU </a:t>
            </a:r>
            <a:r>
              <a:rPr lang="ko-KR" altLang="en-US" sz="1400" dirty="0">
                <a:latin typeface="+mj-ea"/>
                <a:ea typeface="+mj-ea"/>
              </a:rPr>
              <a:t>리소스 관리 운영에 필요한 분석이 용이합니다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EE8344-8B12-B8D0-3C0C-84A5238296DA}"/>
              </a:ext>
            </a:extLst>
          </p:cNvPr>
          <p:cNvGrpSpPr/>
          <p:nvPr/>
        </p:nvGrpSpPr>
        <p:grpSpPr>
          <a:xfrm>
            <a:off x="594003" y="1607864"/>
            <a:ext cx="8200748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D769E9-B7BA-4AD5-9CA4-909807F57A64}"/>
                </a:ext>
              </a:extLst>
            </p:cNvPr>
            <p:cNvSpPr txBox="1"/>
            <p:nvPr/>
          </p:nvSpPr>
          <p:spPr>
            <a:xfrm>
              <a:off x="708710" y="130747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주간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일간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CPU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사용률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PEAK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추세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645BEE8-6F95-C36B-2FB9-4967CD510906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B32A03-A872-6F42-944A-10D7EFE3BF39}"/>
              </a:ext>
            </a:extLst>
          </p:cNvPr>
          <p:cNvSpPr txBox="1"/>
          <p:nvPr/>
        </p:nvSpPr>
        <p:spPr>
          <a:xfrm>
            <a:off x="917149" y="3968151"/>
            <a:ext cx="1707180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en-US" dirty="0"/>
              <a:t>VM </a:t>
            </a:r>
            <a:r>
              <a:rPr lang="ko-KR" altLang="en-US" dirty="0"/>
              <a:t>목록 및 </a:t>
            </a:r>
            <a:r>
              <a:rPr lang="en-US" altLang="ko-KR" dirty="0"/>
              <a:t>CPU PEAK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60F97C-686B-D90E-E4B9-5A6E9006ECD0}"/>
              </a:ext>
            </a:extLst>
          </p:cNvPr>
          <p:cNvSpPr/>
          <p:nvPr/>
        </p:nvSpPr>
        <p:spPr>
          <a:xfrm>
            <a:off x="608013" y="2477440"/>
            <a:ext cx="1962467" cy="176858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4" name="Google Shape;1333;p75">
            <a:extLst>
              <a:ext uri="{FF2B5EF4-FFF2-40B4-BE49-F238E27FC236}">
                <a16:creationId xmlns:a16="http://schemas.microsoft.com/office/drawing/2014/main" id="{919BC189-22D3-A5A5-E8C6-DDE7BF73DAFD}"/>
              </a:ext>
            </a:extLst>
          </p:cNvPr>
          <p:cNvSpPr txBox="1"/>
          <p:nvPr/>
        </p:nvSpPr>
        <p:spPr>
          <a:xfrm>
            <a:off x="649876" y="3968151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1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E0BF9-2293-5EAC-150E-F012F4B89653}"/>
              </a:ext>
            </a:extLst>
          </p:cNvPr>
          <p:cNvSpPr txBox="1"/>
          <p:nvPr/>
        </p:nvSpPr>
        <p:spPr>
          <a:xfrm>
            <a:off x="2891998" y="3968151"/>
            <a:ext cx="47385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일일 </a:t>
            </a:r>
            <a:r>
              <a:rPr lang="en-US" altLang="ko-KR" dirty="0"/>
              <a:t>CPU </a:t>
            </a:r>
            <a:r>
              <a:rPr lang="ko-KR" altLang="en-US" dirty="0"/>
              <a:t>사용률 </a:t>
            </a:r>
            <a:r>
              <a:rPr lang="en-US" altLang="ko-KR" dirty="0"/>
              <a:t>PEAK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F484F8-11E2-9017-32B6-11AA41BB960B}"/>
              </a:ext>
            </a:extLst>
          </p:cNvPr>
          <p:cNvSpPr/>
          <p:nvPr/>
        </p:nvSpPr>
        <p:spPr>
          <a:xfrm>
            <a:off x="2590885" y="2481248"/>
            <a:ext cx="2646595" cy="176985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0" name="Google Shape;1333;p75">
            <a:extLst>
              <a:ext uri="{FF2B5EF4-FFF2-40B4-BE49-F238E27FC236}">
                <a16:creationId xmlns:a16="http://schemas.microsoft.com/office/drawing/2014/main" id="{3B0C9572-4AFA-FE44-B16A-BB7CE95645F9}"/>
              </a:ext>
            </a:extLst>
          </p:cNvPr>
          <p:cNvSpPr txBox="1"/>
          <p:nvPr/>
        </p:nvSpPr>
        <p:spPr>
          <a:xfrm>
            <a:off x="2624726" y="3968151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2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890651-804B-2A95-0BEE-808EF4759259}"/>
              </a:ext>
            </a:extLst>
          </p:cNvPr>
          <p:cNvSpPr/>
          <p:nvPr/>
        </p:nvSpPr>
        <p:spPr>
          <a:xfrm>
            <a:off x="5262965" y="2486329"/>
            <a:ext cx="3296835" cy="71829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6" name="Google Shape;1333;p75">
            <a:extLst>
              <a:ext uri="{FF2B5EF4-FFF2-40B4-BE49-F238E27FC236}">
                <a16:creationId xmlns:a16="http://schemas.microsoft.com/office/drawing/2014/main" id="{26FE37D4-49C4-A9EC-B02E-0904D63FCDA4}"/>
              </a:ext>
            </a:extLst>
          </p:cNvPr>
          <p:cNvSpPr txBox="1"/>
          <p:nvPr/>
        </p:nvSpPr>
        <p:spPr>
          <a:xfrm>
            <a:off x="5296806" y="2935147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3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4DDBB7-A101-658F-80FB-CD2B0748D2D9}"/>
              </a:ext>
            </a:extLst>
          </p:cNvPr>
          <p:cNvSpPr txBox="1"/>
          <p:nvPr/>
        </p:nvSpPr>
        <p:spPr>
          <a:xfrm>
            <a:off x="5528519" y="2925481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</a:t>
            </a:r>
            <a:r>
              <a:rPr lang="en-US" altLang="ko-KR" dirty="0"/>
              <a:t>CPU </a:t>
            </a:r>
            <a:r>
              <a:rPr lang="ko-KR" altLang="en-US" dirty="0"/>
              <a:t>사용률 추세</a:t>
            </a:r>
            <a:endParaRPr 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429EF4-BBF5-5D2C-53D6-CED7B8BAE5B6}"/>
              </a:ext>
            </a:extLst>
          </p:cNvPr>
          <p:cNvSpPr/>
          <p:nvPr/>
        </p:nvSpPr>
        <p:spPr>
          <a:xfrm>
            <a:off x="5262965" y="3233089"/>
            <a:ext cx="3296835" cy="101801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25" name="Google Shape;1333;p75">
            <a:extLst>
              <a:ext uri="{FF2B5EF4-FFF2-40B4-BE49-F238E27FC236}">
                <a16:creationId xmlns:a16="http://schemas.microsoft.com/office/drawing/2014/main" id="{5E0241F2-01F8-6935-0CCF-24730BAE7780}"/>
              </a:ext>
            </a:extLst>
          </p:cNvPr>
          <p:cNvSpPr txBox="1"/>
          <p:nvPr/>
        </p:nvSpPr>
        <p:spPr>
          <a:xfrm>
            <a:off x="5296806" y="3968151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4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F8E573-E48B-04AD-9670-803C36E2DE9E}"/>
              </a:ext>
            </a:extLst>
          </p:cNvPr>
          <p:cNvSpPr txBox="1"/>
          <p:nvPr/>
        </p:nvSpPr>
        <p:spPr>
          <a:xfrm>
            <a:off x="5528519" y="3968151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구성 정보</a:t>
            </a:r>
            <a:endParaRPr lang="en-US" dirty="0"/>
          </a:p>
        </p:txBody>
      </p:sp>
      <p:sp>
        <p:nvSpPr>
          <p:cNvPr id="29" name="Google Shape;1286;p75">
            <a:extLst>
              <a:ext uri="{FF2B5EF4-FFF2-40B4-BE49-F238E27FC236}">
                <a16:creationId xmlns:a16="http://schemas.microsoft.com/office/drawing/2014/main" id="{8757FA3E-286B-5D20-A400-65A1DDBC7EAF}"/>
              </a:ext>
            </a:extLst>
          </p:cNvPr>
          <p:cNvSpPr/>
          <p:nvPr/>
        </p:nvSpPr>
        <p:spPr>
          <a:xfrm>
            <a:off x="671190" y="3029560"/>
            <a:ext cx="4050161" cy="184642"/>
          </a:xfrm>
          <a:prstGeom prst="roundRect">
            <a:avLst>
              <a:gd name="adj" fmla="val 3695"/>
            </a:avLst>
          </a:prstGeom>
          <a:solidFill>
            <a:schemeClr val="lt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72000" tIns="18000" rIns="72000" bIns="18000" anchor="t" anchorCtr="0">
            <a:noAutofit/>
          </a:bodyPr>
          <a:lstStyle/>
          <a:p>
            <a: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  <a:t>선택 시 ②</a:t>
            </a: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  <a:t>③</a:t>
            </a: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  <a:t>④ 위젯들은 선택된 가상 </a:t>
            </a:r>
            <a:r>
              <a:rPr lang="ko-KR" altLang="en-US" sz="800" dirty="0" err="1">
                <a:solidFill>
                  <a:schemeClr val="dk2"/>
                </a:solidFill>
                <a:latin typeface="+mn-ea"/>
                <a:ea typeface="+mn-ea"/>
              </a:rPr>
              <a:t>머신을</a:t>
            </a:r>
            <a: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  <a:t> 기준으로 데이터가 갱신됩니다</a:t>
            </a: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.</a:t>
            </a: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454D19A-55A6-CB73-AA50-ECD486FE1B46}"/>
              </a:ext>
            </a:extLst>
          </p:cNvPr>
          <p:cNvCxnSpPr>
            <a:cxnSpLocks/>
            <a:stCxn id="34" idx="1"/>
            <a:endCxn id="29" idx="1"/>
          </p:cNvCxnSpPr>
          <p:nvPr/>
        </p:nvCxnSpPr>
        <p:spPr>
          <a:xfrm rot="10800000" flipH="1" flipV="1">
            <a:off x="608012" y="2818661"/>
            <a:ext cx="63177" cy="303219"/>
          </a:xfrm>
          <a:prstGeom prst="bentConnector3">
            <a:avLst>
              <a:gd name="adj1" fmla="val -361841"/>
            </a:avLst>
          </a:prstGeom>
          <a:noFill/>
          <a:ln w="19050">
            <a:solidFill>
              <a:srgbClr val="C00000"/>
            </a:solidFill>
            <a:prstDash val="sysDot"/>
            <a:headEnd type="oval" w="sm" len="sm"/>
            <a:tailEnd type="oval" w="sm" len="sm"/>
          </a:ln>
          <a:effectLst>
            <a:glow rad="381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262D539-C065-54B0-F8F5-B45350EE7CA2}"/>
              </a:ext>
            </a:extLst>
          </p:cNvPr>
          <p:cNvSpPr/>
          <p:nvPr/>
        </p:nvSpPr>
        <p:spPr>
          <a:xfrm>
            <a:off x="608013" y="2749765"/>
            <a:ext cx="1746567" cy="137793"/>
          </a:xfrm>
          <a:prstGeom prst="roundRect">
            <a:avLst>
              <a:gd name="adj" fmla="val 2821"/>
            </a:avLst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Metropolis" panose="00000500000000000000" pitchFamily="2" charset="0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831A4EDC-194F-C7F1-531A-790215B6CE68}"/>
              </a:ext>
            </a:extLst>
          </p:cNvPr>
          <p:cNvCxnSpPr>
            <a:cxnSpLocks/>
          </p:cNvCxnSpPr>
          <p:nvPr/>
        </p:nvCxnSpPr>
        <p:spPr>
          <a:xfrm rot="10800000">
            <a:off x="4721352" y="3123250"/>
            <a:ext cx="575455" cy="900000"/>
          </a:xfrm>
          <a:prstGeom prst="bentConnector3">
            <a:avLst>
              <a:gd name="adj1" fmla="val 45366"/>
            </a:avLst>
          </a:prstGeom>
          <a:noFill/>
          <a:ln w="12700">
            <a:solidFill>
              <a:srgbClr val="C00000"/>
            </a:solidFill>
            <a:prstDash val="solid"/>
            <a:headEnd type="triangle" w="sm" len="sm"/>
            <a:tailEnd type="none" w="sm" len="sm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4CD77082-CBB1-76BA-2508-D09FBC0C85B3}"/>
              </a:ext>
            </a:extLst>
          </p:cNvPr>
          <p:cNvCxnSpPr>
            <a:cxnSpLocks/>
            <a:stCxn id="16" idx="1"/>
            <a:endCxn id="29" idx="3"/>
          </p:cNvCxnSpPr>
          <p:nvPr/>
        </p:nvCxnSpPr>
        <p:spPr>
          <a:xfrm rot="10800000" flipV="1">
            <a:off x="4721352" y="3056285"/>
            <a:ext cx="575455" cy="65595"/>
          </a:xfrm>
          <a:prstGeom prst="bentConnector3">
            <a:avLst>
              <a:gd name="adj1" fmla="val 45586"/>
            </a:avLst>
          </a:prstGeom>
          <a:noFill/>
          <a:ln w="12700">
            <a:solidFill>
              <a:srgbClr val="C00000"/>
            </a:solidFill>
            <a:prstDash val="solid"/>
            <a:headEnd type="triangle" w="sm" len="sm"/>
            <a:tailEnd type="none" w="sm" len="sm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59EC9F4-F7F9-C2BD-5DF9-AECA5B124835}"/>
              </a:ext>
            </a:extLst>
          </p:cNvPr>
          <p:cNvCxnSpPr>
            <a:cxnSpLocks/>
            <a:stCxn id="10" idx="0"/>
            <a:endCxn id="29" idx="3"/>
          </p:cNvCxnSpPr>
          <p:nvPr/>
        </p:nvCxnSpPr>
        <p:spPr>
          <a:xfrm rot="5400000" flipH="1" flipV="1">
            <a:off x="3312903" y="2559704"/>
            <a:ext cx="846270" cy="1970625"/>
          </a:xfrm>
          <a:prstGeom prst="bentConnector4">
            <a:avLst>
              <a:gd name="adj1" fmla="val 44545"/>
              <a:gd name="adj2" fmla="val 115918"/>
            </a:avLst>
          </a:prstGeom>
          <a:noFill/>
          <a:ln w="12700">
            <a:solidFill>
              <a:srgbClr val="C00000"/>
            </a:solidFill>
            <a:prstDash val="solid"/>
            <a:headEnd type="triangle" w="sm" len="sm"/>
            <a:tailEnd type="none" w="sm" len="sm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7" name="Google Shape;1286;p75">
            <a:extLst>
              <a:ext uri="{FF2B5EF4-FFF2-40B4-BE49-F238E27FC236}">
                <a16:creationId xmlns:a16="http://schemas.microsoft.com/office/drawing/2014/main" id="{40C34805-8749-8FA5-ECEE-D5A8FA44A42E}"/>
              </a:ext>
            </a:extLst>
          </p:cNvPr>
          <p:cNvSpPr/>
          <p:nvPr/>
        </p:nvSpPr>
        <p:spPr>
          <a:xfrm>
            <a:off x="608013" y="5090160"/>
            <a:ext cx="7926387" cy="1082040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CPU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사용률은 오버클럭을 포함한 수치이기 때문에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VM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할당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CPU Hz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의 최대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130%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까지 표시될 수 있습니다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000">
                <a:solidFill>
                  <a:srgbClr val="322A3C"/>
                </a:solidFill>
                <a:latin typeface="+mn-ea"/>
                <a:ea typeface="+mn-ea"/>
              </a:rPr>
              <a:t>"</a:t>
            </a:r>
            <a:r>
              <a:rPr lang="ko-KR" altLang="en-US" sz="1000">
                <a:solidFill>
                  <a:srgbClr val="322A3C"/>
                </a:solidFill>
                <a:latin typeface="+mn-ea"/>
                <a:ea typeface="+mn-ea"/>
              </a:rPr>
              <a:t>③</a:t>
            </a:r>
            <a:r>
              <a:rPr lang="en-US" altLang="ko-KR" sz="1000">
                <a:solidFill>
                  <a:srgbClr val="322A3C"/>
                </a:solidFill>
                <a:latin typeface="+mn-ea"/>
                <a:ea typeface="+mn-ea"/>
              </a:rPr>
              <a:t>"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위젯을 통해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CPU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사용률이 일시적으로 높은 현상이 운영자가 인지하고 있는 작업 루틴이라면 문제가 되진 않습니다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Business Hour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에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CPU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사용률의 장시간 높고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CPU </a:t>
            </a:r>
            <a:r>
              <a:rPr lang="ko-KR" altLang="en-US" sz="1000" dirty="0" err="1">
                <a:solidFill>
                  <a:srgbClr val="322A3C"/>
                </a:solidFill>
                <a:latin typeface="+mn-ea"/>
                <a:ea typeface="+mn-ea"/>
              </a:rPr>
              <a:t>가상화율이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2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배수인 호스트에서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을 운영 중이라면 호스트 리소스를 과다하게 점유하고 있지 않은 지 확인해야 합니다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228" name="Google Shape;1286;p75">
            <a:extLst>
              <a:ext uri="{FF2B5EF4-FFF2-40B4-BE49-F238E27FC236}">
                <a16:creationId xmlns:a16="http://schemas.microsoft.com/office/drawing/2014/main" id="{20593859-D1CD-D570-5085-D13F8141EC30}"/>
              </a:ext>
            </a:extLst>
          </p:cNvPr>
          <p:cNvSpPr/>
          <p:nvPr/>
        </p:nvSpPr>
        <p:spPr>
          <a:xfrm>
            <a:off x="4541632" y="4442997"/>
            <a:ext cx="4023055" cy="409607"/>
          </a:xfrm>
          <a:prstGeom prst="roundRect">
            <a:avLst>
              <a:gd name="adj" fmla="val 2282"/>
            </a:avLst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 marL="171450" indent="-825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CPU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사용률 표시 색상 정의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597539"/>
                </a:solidFill>
                <a:highlight>
                  <a:srgbClr val="322A3C"/>
                </a:highlight>
                <a:latin typeface="+mn-ea"/>
                <a:ea typeface="+mn-ea"/>
              </a:rPr>
              <a:t>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Green : 100%</a:t>
            </a:r>
            <a:r>
              <a:rPr lang="ko-KR" altLang="en-US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100%</a:t>
            </a:r>
            <a:r>
              <a:rPr lang="ko-KR" altLang="en-US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</a:t>
            </a:r>
            <a:r>
              <a:rPr lang="ko-KR" altLang="en-US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110%</a:t>
            </a:r>
            <a:r>
              <a:rPr lang="ko-KR" altLang="en-US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120%</a:t>
            </a:r>
            <a:r>
              <a:rPr lang="ko-KR" altLang="en-US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↑</a:t>
            </a:r>
            <a:endParaRPr lang="en-US" altLang="ko-KR" sz="800" b="1" dirty="0">
              <a:solidFill>
                <a:srgbClr val="FF0000"/>
              </a:solidFill>
              <a:highlight>
                <a:srgbClr val="322A3C"/>
              </a:highlight>
              <a:latin typeface="+mn-ea"/>
              <a:ea typeface="+mn-ea"/>
            </a:endParaRPr>
          </a:p>
        </p:txBody>
      </p:sp>
      <p:graphicFrame>
        <p:nvGraphicFramePr>
          <p:cNvPr id="13" name="Google Shape;1325;p75">
            <a:extLst>
              <a:ext uri="{FF2B5EF4-FFF2-40B4-BE49-F238E27FC236}">
                <a16:creationId xmlns:a16="http://schemas.microsoft.com/office/drawing/2014/main" id="{ED97A51C-0722-4F30-A996-F399D434AA28}"/>
              </a:ext>
            </a:extLst>
          </p:cNvPr>
          <p:cNvGraphicFramePr/>
          <p:nvPr/>
        </p:nvGraphicFramePr>
        <p:xfrm>
          <a:off x="8902700" y="1616754"/>
          <a:ext cx="2672883" cy="4635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0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6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+mn-ea"/>
                          <a:ea typeface="+mn-ea"/>
                        </a:rPr>
                        <a:t>1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SECTION"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에서 운영 중인 호스트 목록을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일간 가장 높은 수치를 기록한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7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+mn-ea"/>
                          <a:ea typeface="+mn-ea"/>
                        </a:rPr>
                        <a:t>2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위젯에서 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의 일일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일간 매일 어느 시점에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CPU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를 가장 많이 사용하였는지 분석할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275343"/>
                  </a:ext>
                </a:extLst>
              </a:tr>
              <a:tr h="8909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+mn-ea"/>
                          <a:ea typeface="+mn-ea"/>
                        </a:rPr>
                        <a:t>3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일간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사용률 변화 추세를 차트로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+mn-ea"/>
                        <a:ea typeface="+mn-ea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차트의 움직임은 반복적인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사용 패턴을 분석하기에 용이합니다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6219"/>
                  </a:ext>
                </a:extLst>
              </a:tr>
              <a:tr h="11871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+mn-ea"/>
                          <a:ea typeface="+mn-ea"/>
                        </a:rPr>
                        <a:t>4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에 할당된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개수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메모리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, 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, OS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유형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, IP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를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27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34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3D9EDBE5-1933-8C5A-FD47-FCE22BB4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디스플레이, 평행이(가) 표시된 사진&#10;&#10;자동 생성된 설명">
            <a:extLst>
              <a:ext uri="{FF2B5EF4-FFF2-40B4-BE49-F238E27FC236}">
                <a16:creationId xmlns:a16="http://schemas.microsoft.com/office/drawing/2014/main" id="{93EF3DC1-9D51-75C6-0116-DDB4AE469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2" t="37695" r="-181" b="48592"/>
          <a:stretch/>
        </p:blipFill>
        <p:spPr>
          <a:xfrm>
            <a:off x="608013" y="2136696"/>
            <a:ext cx="7965665" cy="1751402"/>
          </a:xfrm>
          <a:prstGeom prst="rect">
            <a:avLst/>
          </a:prstGeom>
        </p:spPr>
      </p:pic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9B6EF3CA-6A62-4A0A-C3A7-B582BB345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VM </a:t>
            </a:r>
            <a:r>
              <a:rPr lang="ko-KR" altLang="en-US" dirty="0"/>
              <a:t>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0D8BF797-067B-FB00-A3E9-682D3A39FC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관리 </a:t>
            </a:r>
            <a:r>
              <a:rPr lang="ko-KR" altLang="en-US" sz="1400">
                <a:latin typeface="+mj-ea"/>
                <a:ea typeface="+mj-ea"/>
              </a:rPr>
              <a:t>대시보드의 </a:t>
            </a:r>
            <a:r>
              <a:rPr lang="en-US" altLang="ko-KR" sz="1400">
                <a:latin typeface="+mj-ea"/>
                <a:ea typeface="+mj-ea"/>
              </a:rPr>
              <a:t>"</a:t>
            </a:r>
            <a:r>
              <a:rPr lang="ko-KR" altLang="en-US" sz="1400">
                <a:latin typeface="+mj-ea"/>
                <a:ea typeface="+mj-ea"/>
              </a:rPr>
              <a:t>주간</a:t>
            </a:r>
            <a:r>
              <a:rPr lang="en-US" altLang="ko-KR" sz="1400" dirty="0">
                <a:latin typeface="+mj-ea"/>
                <a:ea typeface="+mj-ea"/>
              </a:rPr>
              <a:t>/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MEM </a:t>
            </a:r>
            <a:r>
              <a:rPr lang="ko-KR" altLang="en-US" sz="1400" dirty="0">
                <a:latin typeface="+mj-ea"/>
                <a:ea typeface="+mj-ea"/>
              </a:rPr>
              <a:t>사용률 </a:t>
            </a:r>
            <a:r>
              <a:rPr lang="en-US" altLang="ko-KR" sz="1400">
                <a:latin typeface="+mj-ea"/>
                <a:ea typeface="+mj-ea"/>
              </a:rPr>
              <a:t>PEAK </a:t>
            </a:r>
            <a:r>
              <a:rPr lang="ko-KR" altLang="en-US" sz="1400">
                <a:latin typeface="+mj-ea"/>
                <a:ea typeface="+mj-ea"/>
              </a:rPr>
              <a:t>추세</a:t>
            </a:r>
            <a:r>
              <a:rPr lang="en-US" altLang="ko-KR" sz="1400">
                <a:latin typeface="+mj-ea"/>
                <a:ea typeface="+mj-ea"/>
              </a:rPr>
              <a:t>"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지난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MEM </a:t>
            </a:r>
            <a:r>
              <a:rPr lang="ko-KR" altLang="en-US" sz="1400" dirty="0">
                <a:latin typeface="+mj-ea"/>
                <a:ea typeface="+mj-ea"/>
              </a:rPr>
              <a:t>사용률 </a:t>
            </a:r>
            <a:r>
              <a:rPr lang="en-US" altLang="ko-KR" sz="1400" dirty="0">
                <a:latin typeface="+mj-ea"/>
                <a:ea typeface="+mj-ea"/>
              </a:rPr>
              <a:t>PEAK</a:t>
            </a:r>
            <a:r>
              <a:rPr lang="ko-KR" altLang="en-US" sz="1400" dirty="0">
                <a:latin typeface="+mj-ea"/>
                <a:ea typeface="+mj-ea"/>
              </a:rPr>
              <a:t>가 가장 높았던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부터 일간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및 사용률 추세 차트를 제공하는 위젯이 구성되어 있어 </a:t>
            </a:r>
            <a:r>
              <a:rPr lang="en-US" altLang="ko-KR" sz="1400" dirty="0">
                <a:latin typeface="+mj-ea"/>
                <a:ea typeface="+mj-ea"/>
              </a:rPr>
              <a:t>MEM </a:t>
            </a:r>
            <a:r>
              <a:rPr lang="ko-KR" altLang="en-US" sz="1400" dirty="0">
                <a:latin typeface="+mj-ea"/>
                <a:ea typeface="+mj-ea"/>
              </a:rPr>
              <a:t>리소스 관리 운영에 필요한 분석이 용이합니다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CE0D74-6504-4C8E-D6C0-087D326744F7}"/>
              </a:ext>
            </a:extLst>
          </p:cNvPr>
          <p:cNvGrpSpPr/>
          <p:nvPr/>
        </p:nvGrpSpPr>
        <p:grpSpPr>
          <a:xfrm>
            <a:off x="594665" y="1602750"/>
            <a:ext cx="8200085" cy="324000"/>
            <a:chOff x="608228" y="1298585"/>
            <a:chExt cx="10972800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68D9D0-77CD-A513-C5EC-8D3554CB548C}"/>
                </a:ext>
              </a:extLst>
            </p:cNvPr>
            <p:cNvSpPr txBox="1"/>
            <p:nvPr/>
          </p:nvSpPr>
          <p:spPr>
            <a:xfrm>
              <a:off x="708711" y="1308628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주간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일간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MEM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사용률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PEAK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추세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25B2017-AE63-8446-94E6-7C20BE4FFD3B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3D99BE4-572E-52D7-2B77-5CC66480D983}"/>
              </a:ext>
            </a:extLst>
          </p:cNvPr>
          <p:cNvSpPr txBox="1"/>
          <p:nvPr/>
        </p:nvSpPr>
        <p:spPr>
          <a:xfrm>
            <a:off x="917149" y="3807450"/>
            <a:ext cx="188352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en-US" dirty="0"/>
              <a:t>VM </a:t>
            </a:r>
            <a:r>
              <a:rPr lang="ko-KR" altLang="en-US" dirty="0"/>
              <a:t>목록 및 </a:t>
            </a:r>
            <a:r>
              <a:rPr lang="en-US" altLang="ko-KR" dirty="0"/>
              <a:t>MEM PEAK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49002B-6620-F2F0-E547-1D622D802FA6}"/>
              </a:ext>
            </a:extLst>
          </p:cNvPr>
          <p:cNvSpPr/>
          <p:nvPr/>
        </p:nvSpPr>
        <p:spPr>
          <a:xfrm>
            <a:off x="608013" y="2330200"/>
            <a:ext cx="1962467" cy="174318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4" name="Google Shape;1333;p75">
            <a:extLst>
              <a:ext uri="{FF2B5EF4-FFF2-40B4-BE49-F238E27FC236}">
                <a16:creationId xmlns:a16="http://schemas.microsoft.com/office/drawing/2014/main" id="{368499E6-06C3-4C29-6415-9B9C141D6B50}"/>
              </a:ext>
            </a:extLst>
          </p:cNvPr>
          <p:cNvSpPr txBox="1"/>
          <p:nvPr/>
        </p:nvSpPr>
        <p:spPr>
          <a:xfrm>
            <a:off x="649876" y="3807450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1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E84DEF-8B3E-4B2B-BEF3-24C0BD1B4058}"/>
              </a:ext>
            </a:extLst>
          </p:cNvPr>
          <p:cNvSpPr txBox="1"/>
          <p:nvPr/>
        </p:nvSpPr>
        <p:spPr>
          <a:xfrm>
            <a:off x="2805638" y="3807450"/>
            <a:ext cx="47385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일일 </a:t>
            </a:r>
            <a:r>
              <a:rPr lang="en-US" altLang="ko-KR" dirty="0"/>
              <a:t>MEM </a:t>
            </a:r>
            <a:r>
              <a:rPr lang="ko-KR" altLang="en-US" dirty="0"/>
              <a:t>사용률 </a:t>
            </a:r>
            <a:r>
              <a:rPr lang="en-US" altLang="ko-KR" dirty="0"/>
              <a:t>PEAK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9CEA90-3375-F56B-7420-60C522E97A8C}"/>
              </a:ext>
            </a:extLst>
          </p:cNvPr>
          <p:cNvSpPr/>
          <p:nvPr/>
        </p:nvSpPr>
        <p:spPr>
          <a:xfrm>
            <a:off x="2590885" y="2334009"/>
            <a:ext cx="2646595" cy="1739374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0" name="Google Shape;1333;p75">
            <a:extLst>
              <a:ext uri="{FF2B5EF4-FFF2-40B4-BE49-F238E27FC236}">
                <a16:creationId xmlns:a16="http://schemas.microsoft.com/office/drawing/2014/main" id="{F6E117DC-46F0-C37B-C894-D384F7B39B74}"/>
              </a:ext>
            </a:extLst>
          </p:cNvPr>
          <p:cNvSpPr txBox="1"/>
          <p:nvPr/>
        </p:nvSpPr>
        <p:spPr>
          <a:xfrm>
            <a:off x="2624726" y="3807450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2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803E65-FA2A-A626-696B-F3E5CF0D5F24}"/>
              </a:ext>
            </a:extLst>
          </p:cNvPr>
          <p:cNvSpPr/>
          <p:nvPr/>
        </p:nvSpPr>
        <p:spPr>
          <a:xfrm>
            <a:off x="5262965" y="2339089"/>
            <a:ext cx="3296835" cy="71829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6" name="Google Shape;1333;p75">
            <a:extLst>
              <a:ext uri="{FF2B5EF4-FFF2-40B4-BE49-F238E27FC236}">
                <a16:creationId xmlns:a16="http://schemas.microsoft.com/office/drawing/2014/main" id="{13020288-E660-2E15-F435-C27FE30BEB8E}"/>
              </a:ext>
            </a:extLst>
          </p:cNvPr>
          <p:cNvSpPr txBox="1"/>
          <p:nvPr/>
        </p:nvSpPr>
        <p:spPr>
          <a:xfrm>
            <a:off x="5296806" y="2787907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3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BAA6B-36B6-0845-EEA5-49DBE310E953}"/>
              </a:ext>
            </a:extLst>
          </p:cNvPr>
          <p:cNvSpPr txBox="1"/>
          <p:nvPr/>
        </p:nvSpPr>
        <p:spPr>
          <a:xfrm>
            <a:off x="5528519" y="2778241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</a:t>
            </a:r>
            <a:r>
              <a:rPr lang="en-US" altLang="ko-KR" dirty="0"/>
              <a:t>MEM </a:t>
            </a:r>
            <a:r>
              <a:rPr lang="ko-KR" altLang="en-US" dirty="0"/>
              <a:t>사용률 추세</a:t>
            </a:r>
            <a:endParaRPr 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42B3FF-CAD3-6091-3858-91DA69A0E668}"/>
              </a:ext>
            </a:extLst>
          </p:cNvPr>
          <p:cNvSpPr/>
          <p:nvPr/>
        </p:nvSpPr>
        <p:spPr>
          <a:xfrm>
            <a:off x="5262965" y="3085849"/>
            <a:ext cx="3296835" cy="98753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25" name="Google Shape;1333;p75">
            <a:extLst>
              <a:ext uri="{FF2B5EF4-FFF2-40B4-BE49-F238E27FC236}">
                <a16:creationId xmlns:a16="http://schemas.microsoft.com/office/drawing/2014/main" id="{6CCBEB3B-B332-A7BF-E4AD-D397E4B57CB1}"/>
              </a:ext>
            </a:extLst>
          </p:cNvPr>
          <p:cNvSpPr txBox="1"/>
          <p:nvPr/>
        </p:nvSpPr>
        <p:spPr>
          <a:xfrm>
            <a:off x="5296806" y="3807450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4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31EAB5-D53E-13AC-B0CE-0EDC9966C6E1}"/>
              </a:ext>
            </a:extLst>
          </p:cNvPr>
          <p:cNvSpPr txBox="1"/>
          <p:nvPr/>
        </p:nvSpPr>
        <p:spPr>
          <a:xfrm>
            <a:off x="5528519" y="3807450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구성 정보</a:t>
            </a:r>
            <a:endParaRPr lang="en-US" dirty="0"/>
          </a:p>
        </p:txBody>
      </p:sp>
      <p:sp>
        <p:nvSpPr>
          <p:cNvPr id="38" name="Google Shape;1286;p75">
            <a:extLst>
              <a:ext uri="{FF2B5EF4-FFF2-40B4-BE49-F238E27FC236}">
                <a16:creationId xmlns:a16="http://schemas.microsoft.com/office/drawing/2014/main" id="{C1DB0964-0C7D-3F85-7943-D0B815933954}"/>
              </a:ext>
            </a:extLst>
          </p:cNvPr>
          <p:cNvSpPr/>
          <p:nvPr/>
        </p:nvSpPr>
        <p:spPr>
          <a:xfrm>
            <a:off x="608013" y="5217160"/>
            <a:ext cx="7921307" cy="955041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메모리 사용률은 가상머신에 할당된 메모리 중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Guest OS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가 필요로 하는 메모리의 비율입니다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  <a:b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</a:b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높은 사용률이 지속 될 경우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에 할당된 메모리의 증설을 고려해야 합니다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운영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TIP.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현재 운영 중인 모든 호스트의 메모리 </a:t>
            </a:r>
            <a:r>
              <a:rPr lang="ko-KR" altLang="en-US" sz="1000" dirty="0" err="1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가상화율은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1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배수 이므로 각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에 할당된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MEM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의 사용률이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100%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를 유지한다고 해서 호스트 리소스가 부족한 상황은 발생하지 않습니다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  <a:endParaRPr lang="en-US" altLang="ko-KR" sz="1000" dirty="0">
              <a:solidFill>
                <a:srgbClr val="322A3C"/>
              </a:solidFill>
              <a:latin typeface="+mn-ea"/>
              <a:ea typeface="+mn-ea"/>
            </a:endParaRPr>
          </a:p>
        </p:txBody>
      </p:sp>
      <p:sp>
        <p:nvSpPr>
          <p:cNvPr id="40" name="Google Shape;1286;p75">
            <a:extLst>
              <a:ext uri="{FF2B5EF4-FFF2-40B4-BE49-F238E27FC236}">
                <a16:creationId xmlns:a16="http://schemas.microsoft.com/office/drawing/2014/main" id="{D5FC8278-34BA-1963-535B-B14781AC9CEB}"/>
              </a:ext>
            </a:extLst>
          </p:cNvPr>
          <p:cNvSpPr/>
          <p:nvPr/>
        </p:nvSpPr>
        <p:spPr>
          <a:xfrm>
            <a:off x="4521312" y="4740177"/>
            <a:ext cx="4023055" cy="409607"/>
          </a:xfrm>
          <a:prstGeom prst="roundRect">
            <a:avLst>
              <a:gd name="adj" fmla="val 2282"/>
            </a:avLst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 marL="179388" indent="-90488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chemeClr val="tx1"/>
                </a:solidFill>
                <a:latin typeface="+mn-ea"/>
                <a:ea typeface="+mn-ea"/>
              </a:rPr>
              <a:t>MEM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사용률 표시 색상 정의</a:t>
            </a:r>
            <a:br>
              <a:rPr lang="ko-KR" altLang="en-US" sz="800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70%↓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70%↑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80%↑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90%↑</a:t>
            </a:r>
          </a:p>
        </p:txBody>
      </p:sp>
      <p:graphicFrame>
        <p:nvGraphicFramePr>
          <p:cNvPr id="13" name="Google Shape;1325;p75">
            <a:extLst>
              <a:ext uri="{FF2B5EF4-FFF2-40B4-BE49-F238E27FC236}">
                <a16:creationId xmlns:a16="http://schemas.microsoft.com/office/drawing/2014/main" id="{08A236C5-DD85-FB48-19CE-067DA300B80B}"/>
              </a:ext>
            </a:extLst>
          </p:cNvPr>
          <p:cNvGraphicFramePr/>
          <p:nvPr/>
        </p:nvGraphicFramePr>
        <p:xfrm>
          <a:off x="8902700" y="1600200"/>
          <a:ext cx="2687638" cy="457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1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47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호스트 목록을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가장 높은 수치를 기록한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7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일일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어느 시점에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MEM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가장 많이 사용하였는지 분석할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275343"/>
                  </a:ext>
                </a:extLst>
              </a:tr>
              <a:tr h="8941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변화 추세를 차트로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차트의 움직임은 반복적인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 패턴을 분석하기에 용이합니다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6219"/>
                  </a:ext>
                </a:extLst>
              </a:tr>
              <a:tr h="11914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할당된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개수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메모리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OS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유형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27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98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B89D126D-3F32-C542-BEA1-E75A0839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AD4D99EC-46D6-E78D-511E-B762D7EED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VM </a:t>
            </a:r>
            <a:r>
              <a:rPr lang="ko-KR" altLang="en-US" dirty="0"/>
              <a:t>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9803AAD2-4457-BE2E-AC0A-BFCFA5E69D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관리 </a:t>
            </a:r>
            <a:r>
              <a:rPr lang="ko-KR" altLang="en-US" sz="1400">
                <a:latin typeface="+mj-ea"/>
                <a:ea typeface="+mj-ea"/>
              </a:rPr>
              <a:t>대시보드의 </a:t>
            </a:r>
            <a:r>
              <a:rPr lang="en-US" altLang="ko-KR" sz="1400">
                <a:latin typeface="+mj-ea"/>
                <a:ea typeface="+mj-ea"/>
              </a:rPr>
              <a:t>"</a:t>
            </a:r>
            <a:r>
              <a:rPr lang="ko-KR" altLang="en-US" sz="1400">
                <a:latin typeface="+mj-ea"/>
                <a:ea typeface="+mj-ea"/>
              </a:rPr>
              <a:t>주간</a:t>
            </a:r>
            <a:r>
              <a:rPr lang="en-US" altLang="ko-KR" sz="1400" dirty="0">
                <a:latin typeface="+mj-ea"/>
                <a:ea typeface="+mj-ea"/>
              </a:rPr>
              <a:t>/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DISK </a:t>
            </a:r>
            <a:r>
              <a:rPr lang="ko-KR" altLang="en-US" sz="1400" dirty="0">
                <a:latin typeface="+mj-ea"/>
                <a:ea typeface="+mj-ea"/>
              </a:rPr>
              <a:t>사용률 </a:t>
            </a:r>
            <a:r>
              <a:rPr lang="en-US" altLang="ko-KR" sz="1400">
                <a:latin typeface="+mj-ea"/>
                <a:ea typeface="+mj-ea"/>
              </a:rPr>
              <a:t>PEAK </a:t>
            </a:r>
            <a:r>
              <a:rPr lang="ko-KR" altLang="en-US" sz="1400">
                <a:latin typeface="+mj-ea"/>
                <a:ea typeface="+mj-ea"/>
              </a:rPr>
              <a:t>추세</a:t>
            </a:r>
            <a:r>
              <a:rPr lang="en-US" altLang="ko-KR" sz="1400">
                <a:latin typeface="+mj-ea"/>
                <a:ea typeface="+mj-ea"/>
              </a:rPr>
              <a:t>"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지난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DISK </a:t>
            </a:r>
            <a:r>
              <a:rPr lang="ko-KR" altLang="en-US" sz="1400" dirty="0">
                <a:latin typeface="+mj-ea"/>
                <a:ea typeface="+mj-ea"/>
              </a:rPr>
              <a:t>사용률 </a:t>
            </a:r>
            <a:r>
              <a:rPr lang="en-US" altLang="ko-KR" sz="1400" dirty="0">
                <a:latin typeface="+mj-ea"/>
                <a:ea typeface="+mj-ea"/>
              </a:rPr>
              <a:t>PEAK</a:t>
            </a:r>
            <a:r>
              <a:rPr lang="ko-KR" altLang="en-US" sz="1400" dirty="0">
                <a:latin typeface="+mj-ea"/>
                <a:ea typeface="+mj-ea"/>
              </a:rPr>
              <a:t>가 가장 높았던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부터 일간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및 사용률 추세 차트를 제공하는 위젯이 구성되어 있어 스토리지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리소스 관리 운영에 필요한 분석이 용이합니다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07312B6-D071-0ABA-4264-76249878A795}"/>
              </a:ext>
            </a:extLst>
          </p:cNvPr>
          <p:cNvGrpSpPr/>
          <p:nvPr/>
        </p:nvGrpSpPr>
        <p:grpSpPr>
          <a:xfrm>
            <a:off x="594663" y="1602753"/>
            <a:ext cx="8200088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D11D66-C935-61C2-336B-0ACF013A0E6E}"/>
                </a:ext>
              </a:extLst>
            </p:cNvPr>
            <p:cNvSpPr txBox="1"/>
            <p:nvPr/>
          </p:nvSpPr>
          <p:spPr>
            <a:xfrm>
              <a:off x="708710" y="130747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주간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일간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DISK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사용률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PEAK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추세 및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OS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파티션 사용률 조회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E327337-63CC-559C-239F-CE892202B2E7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sp>
        <p:nvSpPr>
          <p:cNvPr id="55" name="Google Shape;1286;p75">
            <a:extLst>
              <a:ext uri="{FF2B5EF4-FFF2-40B4-BE49-F238E27FC236}">
                <a16:creationId xmlns:a16="http://schemas.microsoft.com/office/drawing/2014/main" id="{AF877FCD-6367-F7F3-10B7-514D1451C969}"/>
              </a:ext>
            </a:extLst>
          </p:cNvPr>
          <p:cNvSpPr/>
          <p:nvPr/>
        </p:nvSpPr>
        <p:spPr>
          <a:xfrm>
            <a:off x="608013" y="5318760"/>
            <a:ext cx="7941627" cy="853441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DISK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사용률은 가상머신에 할당된 가상디스크 전체 용량 중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Guest OS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가 사용 중인 사용률입니다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  <a:b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</a:b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높은 사용률이 지속 될 경우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에 할당된 가상디스크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용량 증설을 고려해야 합니다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가상디스크 용량은 충분하지만 논리적 파티션 할당 용량이 부족한 경우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OS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파티션 용량 조정을 검토 해야 합니다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4A28BA7-17D2-BAEC-0814-65D4CEDDB621}"/>
              </a:ext>
            </a:extLst>
          </p:cNvPr>
          <p:cNvGrpSpPr/>
          <p:nvPr/>
        </p:nvGrpSpPr>
        <p:grpSpPr>
          <a:xfrm>
            <a:off x="593874" y="2103899"/>
            <a:ext cx="7795913" cy="3273727"/>
            <a:chOff x="593874" y="1586065"/>
            <a:chExt cx="7965926" cy="3511237"/>
          </a:xfrm>
        </p:grpSpPr>
        <p:pic>
          <p:nvPicPr>
            <p:cNvPr id="12" name="그림 11" descr="텍스트, 스크린샷, 디스플레이, 평행이(가) 표시된 사진&#10;&#10;자동 생성된 설명">
              <a:extLst>
                <a:ext uri="{FF2B5EF4-FFF2-40B4-BE49-F238E27FC236}">
                  <a16:creationId xmlns:a16="http://schemas.microsoft.com/office/drawing/2014/main" id="{C3D384FA-FD7D-E140-3AE6-74216DD0C2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23" t="51127" r="-122" b="26416"/>
            <a:stretch/>
          </p:blipFill>
          <p:spPr>
            <a:xfrm>
              <a:off x="593874" y="1586065"/>
              <a:ext cx="7965665" cy="286810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5DADCC-A997-67A1-DD4E-7761E3F0EEC6}"/>
                </a:ext>
              </a:extLst>
            </p:cNvPr>
            <p:cNvSpPr txBox="1"/>
            <p:nvPr/>
          </p:nvSpPr>
          <p:spPr>
            <a:xfrm>
              <a:off x="849224" y="3064769"/>
              <a:ext cx="1883528" cy="2308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en-US" sz="900" dirty="0"/>
                <a:t>VM </a:t>
              </a:r>
              <a:r>
                <a:rPr lang="ko-KR" altLang="en-US" sz="900" dirty="0"/>
                <a:t>목록 및 </a:t>
              </a:r>
              <a:r>
                <a:rPr lang="en-US" altLang="ko-KR" sz="900" dirty="0"/>
                <a:t>DISK </a:t>
              </a:r>
              <a:r>
                <a:rPr lang="ko-KR" altLang="en-US" sz="900" dirty="0"/>
                <a:t>사용률</a:t>
              </a:r>
              <a:r>
                <a:rPr lang="en-US" altLang="ko-KR" sz="900" dirty="0"/>
                <a:t> PEAK</a:t>
              </a:r>
              <a:endParaRPr lang="en-US" sz="900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0F49A0E-405C-12CF-629E-5F1B0D617A00}"/>
                </a:ext>
              </a:extLst>
            </p:cNvPr>
            <p:cNvSpPr/>
            <p:nvPr/>
          </p:nvSpPr>
          <p:spPr>
            <a:xfrm>
              <a:off x="608013" y="1791093"/>
              <a:ext cx="1962467" cy="1521067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4" name="Google Shape;1333;p75">
              <a:extLst>
                <a:ext uri="{FF2B5EF4-FFF2-40B4-BE49-F238E27FC236}">
                  <a16:creationId xmlns:a16="http://schemas.microsoft.com/office/drawing/2014/main" id="{6ABFB953-5E7D-B843-74C0-A4A9494CDF1B}"/>
                </a:ext>
              </a:extLst>
            </p:cNvPr>
            <p:cNvSpPr txBox="1"/>
            <p:nvPr/>
          </p:nvSpPr>
          <p:spPr>
            <a:xfrm>
              <a:off x="649876" y="3043955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1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7703E0C-EDAA-46F9-A06A-078DF46AA6F1}"/>
                </a:ext>
              </a:extLst>
            </p:cNvPr>
            <p:cNvSpPr txBox="1"/>
            <p:nvPr/>
          </p:nvSpPr>
          <p:spPr>
            <a:xfrm>
              <a:off x="2824073" y="3038099"/>
              <a:ext cx="473856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</a:t>
              </a:r>
              <a:r>
                <a:rPr lang="en-US" altLang="ko-KR" dirty="0"/>
                <a:t>VM</a:t>
              </a:r>
              <a:r>
                <a:rPr lang="ko-KR" altLang="en-US" dirty="0"/>
                <a:t>의 일일 </a:t>
              </a:r>
              <a:r>
                <a:rPr lang="en-US" altLang="ko-KR" dirty="0"/>
                <a:t>DISK </a:t>
              </a:r>
              <a:r>
                <a:rPr lang="ko-KR" altLang="en-US" dirty="0"/>
                <a:t>사용률 </a:t>
              </a:r>
              <a:r>
                <a:rPr lang="en-US" altLang="ko-KR" dirty="0"/>
                <a:t>PEAK</a:t>
              </a:r>
              <a:endParaRPr 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B2688E7-7500-6876-1980-877DB4ADF829}"/>
                </a:ext>
              </a:extLst>
            </p:cNvPr>
            <p:cNvSpPr/>
            <p:nvPr/>
          </p:nvSpPr>
          <p:spPr>
            <a:xfrm>
              <a:off x="2590885" y="1795806"/>
              <a:ext cx="2646595" cy="1522913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0" name="Google Shape;1333;p75">
              <a:extLst>
                <a:ext uri="{FF2B5EF4-FFF2-40B4-BE49-F238E27FC236}">
                  <a16:creationId xmlns:a16="http://schemas.microsoft.com/office/drawing/2014/main" id="{088B2EB8-F009-762D-74C2-4F1346E1AB1F}"/>
                </a:ext>
              </a:extLst>
            </p:cNvPr>
            <p:cNvSpPr txBox="1"/>
            <p:nvPr/>
          </p:nvSpPr>
          <p:spPr>
            <a:xfrm>
              <a:off x="2624726" y="3047765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2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33E2756-59C6-A998-57F4-D23B42908787}"/>
                </a:ext>
              </a:extLst>
            </p:cNvPr>
            <p:cNvSpPr/>
            <p:nvPr/>
          </p:nvSpPr>
          <p:spPr>
            <a:xfrm>
              <a:off x="5262965" y="1791093"/>
              <a:ext cx="3296835" cy="799707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16" name="Google Shape;1333;p75">
              <a:extLst>
                <a:ext uri="{FF2B5EF4-FFF2-40B4-BE49-F238E27FC236}">
                  <a16:creationId xmlns:a16="http://schemas.microsoft.com/office/drawing/2014/main" id="{A77AB5E7-2D26-CFDB-0F95-87929CFC9A47}"/>
                </a:ext>
              </a:extLst>
            </p:cNvPr>
            <p:cNvSpPr txBox="1"/>
            <p:nvPr/>
          </p:nvSpPr>
          <p:spPr>
            <a:xfrm>
              <a:off x="5296806" y="2321325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3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AB41D3-25CA-AAC2-5CBC-7FB20838B030}"/>
                </a:ext>
              </a:extLst>
            </p:cNvPr>
            <p:cNvSpPr txBox="1"/>
            <p:nvPr/>
          </p:nvSpPr>
          <p:spPr>
            <a:xfrm>
              <a:off x="5528519" y="2311659"/>
              <a:ext cx="295101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</a:t>
              </a:r>
              <a:r>
                <a:rPr lang="en-US" altLang="ko-KR" dirty="0"/>
                <a:t>VM</a:t>
              </a:r>
              <a:r>
                <a:rPr lang="ko-KR" altLang="en-US" dirty="0"/>
                <a:t>의 </a:t>
              </a:r>
              <a:r>
                <a:rPr lang="en-US" altLang="ko-KR" dirty="0"/>
                <a:t>DISK </a:t>
              </a:r>
              <a:r>
                <a:rPr lang="ko-KR" altLang="en-US" dirty="0"/>
                <a:t>사용률 추세</a:t>
              </a:r>
              <a:endParaRPr 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546769D-0A22-C572-A4EA-B01ACCB5303D}"/>
                </a:ext>
              </a:extLst>
            </p:cNvPr>
            <p:cNvSpPr/>
            <p:nvPr/>
          </p:nvSpPr>
          <p:spPr>
            <a:xfrm>
              <a:off x="5262965" y="2619267"/>
              <a:ext cx="3296835" cy="2130533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5" name="Google Shape;1333;p75">
              <a:extLst>
                <a:ext uri="{FF2B5EF4-FFF2-40B4-BE49-F238E27FC236}">
                  <a16:creationId xmlns:a16="http://schemas.microsoft.com/office/drawing/2014/main" id="{27BECA3B-FBAC-5C91-096B-117A1EA5E7CF}"/>
                </a:ext>
              </a:extLst>
            </p:cNvPr>
            <p:cNvSpPr txBox="1"/>
            <p:nvPr/>
          </p:nvSpPr>
          <p:spPr>
            <a:xfrm>
              <a:off x="5286356" y="4455989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chemeClr val="lt1"/>
                  </a:solidFill>
                  <a:latin typeface="Metropolis" panose="00000500000000000000" pitchFamily="2" charset="0"/>
                </a:rPr>
                <a:t>4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187626-CBC2-54BC-6B9F-9EBC643CCDC0}"/>
                </a:ext>
              </a:extLst>
            </p:cNvPr>
            <p:cNvSpPr txBox="1"/>
            <p:nvPr/>
          </p:nvSpPr>
          <p:spPr>
            <a:xfrm>
              <a:off x="5518069" y="4436657"/>
              <a:ext cx="2951018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</a:t>
              </a:r>
              <a:r>
                <a:rPr lang="en-US" altLang="ko-KR" dirty="0"/>
                <a:t>VM</a:t>
              </a:r>
              <a:r>
                <a:rPr lang="ko-KR" altLang="en-US" dirty="0"/>
                <a:t>의 구성 정보</a:t>
              </a:r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84D021-3013-F878-F84C-ED873AD5812B}"/>
                </a:ext>
              </a:extLst>
            </p:cNvPr>
            <p:cNvSpPr txBox="1"/>
            <p:nvPr/>
          </p:nvSpPr>
          <p:spPr>
            <a:xfrm>
              <a:off x="911923" y="4436657"/>
              <a:ext cx="2996483" cy="2616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 algn="r">
                <a:buSzPts val="1000"/>
                <a:buNone/>
                <a:defRPr sz="1100" b="1">
                  <a:solidFill>
                    <a:srgbClr val="25688E"/>
                  </a:solidFill>
                  <a:effectLst>
                    <a:glow rad="38100">
                      <a:schemeClr val="bg1"/>
                    </a:glow>
                  </a:effectLst>
                  <a:latin typeface="Malgun Gothic"/>
                  <a:ea typeface="Malgun Gothic"/>
                </a:defRPr>
              </a:lvl1pPr>
            </a:lstStyle>
            <a:p>
              <a:pPr algn="l"/>
              <a:r>
                <a:rPr lang="ko-KR" altLang="en-US" dirty="0"/>
                <a:t>선택 </a:t>
              </a:r>
              <a:r>
                <a:rPr lang="en-US" altLang="ko-KR" dirty="0"/>
                <a:t>VM</a:t>
              </a:r>
              <a:r>
                <a:rPr lang="ko-KR" altLang="en-US" dirty="0"/>
                <a:t>의 </a:t>
              </a:r>
              <a:r>
                <a:rPr lang="en-US" altLang="ko-KR" dirty="0"/>
                <a:t>OS </a:t>
              </a:r>
              <a:r>
                <a:rPr lang="ko-KR" altLang="en-US" dirty="0"/>
                <a:t>파티션 사용률 조회</a:t>
              </a:r>
              <a:endParaRPr 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6090000-54DB-67CB-4926-AA2A26880C99}"/>
                </a:ext>
              </a:extLst>
            </p:cNvPr>
            <p:cNvSpPr/>
            <p:nvPr/>
          </p:nvSpPr>
          <p:spPr>
            <a:xfrm>
              <a:off x="608013" y="3337978"/>
              <a:ext cx="4632805" cy="1411822"/>
            </a:xfrm>
            <a:prstGeom prst="rect">
              <a:avLst/>
            </a:prstGeom>
            <a:noFill/>
            <a:ln w="9525">
              <a:solidFill>
                <a:srgbClr val="25688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  <p:sp>
          <p:nvSpPr>
            <p:cNvPr id="29" name="Google Shape;1333;p75">
              <a:extLst>
                <a:ext uri="{FF2B5EF4-FFF2-40B4-BE49-F238E27FC236}">
                  <a16:creationId xmlns:a16="http://schemas.microsoft.com/office/drawing/2014/main" id="{A4D3AD40-502F-65FA-368B-AB9A687B3CB5}"/>
                </a:ext>
              </a:extLst>
            </p:cNvPr>
            <p:cNvSpPr txBox="1"/>
            <p:nvPr/>
          </p:nvSpPr>
          <p:spPr>
            <a:xfrm>
              <a:off x="644651" y="4455989"/>
              <a:ext cx="252000" cy="242278"/>
            </a:xfrm>
            <a:prstGeom prst="rect">
              <a:avLst/>
            </a:prstGeom>
            <a:solidFill>
              <a:srgbClr val="005F8E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 dirty="0">
                  <a:solidFill>
                    <a:schemeClr val="lt1"/>
                  </a:solidFill>
                  <a:latin typeface="Metropolis" panose="00000500000000000000" pitchFamily="2" charset="0"/>
                  <a:sym typeface="Arial"/>
                </a:rPr>
                <a:t>5</a:t>
              </a:r>
              <a:endParaRPr dirty="0">
                <a:latin typeface="Metropolis" panose="00000500000000000000" pitchFamily="2" charset="0"/>
              </a:endParaRPr>
            </a:p>
          </p:txBody>
        </p:sp>
        <p:sp>
          <p:nvSpPr>
            <p:cNvPr id="56" name="Google Shape;1286;p75">
              <a:extLst>
                <a:ext uri="{FF2B5EF4-FFF2-40B4-BE49-F238E27FC236}">
                  <a16:creationId xmlns:a16="http://schemas.microsoft.com/office/drawing/2014/main" id="{52F813EF-F688-794D-0A71-76F97A1042AC}"/>
                </a:ext>
              </a:extLst>
            </p:cNvPr>
            <p:cNvSpPr/>
            <p:nvPr/>
          </p:nvSpPr>
          <p:spPr>
            <a:xfrm>
              <a:off x="4536552" y="4687695"/>
              <a:ext cx="4023055" cy="409607"/>
            </a:xfrm>
            <a:prstGeom prst="roundRect">
              <a:avLst>
                <a:gd name="adj" fmla="val 2282"/>
              </a:avLst>
            </a:prstGeom>
            <a:solidFill>
              <a:schemeClr val="bg1"/>
            </a:solidFill>
            <a:ln w="127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8000" rIns="91425" bIns="18000" anchor="ctr" anchorCtr="0">
              <a:spAutoFit/>
            </a:bodyPr>
            <a:lstStyle/>
            <a:p>
              <a:pPr marL="179388" indent="-90488">
                <a:lnSpc>
                  <a:spcPct val="150000"/>
                </a:lnSpc>
                <a:buClrTx/>
                <a:buFont typeface="Wingdings" panose="05000000000000000000" pitchFamily="2" charset="2"/>
                <a:buChar char="§"/>
              </a:pPr>
              <a:r>
                <a:rPr lang="en-US" altLang="ko-KR" sz="800" b="1" dirty="0">
                  <a:solidFill>
                    <a:schemeClr val="tx1"/>
                  </a:solidFill>
                  <a:latin typeface="+mn-ea"/>
                  <a:ea typeface="+mn-ea"/>
                </a:rPr>
                <a:t>DISK </a:t>
              </a:r>
              <a:r>
                <a:rPr lang="ko-KR" altLang="en-US" sz="800" b="1" dirty="0">
                  <a:solidFill>
                    <a:schemeClr val="tx1"/>
                  </a:solidFill>
                  <a:latin typeface="+mn-ea"/>
                  <a:ea typeface="+mn-ea"/>
                </a:rPr>
                <a:t>사용률 표시 색상 정의</a:t>
              </a:r>
              <a:br>
                <a:rPr lang="ko-KR" altLang="en-US" sz="800" dirty="0">
                  <a:solidFill>
                    <a:schemeClr val="dk2"/>
                  </a:solidFill>
                  <a:latin typeface="+mn-ea"/>
                  <a:ea typeface="+mn-ea"/>
                </a:rPr>
              </a:br>
              <a:r>
                <a:rPr lang="en-US" altLang="ko-KR" sz="800" dirty="0">
                  <a:solidFill>
                    <a:schemeClr val="dk2"/>
                  </a:solidFill>
                  <a:latin typeface="+mn-ea"/>
                  <a:ea typeface="+mn-ea"/>
                </a:rPr>
                <a:t>- </a:t>
              </a:r>
              <a:r>
                <a:rPr lang="en-US" altLang="ko-KR" sz="800" b="1" dirty="0">
                  <a:solidFill>
                    <a:srgbClr val="92D050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 Green : 70%↓</a:t>
              </a:r>
              <a:r>
                <a:rPr lang="en-US" altLang="ko-KR" sz="800" b="1" dirty="0">
                  <a:solidFill>
                    <a:schemeClr val="dk2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, </a:t>
              </a:r>
              <a:r>
                <a:rPr lang="en-US" altLang="ko-KR" sz="800" b="1" dirty="0">
                  <a:solidFill>
                    <a:srgbClr val="FFFF00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Yellow: 70%↑</a:t>
              </a:r>
              <a:r>
                <a:rPr lang="en-US" altLang="ko-KR" sz="800" b="1" dirty="0">
                  <a:solidFill>
                    <a:schemeClr val="dk2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, </a:t>
              </a:r>
              <a:r>
                <a:rPr lang="en-US" altLang="ko-KR" sz="800" b="1" dirty="0">
                  <a:solidFill>
                    <a:srgbClr val="FFC000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Orange: 80%↑</a:t>
              </a:r>
              <a:r>
                <a:rPr lang="en-US" altLang="ko-KR" sz="800" b="1" dirty="0">
                  <a:solidFill>
                    <a:schemeClr val="dk2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, </a:t>
              </a:r>
              <a:r>
                <a:rPr lang="en-US" altLang="ko-KR" sz="800" b="1" dirty="0">
                  <a:solidFill>
                    <a:srgbClr val="FF0000"/>
                  </a:solidFill>
                  <a:highlight>
                    <a:srgbClr val="322A3C"/>
                  </a:highlight>
                  <a:latin typeface="+mn-ea"/>
                  <a:ea typeface="+mn-ea"/>
                </a:rPr>
                <a:t>Red: 90%↑</a:t>
              </a:r>
            </a:p>
          </p:txBody>
        </p:sp>
      </p:grpSp>
      <p:graphicFrame>
        <p:nvGraphicFramePr>
          <p:cNvPr id="13" name="Google Shape;1325;p75">
            <a:extLst>
              <a:ext uri="{FF2B5EF4-FFF2-40B4-BE49-F238E27FC236}">
                <a16:creationId xmlns:a16="http://schemas.microsoft.com/office/drawing/2014/main" id="{EE8369EE-0C29-3636-C43D-048101278C88}"/>
              </a:ext>
            </a:extLst>
          </p:cNvPr>
          <p:cNvGraphicFramePr/>
          <p:nvPr/>
        </p:nvGraphicFramePr>
        <p:xfrm>
          <a:off x="8902700" y="1606380"/>
          <a:ext cx="2672883" cy="45836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8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호스트 목록을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가장 높은 수치를 기록한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7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일일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어느 시점에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용량을 가장 많이 사용하였는지 분석할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32636"/>
                  </a:ext>
                </a:extLst>
              </a:tr>
              <a:tr h="7106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변화 추세를 차트로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275343"/>
                  </a:ext>
                </a:extLst>
              </a:tr>
              <a:tr h="6008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할당된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개수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메모리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OS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유형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6219"/>
                  </a:ext>
                </a:extLst>
              </a:tr>
              <a:tr h="8006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OS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구성한 파티션의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Path,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파티션의 사용률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및 현재 사용률을 모니터링 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27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31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F86FB3BA-99CA-9FE9-A589-197949D0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평행이(가) 표시된 사진&#10;&#10;자동 생성된 설명">
            <a:extLst>
              <a:ext uri="{FF2B5EF4-FFF2-40B4-BE49-F238E27FC236}">
                <a16:creationId xmlns:a16="http://schemas.microsoft.com/office/drawing/2014/main" id="{83B32019-E9BF-79A6-D79E-DDD3931675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6" t="73691" r="-5" b="12834"/>
          <a:stretch/>
        </p:blipFill>
        <p:spPr>
          <a:xfrm>
            <a:off x="586677" y="2298903"/>
            <a:ext cx="7965665" cy="1720925"/>
          </a:xfrm>
          <a:prstGeom prst="rect">
            <a:avLst/>
          </a:prstGeom>
        </p:spPr>
      </p:pic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97AB8DDD-92CA-F159-1C72-C23905D41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VM </a:t>
            </a:r>
            <a:r>
              <a:rPr lang="ko-KR" altLang="en-US" dirty="0"/>
              <a:t>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2EB1D009-7093-A274-6425-F913B5994B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관리 </a:t>
            </a:r>
            <a:r>
              <a:rPr lang="ko-KR" altLang="en-US" sz="1400">
                <a:latin typeface="+mj-ea"/>
                <a:ea typeface="+mj-ea"/>
              </a:rPr>
              <a:t>대시보드의 </a:t>
            </a:r>
            <a:r>
              <a:rPr lang="en-US" altLang="ko-KR" sz="1400">
                <a:latin typeface="+mj-ea"/>
                <a:ea typeface="+mj-ea"/>
              </a:rPr>
              <a:t>"</a:t>
            </a:r>
            <a:r>
              <a:rPr lang="ko-KR" altLang="en-US" sz="1400">
                <a:latin typeface="+mj-ea"/>
                <a:ea typeface="+mj-ea"/>
              </a:rPr>
              <a:t>주간</a:t>
            </a:r>
            <a:r>
              <a:rPr lang="en-US" altLang="ko-KR" sz="1400" dirty="0">
                <a:latin typeface="+mj-ea"/>
                <a:ea typeface="+mj-ea"/>
              </a:rPr>
              <a:t>/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IOPS </a:t>
            </a:r>
            <a:r>
              <a:rPr lang="ko-KR" altLang="en-US" sz="1400" dirty="0">
                <a:latin typeface="+mj-ea"/>
                <a:ea typeface="+mj-ea"/>
              </a:rPr>
              <a:t>발생량 </a:t>
            </a:r>
            <a:r>
              <a:rPr lang="en-US" altLang="ko-KR" sz="1400">
                <a:latin typeface="+mj-ea"/>
                <a:ea typeface="+mj-ea"/>
              </a:rPr>
              <a:t>PEAK </a:t>
            </a:r>
            <a:r>
              <a:rPr lang="ko-KR" altLang="en-US" sz="1400">
                <a:latin typeface="+mj-ea"/>
                <a:ea typeface="+mj-ea"/>
              </a:rPr>
              <a:t>추세</a:t>
            </a:r>
            <a:r>
              <a:rPr lang="en-US" altLang="ko-KR" sz="1400">
                <a:latin typeface="+mj-ea"/>
                <a:ea typeface="+mj-ea"/>
              </a:rPr>
              <a:t>" </a:t>
            </a:r>
            <a:r>
              <a:rPr lang="en-US" altLang="ko-KR" sz="1400" dirty="0">
                <a:latin typeface="+mj-ea"/>
                <a:ea typeface="+mj-ea"/>
              </a:rPr>
              <a:t>SECTION</a:t>
            </a:r>
            <a:r>
              <a:rPr lang="ko-KR" altLang="en-US" sz="1400" dirty="0">
                <a:latin typeface="+mj-ea"/>
                <a:ea typeface="+mj-ea"/>
              </a:rPr>
              <a:t>은 지난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일간 </a:t>
            </a:r>
            <a:r>
              <a:rPr lang="en-US" altLang="ko-KR" sz="1400" dirty="0">
                <a:latin typeface="+mj-ea"/>
                <a:ea typeface="+mj-ea"/>
              </a:rPr>
              <a:t>IOPS </a:t>
            </a:r>
            <a:r>
              <a:rPr lang="ko-KR" altLang="en-US" sz="1400" dirty="0">
                <a:latin typeface="+mj-ea"/>
                <a:ea typeface="+mj-ea"/>
              </a:rPr>
              <a:t>발생량</a:t>
            </a:r>
            <a:r>
              <a:rPr lang="en-US" altLang="ko-KR" sz="1400" dirty="0">
                <a:latin typeface="+mj-ea"/>
                <a:ea typeface="+mj-ea"/>
              </a:rPr>
              <a:t> PEAK</a:t>
            </a:r>
            <a:r>
              <a:rPr lang="ko-KR" altLang="en-US" sz="1400" dirty="0">
                <a:latin typeface="+mj-ea"/>
                <a:ea typeface="+mj-ea"/>
              </a:rPr>
              <a:t>가 가장 높았던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부터 일간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및 사용률 추세 차트를 제공하는 위젯이 구성되어 있어 스토리지 부하 관리 운영에 필요한 분석이 용이합니다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00E0A5A-9369-B951-CD0E-E07C13C11B5C}"/>
              </a:ext>
            </a:extLst>
          </p:cNvPr>
          <p:cNvGrpSpPr/>
          <p:nvPr/>
        </p:nvGrpSpPr>
        <p:grpSpPr>
          <a:xfrm>
            <a:off x="587991" y="1602750"/>
            <a:ext cx="8206759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D87540-CC06-E96C-CE4E-CF11C5FC98AF}"/>
                </a:ext>
              </a:extLst>
            </p:cNvPr>
            <p:cNvSpPr txBox="1"/>
            <p:nvPr/>
          </p:nvSpPr>
          <p:spPr>
            <a:xfrm>
              <a:off x="708710" y="130747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주간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일간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IOPS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발생량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PEAK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추세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C4DA64A-8512-EFE6-2D3E-9E0D0BAA23C4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A541CD4-3652-0080-B668-809BFC6683D0}"/>
              </a:ext>
            </a:extLst>
          </p:cNvPr>
          <p:cNvSpPr txBox="1"/>
          <p:nvPr/>
        </p:nvSpPr>
        <p:spPr>
          <a:xfrm>
            <a:off x="849224" y="3965256"/>
            <a:ext cx="188352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en-US" dirty="0"/>
              <a:t>VM </a:t>
            </a:r>
            <a:r>
              <a:rPr lang="ko-KR" altLang="en-US" dirty="0"/>
              <a:t>목록 및 </a:t>
            </a:r>
            <a:r>
              <a:rPr lang="en-US" altLang="ko-KR" dirty="0"/>
              <a:t>IOPS PEAK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97B9FF-184D-506B-82C7-05B8216C0B04}"/>
              </a:ext>
            </a:extLst>
          </p:cNvPr>
          <p:cNvSpPr/>
          <p:nvPr/>
        </p:nvSpPr>
        <p:spPr>
          <a:xfrm>
            <a:off x="608013" y="2506441"/>
            <a:ext cx="1962467" cy="173310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4" name="Google Shape;1333;p75">
            <a:extLst>
              <a:ext uri="{FF2B5EF4-FFF2-40B4-BE49-F238E27FC236}">
                <a16:creationId xmlns:a16="http://schemas.microsoft.com/office/drawing/2014/main" id="{BBF6A3A4-4D3D-B888-D85E-4EC96714B452}"/>
              </a:ext>
            </a:extLst>
          </p:cNvPr>
          <p:cNvSpPr txBox="1"/>
          <p:nvPr/>
        </p:nvSpPr>
        <p:spPr>
          <a:xfrm>
            <a:off x="649876" y="3984588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1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23008F-BECB-6CC2-4243-E2F90A5B2017}"/>
              </a:ext>
            </a:extLst>
          </p:cNvPr>
          <p:cNvSpPr txBox="1"/>
          <p:nvPr/>
        </p:nvSpPr>
        <p:spPr>
          <a:xfrm>
            <a:off x="2824073" y="3965256"/>
            <a:ext cx="47385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일일 </a:t>
            </a:r>
            <a:r>
              <a:rPr lang="en-US" altLang="ko-KR" dirty="0"/>
              <a:t>IOPS</a:t>
            </a:r>
            <a:r>
              <a:rPr lang="ko-KR" altLang="en-US" dirty="0"/>
              <a:t> </a:t>
            </a:r>
            <a:r>
              <a:rPr lang="en-US" altLang="ko-KR" dirty="0"/>
              <a:t>PEAK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DAA1F3-8701-4CF4-80BE-8C63C2DD3871}"/>
              </a:ext>
            </a:extLst>
          </p:cNvPr>
          <p:cNvSpPr/>
          <p:nvPr/>
        </p:nvSpPr>
        <p:spPr>
          <a:xfrm>
            <a:off x="2590885" y="2510249"/>
            <a:ext cx="2646595" cy="1729371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0" name="Google Shape;1333;p75">
            <a:extLst>
              <a:ext uri="{FF2B5EF4-FFF2-40B4-BE49-F238E27FC236}">
                <a16:creationId xmlns:a16="http://schemas.microsoft.com/office/drawing/2014/main" id="{FF06D92C-DC4E-8BA6-C3D8-152A71A219AA}"/>
              </a:ext>
            </a:extLst>
          </p:cNvPr>
          <p:cNvSpPr txBox="1"/>
          <p:nvPr/>
        </p:nvSpPr>
        <p:spPr>
          <a:xfrm>
            <a:off x="2624726" y="3984588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2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1D8FFA-8407-D57E-DADB-23219363F6DF}"/>
              </a:ext>
            </a:extLst>
          </p:cNvPr>
          <p:cNvSpPr/>
          <p:nvPr/>
        </p:nvSpPr>
        <p:spPr>
          <a:xfrm>
            <a:off x="5262965" y="2515330"/>
            <a:ext cx="3296835" cy="71829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6" name="Google Shape;1333;p75">
            <a:extLst>
              <a:ext uri="{FF2B5EF4-FFF2-40B4-BE49-F238E27FC236}">
                <a16:creationId xmlns:a16="http://schemas.microsoft.com/office/drawing/2014/main" id="{09C572F7-8C4F-B967-FA4C-38BA9993CEB6}"/>
              </a:ext>
            </a:extLst>
          </p:cNvPr>
          <p:cNvSpPr txBox="1"/>
          <p:nvPr/>
        </p:nvSpPr>
        <p:spPr>
          <a:xfrm>
            <a:off x="5296806" y="2964148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3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274F22-E844-BAD4-445C-0273BAC14295}"/>
              </a:ext>
            </a:extLst>
          </p:cNvPr>
          <p:cNvSpPr txBox="1"/>
          <p:nvPr/>
        </p:nvSpPr>
        <p:spPr>
          <a:xfrm>
            <a:off x="5528519" y="2954482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</a:t>
            </a:r>
            <a:r>
              <a:rPr lang="en-US" altLang="ko-KR" dirty="0"/>
              <a:t>IOPS </a:t>
            </a:r>
            <a:r>
              <a:rPr lang="ko-KR" altLang="en-US" dirty="0"/>
              <a:t>추세</a:t>
            </a:r>
            <a:endParaRPr 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8B8933-6128-5333-BD70-180F06837A43}"/>
              </a:ext>
            </a:extLst>
          </p:cNvPr>
          <p:cNvSpPr/>
          <p:nvPr/>
        </p:nvSpPr>
        <p:spPr>
          <a:xfrm>
            <a:off x="5262965" y="3262091"/>
            <a:ext cx="3296835" cy="99261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25" name="Google Shape;1333;p75">
            <a:extLst>
              <a:ext uri="{FF2B5EF4-FFF2-40B4-BE49-F238E27FC236}">
                <a16:creationId xmlns:a16="http://schemas.microsoft.com/office/drawing/2014/main" id="{6CC0F365-5AD4-D01E-CB10-C81AA78E1B04}"/>
              </a:ext>
            </a:extLst>
          </p:cNvPr>
          <p:cNvSpPr txBox="1"/>
          <p:nvPr/>
        </p:nvSpPr>
        <p:spPr>
          <a:xfrm>
            <a:off x="5291581" y="3984588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4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293A7B-A2D3-1353-2B4D-61F1CEBD9972}"/>
              </a:ext>
            </a:extLst>
          </p:cNvPr>
          <p:cNvSpPr txBox="1"/>
          <p:nvPr/>
        </p:nvSpPr>
        <p:spPr>
          <a:xfrm>
            <a:off x="5523294" y="3965256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구성 정보</a:t>
            </a:r>
            <a:endParaRPr lang="en-US" dirty="0"/>
          </a:p>
        </p:txBody>
      </p:sp>
      <p:sp>
        <p:nvSpPr>
          <p:cNvPr id="37" name="Google Shape;1286;p75">
            <a:extLst>
              <a:ext uri="{FF2B5EF4-FFF2-40B4-BE49-F238E27FC236}">
                <a16:creationId xmlns:a16="http://schemas.microsoft.com/office/drawing/2014/main" id="{D16FD3BF-3361-AC3C-498E-012E84ED508B}"/>
              </a:ext>
            </a:extLst>
          </p:cNvPr>
          <p:cNvSpPr/>
          <p:nvPr/>
        </p:nvSpPr>
        <p:spPr>
          <a:xfrm>
            <a:off x="4506072" y="4411038"/>
            <a:ext cx="4023055" cy="409607"/>
          </a:xfrm>
          <a:prstGeom prst="roundRect">
            <a:avLst>
              <a:gd name="adj" fmla="val 2282"/>
            </a:avLst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 marL="179388" indent="-90488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ko-KR" sz="800" b="1" dirty="0">
                <a:solidFill>
                  <a:schemeClr val="tx1"/>
                </a:solidFill>
                <a:latin typeface="+mn-ea"/>
                <a:ea typeface="+mn-ea"/>
              </a:rPr>
              <a:t>IOPS 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발생량 표시 색상 정의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5K↓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5K↑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80%↑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90%↑</a:t>
            </a:r>
          </a:p>
        </p:txBody>
      </p:sp>
      <p:sp>
        <p:nvSpPr>
          <p:cNvPr id="38" name="Google Shape;1286;p75">
            <a:extLst>
              <a:ext uri="{FF2B5EF4-FFF2-40B4-BE49-F238E27FC236}">
                <a16:creationId xmlns:a16="http://schemas.microsoft.com/office/drawing/2014/main" id="{BED54A72-D308-ABEE-6C7C-359C2B914A67}"/>
              </a:ext>
            </a:extLst>
          </p:cNvPr>
          <p:cNvSpPr/>
          <p:nvPr/>
        </p:nvSpPr>
        <p:spPr>
          <a:xfrm>
            <a:off x="608013" y="5334000"/>
            <a:ext cx="7956867" cy="838200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VM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관리 대시보드에 정의된 리소스 사용률별 표현 색상 차이는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에 할당된 리소스의 사용률을 가시적으로 표현하기 위해</a:t>
            </a:r>
            <a:b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</a:b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설정한 것이며 그 의미가 정상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,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경고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,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즉시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, 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위험을 나타내진 않습니다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.</a:t>
            </a:r>
            <a:b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</a:br>
            <a:b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</a:b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다만 리소스 사용량이 적절한지는 인프라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Side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가 아닌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OS/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애플리케이션 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Side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에서 판단하여야 합니다</a:t>
            </a:r>
            <a:r>
              <a:rPr lang="en-US" altLang="ko-KR" sz="1000" dirty="0">
                <a:solidFill>
                  <a:srgbClr val="322A3C"/>
                </a:solidFill>
                <a:latin typeface="+mn-ea"/>
                <a:ea typeface="+mn-ea"/>
              </a:rPr>
              <a:t>.</a:t>
            </a:r>
            <a:r>
              <a:rPr lang="ko-KR" altLang="en-US" sz="1000" dirty="0">
                <a:solidFill>
                  <a:srgbClr val="322A3C"/>
                </a:solidFill>
                <a:latin typeface="+mn-ea"/>
                <a:ea typeface="+mn-ea"/>
              </a:rPr>
              <a:t> </a:t>
            </a:r>
            <a:endParaRPr lang="en-US" altLang="ko-KR" sz="1000" dirty="0">
              <a:solidFill>
                <a:srgbClr val="322A3C"/>
              </a:solidFill>
              <a:latin typeface="+mn-ea"/>
              <a:ea typeface="+mn-ea"/>
            </a:endParaRPr>
          </a:p>
        </p:txBody>
      </p:sp>
      <p:sp>
        <p:nvSpPr>
          <p:cNvPr id="40" name="Google Shape;1286;p75">
            <a:extLst>
              <a:ext uri="{FF2B5EF4-FFF2-40B4-BE49-F238E27FC236}">
                <a16:creationId xmlns:a16="http://schemas.microsoft.com/office/drawing/2014/main" id="{C5B031A3-612F-B211-46E3-8EB2BE4801ED}"/>
              </a:ext>
            </a:extLst>
          </p:cNvPr>
          <p:cNvSpPr/>
          <p:nvPr/>
        </p:nvSpPr>
        <p:spPr>
          <a:xfrm>
            <a:off x="608013" y="5049520"/>
            <a:ext cx="7941627" cy="1122681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IOPS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발생량은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Guest OS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에서 가상 디스크로 읽기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/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쓰기를 요청하는 초당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Block 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수량입니다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DB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를 제외한 일반적인 애플리케이션을 운영하는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의 경우 평균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100 IOPS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가 발생되지만 백업 및 복제 등의 작업 스케줄링에 의해</a:t>
            </a:r>
            <a:b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</a:b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특정 시점에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PEAK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가 발생할 수도 있습니다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</a:t>
            </a: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여러 대의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VM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이 하나의 볼륨을 사용하는 공유 스토리지 특성 상 백업 및 복제 작업이 분산 될 수 있도록 스케줄링 되어야 합니다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 </a:t>
            </a: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</p:txBody>
      </p:sp>
      <p:graphicFrame>
        <p:nvGraphicFramePr>
          <p:cNvPr id="12" name="Google Shape;1325;p75">
            <a:extLst>
              <a:ext uri="{FF2B5EF4-FFF2-40B4-BE49-F238E27FC236}">
                <a16:creationId xmlns:a16="http://schemas.microsoft.com/office/drawing/2014/main" id="{851C526F-25C9-E26E-05FF-75079D671132}"/>
              </a:ext>
            </a:extLst>
          </p:cNvPr>
          <p:cNvGraphicFramePr/>
          <p:nvPr/>
        </p:nvGraphicFramePr>
        <p:xfrm>
          <a:off x="8902700" y="1611641"/>
          <a:ext cx="2686231" cy="4560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0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68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호스트 목록을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가장 높은 수치를 기록한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발생량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10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일일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발생량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어느 시점에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및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전송량이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가장 많이 발생하였는지 분석할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32636"/>
                  </a:ext>
                </a:extLst>
              </a:tr>
              <a:tr h="10040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사용률 변화 추세를 차트로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차트의 움직임은 반복적인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IOPS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발생 패턴을 분석하기에 용이합니다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275343"/>
                  </a:ext>
                </a:extLst>
              </a:tr>
              <a:tr h="73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할당된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개수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메모리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OS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유형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6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6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7638D965-DFA0-617B-7731-18BC3AE5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평행이(가) 표시된 사진&#10;&#10;자동 생성된 설명">
            <a:extLst>
              <a:ext uri="{FF2B5EF4-FFF2-40B4-BE49-F238E27FC236}">
                <a16:creationId xmlns:a16="http://schemas.microsoft.com/office/drawing/2014/main" id="{44C71EA8-AD60-7E3D-262E-A71F5D3738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4" t="87232" r="18" b="-707"/>
          <a:stretch/>
        </p:blipFill>
        <p:spPr>
          <a:xfrm>
            <a:off x="577533" y="2013762"/>
            <a:ext cx="7965665" cy="1720925"/>
          </a:xfrm>
          <a:prstGeom prst="rect">
            <a:avLst/>
          </a:prstGeom>
        </p:spPr>
      </p:pic>
      <p:sp>
        <p:nvSpPr>
          <p:cNvPr id="1267" name="Google Shape;1267;p75">
            <a:extLst>
              <a:ext uri="{FF2B5EF4-FFF2-40B4-BE49-F238E27FC236}">
                <a16:creationId xmlns:a16="http://schemas.microsoft.com/office/drawing/2014/main" id="{7D7C4418-FE21-A0D8-B888-039233281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ts val="2800"/>
            </a:pP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VM </a:t>
            </a:r>
            <a:r>
              <a:rPr lang="ko-KR" altLang="en-US" dirty="0"/>
              <a:t>관리 대시보드 예</a:t>
            </a:r>
            <a:endParaRPr dirty="0"/>
          </a:p>
        </p:txBody>
      </p:sp>
      <p:sp>
        <p:nvSpPr>
          <p:cNvPr id="1268" name="Google Shape;1268;p75">
            <a:extLst>
              <a:ext uri="{FF2B5EF4-FFF2-40B4-BE49-F238E27FC236}">
                <a16:creationId xmlns:a16="http://schemas.microsoft.com/office/drawing/2014/main" id="{33EF46A1-D6B8-73CA-DF0B-B01A6345EE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 </a:t>
            </a:r>
            <a:r>
              <a:rPr lang="ko-KR" altLang="en-US" sz="1400" dirty="0">
                <a:latin typeface="+mj-ea"/>
                <a:ea typeface="+mj-ea"/>
              </a:rPr>
              <a:t>관리 대시보드의 </a:t>
            </a:r>
            <a:r>
              <a:rPr lang="en-US" altLang="ko-KR" sz="1400" dirty="0">
                <a:latin typeface="+mj-ea"/>
                <a:ea typeface="+mj-ea"/>
              </a:rPr>
              <a:t>"</a:t>
            </a:r>
            <a:r>
              <a:rPr lang="ko-KR" altLang="en-US" sz="1400" dirty="0">
                <a:latin typeface="+mj-ea"/>
                <a:ea typeface="+mj-ea"/>
              </a:rPr>
              <a:t>주간</a:t>
            </a:r>
            <a:r>
              <a:rPr lang="en-US" altLang="ko-KR" sz="1400" dirty="0">
                <a:latin typeface="+mj-ea"/>
                <a:ea typeface="+mj-ea"/>
              </a:rPr>
              <a:t>/</a:t>
            </a:r>
            <a:r>
              <a:rPr lang="ko-KR" altLang="en-US" sz="1400" dirty="0">
                <a:latin typeface="+mj-ea"/>
                <a:ea typeface="+mj-ea"/>
              </a:rPr>
              <a:t>일간 트래픽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발생량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추세</a:t>
            </a:r>
            <a:r>
              <a:rPr lang="en-US" altLang="ko-KR" sz="1400" dirty="0">
                <a:latin typeface="+mj-ea"/>
                <a:ea typeface="+mj-ea"/>
              </a:rPr>
              <a:t>" SECTION</a:t>
            </a:r>
            <a:r>
              <a:rPr lang="ko-KR" altLang="en-US" sz="1400" dirty="0">
                <a:latin typeface="+mj-ea"/>
                <a:ea typeface="+mj-ea"/>
              </a:rPr>
              <a:t>은 지난 </a:t>
            </a:r>
            <a:r>
              <a:rPr lang="en-US" altLang="ko-KR" sz="1400" dirty="0">
                <a:latin typeface="+mj-ea"/>
                <a:ea typeface="+mj-ea"/>
              </a:rPr>
              <a:t>7</a:t>
            </a:r>
            <a:r>
              <a:rPr lang="ko-KR" altLang="en-US" sz="1400" dirty="0">
                <a:latin typeface="+mj-ea"/>
                <a:ea typeface="+mj-ea"/>
              </a:rPr>
              <a:t>일간 트래픽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발생량</a:t>
            </a:r>
            <a:r>
              <a:rPr lang="en-US" altLang="ko-KR" sz="1400" dirty="0">
                <a:latin typeface="+mj-ea"/>
                <a:ea typeface="+mj-ea"/>
              </a:rPr>
              <a:t> PEAK</a:t>
            </a:r>
            <a:r>
              <a:rPr lang="ko-KR" altLang="en-US" sz="1400" dirty="0">
                <a:latin typeface="+mj-ea"/>
                <a:ea typeface="+mj-ea"/>
              </a:rPr>
              <a:t>가 가장 높았던</a:t>
            </a:r>
            <a:endParaRPr lang="en-US" altLang="ko-KR" sz="1400" dirty="0">
              <a:latin typeface="+mj-ea"/>
              <a:ea typeface="+mj-e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ko-KR" sz="1400" dirty="0">
                <a:latin typeface="+mj-ea"/>
                <a:ea typeface="+mj-ea"/>
              </a:rPr>
              <a:t>VM</a:t>
            </a:r>
            <a:r>
              <a:rPr lang="ko-KR" altLang="en-US" sz="1400" dirty="0">
                <a:latin typeface="+mj-ea"/>
                <a:ea typeface="+mj-ea"/>
              </a:rPr>
              <a:t>부터 일간 </a:t>
            </a:r>
            <a:r>
              <a:rPr lang="en-US" altLang="ko-KR" sz="1400" dirty="0">
                <a:latin typeface="+mj-ea"/>
                <a:ea typeface="+mj-ea"/>
              </a:rPr>
              <a:t>PEAK </a:t>
            </a:r>
            <a:r>
              <a:rPr lang="ko-KR" altLang="en-US" sz="1400" dirty="0">
                <a:latin typeface="+mj-ea"/>
                <a:ea typeface="+mj-ea"/>
              </a:rPr>
              <a:t>및 사용률 추세 차트를 제공하는 위젯이 구성되어 있어 네트워크 부하 관리 운영에 필요한 분석이 용이합니다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B00748-B32E-B067-2196-0DB595B2760E}"/>
              </a:ext>
            </a:extLst>
          </p:cNvPr>
          <p:cNvGrpSpPr/>
          <p:nvPr/>
        </p:nvGrpSpPr>
        <p:grpSpPr>
          <a:xfrm>
            <a:off x="594666" y="1603244"/>
            <a:ext cx="8200083" cy="324000"/>
            <a:chOff x="608228" y="1298585"/>
            <a:chExt cx="10972799" cy="324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B37E0D-A298-A6FC-66C8-E0AA87DDED3D}"/>
                </a:ext>
              </a:extLst>
            </p:cNvPr>
            <p:cNvSpPr txBox="1"/>
            <p:nvPr/>
          </p:nvSpPr>
          <p:spPr>
            <a:xfrm>
              <a:off x="708710" y="1307475"/>
              <a:ext cx="10872317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VM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대시보드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주간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일간 트래픽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사용량 </a:t>
              </a:r>
              <a:r>
                <a:rPr lang="en-US" altLang="ko-KR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PEAK </a:t>
              </a:r>
              <a:r>
                <a:rPr lang="ko-KR" altLang="en-US" b="1" spc="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추세</a:t>
              </a:r>
              <a:endParaRPr lang="en-US" b="1" spc="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B5FCE3C-6EA2-621E-A54E-4191822750ED}"/>
                </a:ext>
              </a:extLst>
            </p:cNvPr>
            <p:cNvSpPr/>
            <p:nvPr/>
          </p:nvSpPr>
          <p:spPr>
            <a:xfrm>
              <a:off x="608228" y="1298585"/>
              <a:ext cx="100483" cy="324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Metropolis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F0832E4-F9C4-7697-5797-4A7556166A94}"/>
              </a:ext>
            </a:extLst>
          </p:cNvPr>
          <p:cNvSpPr txBox="1"/>
          <p:nvPr/>
        </p:nvSpPr>
        <p:spPr>
          <a:xfrm>
            <a:off x="849224" y="3598981"/>
            <a:ext cx="188352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en-US" dirty="0"/>
              <a:t>VM </a:t>
            </a:r>
            <a:r>
              <a:rPr lang="ko-KR" altLang="en-US" dirty="0"/>
              <a:t>목록 및 트래픽</a:t>
            </a:r>
            <a:r>
              <a:rPr lang="en-US" altLang="ko-KR" dirty="0"/>
              <a:t> PEAK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23DEF4-007D-D0F0-B738-05E18AC212B4}"/>
              </a:ext>
            </a:extLst>
          </p:cNvPr>
          <p:cNvSpPr/>
          <p:nvPr/>
        </p:nvSpPr>
        <p:spPr>
          <a:xfrm>
            <a:off x="608013" y="2235269"/>
            <a:ext cx="1962467" cy="164806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4" name="Google Shape;1333;p75">
            <a:extLst>
              <a:ext uri="{FF2B5EF4-FFF2-40B4-BE49-F238E27FC236}">
                <a16:creationId xmlns:a16="http://schemas.microsoft.com/office/drawing/2014/main" id="{0D0F8F5A-7530-5877-7D15-44A8C331332B}"/>
              </a:ext>
            </a:extLst>
          </p:cNvPr>
          <p:cNvSpPr txBox="1"/>
          <p:nvPr/>
        </p:nvSpPr>
        <p:spPr>
          <a:xfrm>
            <a:off x="649876" y="3608647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Metropolis" panose="00000500000000000000" pitchFamily="2" charset="0"/>
                <a:sym typeface="Arial"/>
              </a:rPr>
              <a:t>1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3CAAE-A4BB-13AC-5B85-AFB316452A37}"/>
              </a:ext>
            </a:extLst>
          </p:cNvPr>
          <p:cNvSpPr txBox="1"/>
          <p:nvPr/>
        </p:nvSpPr>
        <p:spPr>
          <a:xfrm>
            <a:off x="2824073" y="3602791"/>
            <a:ext cx="47385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일일 트래픽 </a:t>
            </a:r>
            <a:r>
              <a:rPr lang="en-US" altLang="ko-KR" dirty="0"/>
              <a:t>PEAK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6B1ACD-8A78-96E2-7F4A-6A6028FCA361}"/>
              </a:ext>
            </a:extLst>
          </p:cNvPr>
          <p:cNvSpPr/>
          <p:nvPr/>
        </p:nvSpPr>
        <p:spPr>
          <a:xfrm>
            <a:off x="2590885" y="2239079"/>
            <a:ext cx="2646595" cy="165119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0" name="Google Shape;1333;p75">
            <a:extLst>
              <a:ext uri="{FF2B5EF4-FFF2-40B4-BE49-F238E27FC236}">
                <a16:creationId xmlns:a16="http://schemas.microsoft.com/office/drawing/2014/main" id="{838D6760-A800-A728-2154-891D207BAED5}"/>
              </a:ext>
            </a:extLst>
          </p:cNvPr>
          <p:cNvSpPr txBox="1"/>
          <p:nvPr/>
        </p:nvSpPr>
        <p:spPr>
          <a:xfrm>
            <a:off x="2624726" y="3612457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2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103C40-F363-6147-5F99-F6748186400B}"/>
              </a:ext>
            </a:extLst>
          </p:cNvPr>
          <p:cNvSpPr/>
          <p:nvPr/>
        </p:nvSpPr>
        <p:spPr>
          <a:xfrm>
            <a:off x="5262965" y="2244159"/>
            <a:ext cx="3296835" cy="718293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6" name="Google Shape;1333;p75">
            <a:extLst>
              <a:ext uri="{FF2B5EF4-FFF2-40B4-BE49-F238E27FC236}">
                <a16:creationId xmlns:a16="http://schemas.microsoft.com/office/drawing/2014/main" id="{955F3D3D-E34A-C105-C70D-27F16DB8DFD2}"/>
              </a:ext>
            </a:extLst>
          </p:cNvPr>
          <p:cNvSpPr txBox="1"/>
          <p:nvPr/>
        </p:nvSpPr>
        <p:spPr>
          <a:xfrm>
            <a:off x="5296806" y="2692977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3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7CD328-5F36-CC30-62C3-2385029FE535}"/>
              </a:ext>
            </a:extLst>
          </p:cNvPr>
          <p:cNvSpPr txBox="1"/>
          <p:nvPr/>
        </p:nvSpPr>
        <p:spPr>
          <a:xfrm>
            <a:off x="5528519" y="2683311"/>
            <a:ext cx="2951018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트래픽</a:t>
            </a:r>
            <a:r>
              <a:rPr lang="en-US" altLang="ko-KR" dirty="0"/>
              <a:t> </a:t>
            </a:r>
            <a:r>
              <a:rPr lang="ko-KR" altLang="en-US" dirty="0"/>
              <a:t>추세</a:t>
            </a:r>
            <a:endParaRPr 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0CA4F4-2CB0-310E-ECE3-AA51E4EEC7A3}"/>
              </a:ext>
            </a:extLst>
          </p:cNvPr>
          <p:cNvSpPr/>
          <p:nvPr/>
        </p:nvSpPr>
        <p:spPr>
          <a:xfrm>
            <a:off x="5262965" y="2990920"/>
            <a:ext cx="3296835" cy="902442"/>
          </a:xfrm>
          <a:prstGeom prst="rect">
            <a:avLst/>
          </a:prstGeom>
          <a:noFill/>
          <a:ln w="9525">
            <a:solidFill>
              <a:srgbClr val="25688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25" name="Google Shape;1333;p75">
            <a:extLst>
              <a:ext uri="{FF2B5EF4-FFF2-40B4-BE49-F238E27FC236}">
                <a16:creationId xmlns:a16="http://schemas.microsoft.com/office/drawing/2014/main" id="{8DC53716-4303-964A-F011-18ACED004139}"/>
              </a:ext>
            </a:extLst>
          </p:cNvPr>
          <p:cNvSpPr txBox="1"/>
          <p:nvPr/>
        </p:nvSpPr>
        <p:spPr>
          <a:xfrm>
            <a:off x="5291581" y="3627551"/>
            <a:ext cx="252000" cy="242278"/>
          </a:xfrm>
          <a:prstGeom prst="rect">
            <a:avLst/>
          </a:prstGeom>
          <a:solidFill>
            <a:srgbClr val="005F8E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lt1"/>
                </a:solidFill>
                <a:latin typeface="Metropolis" panose="00000500000000000000" pitchFamily="2" charset="0"/>
              </a:rPr>
              <a:t>4</a:t>
            </a:r>
            <a:endParaRPr dirty="0">
              <a:latin typeface="Metropoli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0A4FAF-0E92-EA58-1FF8-85992ED55C97}"/>
              </a:ext>
            </a:extLst>
          </p:cNvPr>
          <p:cNvSpPr txBox="1"/>
          <p:nvPr/>
        </p:nvSpPr>
        <p:spPr>
          <a:xfrm>
            <a:off x="5523294" y="3617885"/>
            <a:ext cx="1654746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buSzPts val="1000"/>
              <a:buNone/>
              <a:defRPr sz="1100" b="1">
                <a:solidFill>
                  <a:srgbClr val="25688E"/>
                </a:solidFill>
                <a:effectLst>
                  <a:glow rad="38100">
                    <a:schemeClr val="bg1"/>
                  </a:glow>
                </a:effectLst>
                <a:latin typeface="Malgun Gothic"/>
                <a:ea typeface="Malgun Gothic"/>
              </a:defRPr>
            </a:lvl1pPr>
          </a:lstStyle>
          <a:p>
            <a:pPr algn="l"/>
            <a:r>
              <a:rPr lang="ko-KR" altLang="en-US" dirty="0"/>
              <a:t>선택 </a:t>
            </a:r>
            <a:r>
              <a:rPr lang="en-US" altLang="ko-KR" dirty="0"/>
              <a:t>VM</a:t>
            </a:r>
            <a:r>
              <a:rPr lang="ko-KR" altLang="en-US" dirty="0"/>
              <a:t>의 구성 정보</a:t>
            </a:r>
            <a:endParaRPr lang="en-US" dirty="0"/>
          </a:p>
        </p:txBody>
      </p:sp>
      <p:sp>
        <p:nvSpPr>
          <p:cNvPr id="29" name="Google Shape;1286;p75">
            <a:extLst>
              <a:ext uri="{FF2B5EF4-FFF2-40B4-BE49-F238E27FC236}">
                <a16:creationId xmlns:a16="http://schemas.microsoft.com/office/drawing/2014/main" id="{FEA6A1AA-DE52-CF1E-11BE-D479F1BBAC5E}"/>
              </a:ext>
            </a:extLst>
          </p:cNvPr>
          <p:cNvSpPr/>
          <p:nvPr/>
        </p:nvSpPr>
        <p:spPr>
          <a:xfrm>
            <a:off x="4506072" y="3897535"/>
            <a:ext cx="4023055" cy="782511"/>
          </a:xfrm>
          <a:prstGeom prst="roundRect">
            <a:avLst>
              <a:gd name="adj" fmla="val 2282"/>
            </a:avLst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8000" rIns="91425" bIns="18000" anchor="ctr" anchorCtr="0">
            <a:spAutoFit/>
          </a:bodyPr>
          <a:lstStyle/>
          <a:p>
            <a:pPr marL="171450" indent="-825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트래픽 사용량 표시 색상 정의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100MB↓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100MB↑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200MB↑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300MB↑</a:t>
            </a:r>
          </a:p>
          <a:p>
            <a:pPr marL="171450" indent="-82550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패킷 </a:t>
            </a:r>
            <a:r>
              <a:rPr lang="ko-KR" altLang="en-US" sz="800" b="1" dirty="0" err="1">
                <a:solidFill>
                  <a:schemeClr val="tx1"/>
                </a:solidFill>
                <a:latin typeface="+mn-ea"/>
                <a:ea typeface="+mn-ea"/>
              </a:rPr>
              <a:t>드랍율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  <a:ea typeface="+mn-ea"/>
              </a:rPr>
              <a:t> 표시 색상 정의</a:t>
            </a:r>
            <a:br>
              <a:rPr lang="en-US" altLang="ko-KR" sz="800" b="1" dirty="0">
                <a:solidFill>
                  <a:schemeClr val="dk2"/>
                </a:solidFill>
                <a:latin typeface="+mn-ea"/>
                <a:ea typeface="+mn-ea"/>
              </a:rPr>
            </a:br>
            <a:r>
              <a:rPr lang="en-US" altLang="ko-KR" sz="800" dirty="0">
                <a:solidFill>
                  <a:schemeClr val="dk2"/>
                </a:solidFill>
                <a:latin typeface="+mn-ea"/>
                <a:ea typeface="+mn-ea"/>
              </a:rPr>
              <a:t>- </a:t>
            </a:r>
            <a:r>
              <a:rPr lang="en-US" altLang="ko-KR" sz="800" b="1" dirty="0">
                <a:solidFill>
                  <a:srgbClr val="92D050"/>
                </a:solidFill>
                <a:highlight>
                  <a:srgbClr val="322A3C"/>
                </a:highlight>
                <a:latin typeface="+mn-ea"/>
                <a:ea typeface="+mn-ea"/>
              </a:rPr>
              <a:t> Green : 0.5%↓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FF00"/>
                </a:solidFill>
                <a:highlight>
                  <a:srgbClr val="322A3C"/>
                </a:highlight>
                <a:latin typeface="+mn-ea"/>
                <a:ea typeface="+mn-ea"/>
              </a:rPr>
              <a:t>Yellow: 0.5%↑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C000"/>
                </a:solidFill>
                <a:highlight>
                  <a:srgbClr val="322A3C"/>
                </a:highlight>
                <a:latin typeface="+mn-ea"/>
                <a:ea typeface="+mn-ea"/>
              </a:rPr>
              <a:t>Orange: 0.8%↑</a:t>
            </a:r>
            <a:r>
              <a:rPr lang="en-US" altLang="ko-KR" sz="800" b="1" dirty="0">
                <a:solidFill>
                  <a:schemeClr val="dk2"/>
                </a:solidFill>
                <a:highlight>
                  <a:srgbClr val="322A3C"/>
                </a:highlight>
                <a:latin typeface="+mn-ea"/>
                <a:ea typeface="+mn-ea"/>
              </a:rPr>
              <a:t>, </a:t>
            </a:r>
            <a:r>
              <a:rPr lang="en-US" altLang="ko-KR" sz="800" b="1" dirty="0">
                <a:solidFill>
                  <a:srgbClr val="FF0000"/>
                </a:solidFill>
                <a:highlight>
                  <a:srgbClr val="322A3C"/>
                </a:highlight>
                <a:latin typeface="+mn-ea"/>
                <a:ea typeface="+mn-ea"/>
              </a:rPr>
              <a:t>Red: 1%↑</a:t>
            </a:r>
          </a:p>
        </p:txBody>
      </p:sp>
      <p:sp>
        <p:nvSpPr>
          <p:cNvPr id="34" name="Google Shape;1286;p75">
            <a:extLst>
              <a:ext uri="{FF2B5EF4-FFF2-40B4-BE49-F238E27FC236}">
                <a16:creationId xmlns:a16="http://schemas.microsoft.com/office/drawing/2014/main" id="{559A8CFB-DC38-5AEE-17D9-7E46B17B2191}"/>
              </a:ext>
            </a:extLst>
          </p:cNvPr>
          <p:cNvSpPr/>
          <p:nvPr/>
        </p:nvSpPr>
        <p:spPr>
          <a:xfrm>
            <a:off x="608013" y="5476239"/>
            <a:ext cx="7941627" cy="695961"/>
          </a:xfrm>
          <a:prstGeom prst="roundRect">
            <a:avLst>
              <a:gd name="adj" fmla="val 2282"/>
            </a:avLst>
          </a:prstGeom>
          <a:solidFill>
            <a:schemeClr val="lt1"/>
          </a:solidFill>
          <a:ln w="9525" cap="flat" cmpd="sng">
            <a:solidFill>
              <a:srgbClr val="322A3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18000" rIns="91425" bIns="18000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네트워크 트래픽 발생량은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Guest OS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에서 네트워크 디바이스로 발생되는 초당 전송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/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수신 용량입니다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altLang="ko-KR" sz="1000" dirty="0">
              <a:solidFill>
                <a:srgbClr val="322A3C"/>
              </a:solidFill>
              <a:latin typeface="맑은 고딕" panose="020B0503020000020004"/>
              <a:ea typeface="맑은 고딕" panose="020B0503020000020004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패킷 드랍은 네트워크 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STACK</a:t>
            </a:r>
            <a:r>
              <a:rPr lang="ko-KR" altLang="en-US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의 병목 또는 메모리 버퍼 초과 등 다양한 원인으로 발생할 수 있습니다</a:t>
            </a:r>
            <a:r>
              <a:rPr lang="en-US" altLang="ko-KR" sz="1000" dirty="0">
                <a:solidFill>
                  <a:srgbClr val="322A3C"/>
                </a:solidFill>
                <a:latin typeface="맑은 고딕" panose="020B0503020000020004"/>
                <a:ea typeface="맑은 고딕" panose="020B0503020000020004"/>
              </a:rPr>
              <a:t>.</a:t>
            </a:r>
          </a:p>
        </p:txBody>
      </p:sp>
      <p:graphicFrame>
        <p:nvGraphicFramePr>
          <p:cNvPr id="12" name="Google Shape;1325;p75">
            <a:extLst>
              <a:ext uri="{FF2B5EF4-FFF2-40B4-BE49-F238E27FC236}">
                <a16:creationId xmlns:a16="http://schemas.microsoft.com/office/drawing/2014/main" id="{47E8472A-F55E-7596-BD17-6404A7DB2946}"/>
              </a:ext>
            </a:extLst>
          </p:cNvPr>
          <p:cNvGraphicFramePr/>
          <p:nvPr/>
        </p:nvGraphicFramePr>
        <p:xfrm>
          <a:off x="8902700" y="1613289"/>
          <a:ext cx="2686231" cy="45589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0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200" b="1" i="0" u="none" strike="noStrike" cap="none" dirty="0">
                        <a:solidFill>
                          <a:schemeClr val="tx2">
                            <a:lumMod val="10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>
                          <a:latin typeface="Metropolis" panose="00000500000000000000" pitchFamily="2" charset="0"/>
                        </a:rPr>
                        <a:t>1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실시간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SECTION"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선택된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vCenter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에서 운영 중인 호스트 목록을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  <a:tabLst/>
                        <a:defRPr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가장 높은 수치를 기록한 트래픽 사용량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065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①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"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위젯에서 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일일 트래픽 사용량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PEAK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표시합니다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매일 어느 시점에 트래픽을 많이 사용하였는지 분석할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매일 최고 수치로 발생한 패킷 </a:t>
                      </a:r>
                      <a:r>
                        <a:rPr lang="ko-KR" altLang="en-US" sz="1000" b="0" i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드랍율을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모니터링합니다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32636"/>
                  </a:ext>
                </a:extLst>
              </a:tr>
              <a:tr h="9289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지난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7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일간 트래픽 사용량 변화 추세를 차트로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endParaRPr lang="en-US" altLang="ko-KR" sz="10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차트의 움직임은 반복적인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트래픽 사용 패턴을 분석하기에 용이합니다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275343"/>
                  </a:ext>
                </a:extLst>
              </a:tr>
              <a:tr h="6780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선택한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VM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에 할당된 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CPU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개수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메모리 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DISK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용량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OS 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유형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, IP</a:t>
                      </a:r>
                      <a:r>
                        <a:rPr lang="ko-KR" alt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를 확인할 수 있습니다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.</a:t>
                      </a:r>
                    </a:p>
                  </a:txBody>
                  <a:tcPr marL="72000" marR="72000" marT="7200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6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44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842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P_VMware_White_16x9_2024">
  <a:themeElements>
    <a:clrScheme name="Simple Light">
      <a:dk1>
        <a:srgbClr val="000000"/>
      </a:dk1>
      <a:lt1>
        <a:srgbClr val="FFFFFF"/>
      </a:lt1>
      <a:dk2>
        <a:srgbClr val="1B1E35"/>
      </a:dk2>
      <a:lt2>
        <a:srgbClr val="F2F2F2"/>
      </a:lt2>
      <a:accent1>
        <a:srgbClr val="007A86"/>
      </a:accent1>
      <a:accent2>
        <a:srgbClr val="005B84"/>
      </a:accent2>
      <a:accent3>
        <a:srgbClr val="0193C2"/>
      </a:accent3>
      <a:accent4>
        <a:srgbClr val="61A00A"/>
      </a:accent4>
      <a:accent5>
        <a:srgbClr val="6C4B8F"/>
      </a:accent5>
      <a:accent6>
        <a:srgbClr val="EDB516"/>
      </a:accent6>
      <a:hlink>
        <a:srgbClr val="E186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5775</Words>
  <Application>Microsoft Office PowerPoint</Application>
  <PresentationFormat>사용자 지정</PresentationFormat>
  <Paragraphs>656</Paragraphs>
  <Slides>25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맑은 고딕</vt:lpstr>
      <vt:lpstr>Roboto</vt:lpstr>
      <vt:lpstr>Wingdings</vt:lpstr>
      <vt:lpstr>Noto Sans Symbols</vt:lpstr>
      <vt:lpstr>Metropolis</vt:lpstr>
      <vt:lpstr>Arial</vt:lpstr>
      <vt:lpstr>Open Sans</vt:lpstr>
      <vt:lpstr>맑은 고딕</vt:lpstr>
      <vt:lpstr>WIP_VMware_White_16x9_2024</vt:lpstr>
      <vt:lpstr>Operation Global View</vt:lpstr>
      <vt:lpstr>How to Import ( 1 / 3 ) </vt:lpstr>
      <vt:lpstr>How to Import ( 2 / 3 )</vt:lpstr>
      <vt:lpstr>How to Import ( 3 / 3 )</vt:lpstr>
      <vt:lpstr>How to Import ( 3 / 3 )</vt:lpstr>
      <vt:lpstr>1. Global View 대시보드 개요 </vt:lpstr>
      <vt:lpstr>2. Global View 담당자 및 로컬 인프라 운영자 역할 분리 안</vt:lpstr>
      <vt:lpstr>3. Global 대시보드 유형 및 기능</vt:lpstr>
      <vt:lpstr>4. 인터뷰 항목</vt:lpstr>
      <vt:lpstr>(참고) 통합 상태 모니터링 대시보드 예</vt:lpstr>
      <vt:lpstr>(참고) 통합 상태 모니터링 대시보드 예</vt:lpstr>
      <vt:lpstr>(참고) 인프라 용량 관리 대시보드 예</vt:lpstr>
      <vt:lpstr>(참고) 인프라 용량 관리 대시보드 예</vt:lpstr>
      <vt:lpstr>(참고) 인프라 용량 관리 대시보드 예</vt:lpstr>
      <vt:lpstr>(참고) 인프라 성능 관리 대시보드 예</vt:lpstr>
      <vt:lpstr>(참고) 인프라 성능 관리 대시보드 예</vt:lpstr>
      <vt:lpstr>(참고) 인프라 성능 관리 대시보드 예</vt:lpstr>
      <vt:lpstr>(참고) 인프라 성능 관리 대시보드 예</vt:lpstr>
      <vt:lpstr>(참고) VM 관리 대시보드 예</vt:lpstr>
      <vt:lpstr>(참고) VM 관리 대시보드 예</vt:lpstr>
      <vt:lpstr>(참고) VM 관리 대시보드 예</vt:lpstr>
      <vt:lpstr>(참고) VM 관리 대시보드 예</vt:lpstr>
      <vt:lpstr>(참고) VM 관리 대시보드 예</vt:lpstr>
      <vt:lpstr>(참고) VM 관리 대시보드 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Inyong Lee</cp:lastModifiedBy>
  <cp:revision>16</cp:revision>
  <dcterms:modified xsi:type="dcterms:W3CDTF">2026-04-07T06:51:14Z</dcterms:modified>
</cp:coreProperties>
</file>