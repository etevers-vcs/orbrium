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88825" cy="6858000"/>
  <p:notesSz cx="6858000" cy="9144000"/>
  <p:embeddedFontLst>
    <p:embeddedFont>
      <p:font typeface="Malgun Gothic" panose="020B0503020000020004" pitchFamily="50" charset="-127"/>
      <p:regular r:id="rId21"/>
      <p:bold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hFxIJpB1/VZD4M3ZLEmE5ULnrU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7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6" name="Google Shape;276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 b="0" i="0" u="none" strike="noStrike" cap="none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5" name="Google Shape;65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6" name="Google Shape;656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200" b="0" i="0" u="none" strike="noStrike" cap="none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6" name="Google Shape;77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77" name="Google Shape;777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200" b="0" i="0" u="none" strike="noStrike" cap="none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A | Title Slide - Leaf">
  <p:cSld name="Title Slide – Leaf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0"/>
          <p:cNvPicPr preferRelativeResize="0"/>
          <p:nvPr/>
        </p:nvPicPr>
        <p:blipFill rotWithShape="1">
          <a:blip r:embed="rId2">
            <a:alphaModFix/>
          </a:blip>
          <a:srcRect l="1037" r="1978" b="1787"/>
          <a:stretch/>
        </p:blipFill>
        <p:spPr>
          <a:xfrm>
            <a:off x="1" y="658110"/>
            <a:ext cx="12192401" cy="6207660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4509"/>
              </a:schemeClr>
            </a:outerShdw>
          </a:effectLst>
        </p:spPr>
      </p:pic>
      <p:sp>
        <p:nvSpPr>
          <p:cNvPr id="35" name="Google Shape;35;p20"/>
          <p:cNvSpPr/>
          <p:nvPr/>
        </p:nvSpPr>
        <p:spPr>
          <a:xfrm>
            <a:off x="-3810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7000">
                <a:schemeClr val="accent4"/>
              </a:gs>
              <a:gs pos="83000">
                <a:schemeClr val="accent3"/>
              </a:gs>
              <a:gs pos="100000">
                <a:schemeClr val="accent3"/>
              </a:gs>
            </a:gsLst>
            <a:lin ang="1920016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0"/>
          <p:cNvSpPr/>
          <p:nvPr/>
        </p:nvSpPr>
        <p:spPr>
          <a:xfrm>
            <a:off x="-7657" y="648484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" name="Google Shape;37;p20"/>
          <p:cNvGrpSpPr/>
          <p:nvPr/>
        </p:nvGrpSpPr>
        <p:grpSpPr>
          <a:xfrm>
            <a:off x="265626" y="6323271"/>
            <a:ext cx="1249222" cy="369649"/>
            <a:chOff x="265625" y="6323271"/>
            <a:chExt cx="1249222" cy="369649"/>
          </a:xfrm>
        </p:grpSpPr>
        <p:grpSp>
          <p:nvGrpSpPr>
            <p:cNvPr id="38" name="Google Shape;38;p20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9" name="Google Shape;39;p20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20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0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0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0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0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0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0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0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20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" name="Google Shape;49;p20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50" name="Google Shape;50;p20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20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20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20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20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20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20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20"/>
          <p:cNvGrpSpPr/>
          <p:nvPr/>
        </p:nvGrpSpPr>
        <p:grpSpPr>
          <a:xfrm>
            <a:off x="1645525" y="6478316"/>
            <a:ext cx="4021200" cy="220291"/>
            <a:chOff x="1645525" y="6478316"/>
            <a:chExt cx="4021200" cy="220291"/>
          </a:xfrm>
        </p:grpSpPr>
        <p:sp>
          <p:nvSpPr>
            <p:cNvPr id="58" name="Google Shape;58;p20"/>
            <p:cNvSpPr txBox="1"/>
            <p:nvPr/>
          </p:nvSpPr>
          <p:spPr>
            <a:xfrm>
              <a:off x="1645525" y="6478316"/>
              <a:ext cx="31479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ko-KR" sz="7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Broadcom Proprietary and Confidential. Copyright © 2025 Broadcom.  </a:t>
              </a:r>
              <a:endParaRPr sz="7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" name="Google Shape;59;p20"/>
            <p:cNvSpPr txBox="1"/>
            <p:nvPr/>
          </p:nvSpPr>
          <p:spPr>
            <a:xfrm>
              <a:off x="1645525" y="6590907"/>
              <a:ext cx="40212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ko-KR" sz="7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Rights Reserved. The term “Broadcom” refers to Broadcom Inc. and/or its subsidiaries.</a:t>
              </a:r>
              <a:endParaRPr sz="7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0" name="Google Shape;60;p20"/>
          <p:cNvSpPr txBox="1">
            <a:spLocks noGrp="1"/>
          </p:cNvSpPr>
          <p:nvPr>
            <p:ph type="title"/>
          </p:nvPr>
        </p:nvSpPr>
        <p:spPr>
          <a:xfrm>
            <a:off x="6547100" y="1700775"/>
            <a:ext cx="50292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subTitle" idx="1"/>
          </p:nvPr>
        </p:nvSpPr>
        <p:spPr>
          <a:xfrm>
            <a:off x="6547100" y="2990088"/>
            <a:ext cx="50292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body" idx="2"/>
          </p:nvPr>
        </p:nvSpPr>
        <p:spPr>
          <a:xfrm>
            <a:off x="6547100" y="4736592"/>
            <a:ext cx="50292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​"/>
              <a:defRPr sz="1600"/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 sz="1600"/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 sz="1600"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3"/>
          </p:nvPr>
        </p:nvSpPr>
        <p:spPr>
          <a:xfrm>
            <a:off x="6547100" y="5120640"/>
            <a:ext cx="50292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​"/>
              <a:defRPr sz="1600"/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 sz="1600"/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 sz="1600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4"/>
          </p:nvPr>
        </p:nvSpPr>
        <p:spPr>
          <a:xfrm>
            <a:off x="6547100" y="5486400"/>
            <a:ext cx="50292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​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–"/>
              <a:defRPr sz="1400"/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–"/>
              <a:defRPr/>
            </a:lvl5pPr>
            <a:lvl6pPr marL="2743200" lvl="5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-"/>
              <a:defRPr/>
            </a:lvl7pPr>
            <a:lvl8pPr marL="3657600" lvl="7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, Subtitle and Content">
  <p:cSld name="2_Title, Subtitle and Conte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​"/>
              <a:defRPr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9pPr>
          </a:lstStyle>
          <a:p>
            <a:endParaRPr/>
          </a:p>
        </p:txBody>
      </p:sp>
      <p:sp>
        <p:nvSpPr>
          <p:cNvPr id="69" name="Google Shape;69;p2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ko-KR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, Subtitle and Content">
  <p:cSld name="1_Title, Subtitle and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 txBox="1">
            <a:spLocks noGrp="1"/>
          </p:cNvSpPr>
          <p:nvPr>
            <p:ph type="title"/>
          </p:nvPr>
        </p:nvSpPr>
        <p:spPr>
          <a:xfrm>
            <a:off x="585216" y="411480"/>
            <a:ext cx="11000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None/>
              <a:defRPr sz="1600"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​"/>
              <a:defRPr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A | Thank You - Leaf">
  <p:cSld name="Thank You / Closing - Leaf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3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rgbClr val="61A30E"/>
              </a:gs>
              <a:gs pos="12000">
                <a:srgbClr val="61A30E"/>
              </a:gs>
              <a:gs pos="85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3"/>
          <p:cNvSpPr/>
          <p:nvPr/>
        </p:nvSpPr>
        <p:spPr>
          <a:xfrm>
            <a:off x="1" y="0"/>
            <a:ext cx="12189334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14509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" name="Google Shape;78;p23"/>
          <p:cNvGrpSpPr/>
          <p:nvPr/>
        </p:nvGrpSpPr>
        <p:grpSpPr>
          <a:xfrm>
            <a:off x="265626" y="6323271"/>
            <a:ext cx="1249222" cy="369649"/>
            <a:chOff x="265625" y="6323271"/>
            <a:chExt cx="1249222" cy="369649"/>
          </a:xfrm>
        </p:grpSpPr>
        <p:grpSp>
          <p:nvGrpSpPr>
            <p:cNvPr id="79" name="Google Shape;79;p23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0" name="Google Shape;80;p23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23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23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23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23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23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23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23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23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23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90;p23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91" name="Google Shape;91;p23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23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23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23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23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23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23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8" name="Google Shape;98;p23"/>
          <p:cNvSpPr/>
          <p:nvPr/>
        </p:nvSpPr>
        <p:spPr>
          <a:xfrm>
            <a:off x="0" y="1"/>
            <a:ext cx="8364202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" name="Google Shape;99;p23"/>
          <p:cNvGrpSpPr/>
          <p:nvPr/>
        </p:nvGrpSpPr>
        <p:grpSpPr>
          <a:xfrm>
            <a:off x="1645525" y="6478316"/>
            <a:ext cx="4021200" cy="220291"/>
            <a:chOff x="1645525" y="6478316"/>
            <a:chExt cx="4021200" cy="220291"/>
          </a:xfrm>
        </p:grpSpPr>
        <p:sp>
          <p:nvSpPr>
            <p:cNvPr id="100" name="Google Shape;100;p23"/>
            <p:cNvSpPr txBox="1"/>
            <p:nvPr/>
          </p:nvSpPr>
          <p:spPr>
            <a:xfrm>
              <a:off x="1645525" y="6478316"/>
              <a:ext cx="31479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ko-KR" sz="7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Broadcom Proprietary and Confidential. Copyright © 2025 Broadcom.  </a:t>
              </a:r>
              <a:endParaRPr sz="7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1" name="Google Shape;101;p23"/>
            <p:cNvSpPr txBox="1"/>
            <p:nvPr/>
          </p:nvSpPr>
          <p:spPr>
            <a:xfrm>
              <a:off x="1645525" y="6590907"/>
              <a:ext cx="40212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ko-KR" sz="7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Rights Reserved. The term “Broadcom” refers to Broadcom Inc. and/or its subsidiaries.</a:t>
              </a:r>
              <a:endParaRPr sz="7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2" name="Google Shape;102;p23"/>
          <p:cNvSpPr txBox="1"/>
          <p:nvPr/>
        </p:nvSpPr>
        <p:spPr>
          <a:xfrm>
            <a:off x="7124768" y="4133698"/>
            <a:ext cx="3586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ko-KR" sz="5000" b="0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sz="5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C | Quote - Plum">
  <p:cSld name="Quote – Leaf_2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1" y="1"/>
            <a:ext cx="12197292" cy="6026415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9019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4"/>
          <p:cNvSpPr/>
          <p:nvPr/>
        </p:nvSpPr>
        <p:spPr>
          <a:xfrm>
            <a:off x="-8466" y="1838848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rgbClr val="6C4B8F"/>
              </a:gs>
              <a:gs pos="100000">
                <a:srgbClr val="6C4B8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" name="Google Shape;106;p24"/>
          <p:cNvGrpSpPr/>
          <p:nvPr/>
        </p:nvGrpSpPr>
        <p:grpSpPr>
          <a:xfrm>
            <a:off x="265626" y="6323271"/>
            <a:ext cx="1249222" cy="369649"/>
            <a:chOff x="265625" y="6323271"/>
            <a:chExt cx="1249222" cy="369649"/>
          </a:xfrm>
        </p:grpSpPr>
        <p:grpSp>
          <p:nvGrpSpPr>
            <p:cNvPr id="107" name="Google Shape;107;p24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08" name="Google Shape;108;p24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24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4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24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24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4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24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24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24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24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" name="Google Shape;118;p24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19" name="Google Shape;119;p24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24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24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24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24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24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24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6" name="Google Shape;126;p24"/>
          <p:cNvSpPr txBox="1">
            <a:spLocks noGrp="1"/>
          </p:cNvSpPr>
          <p:nvPr>
            <p:ph type="sldNum" idx="12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127" name="Google Shape;127;p24"/>
          <p:cNvGrpSpPr/>
          <p:nvPr/>
        </p:nvGrpSpPr>
        <p:grpSpPr>
          <a:xfrm>
            <a:off x="1645525" y="6478316"/>
            <a:ext cx="4021200" cy="220291"/>
            <a:chOff x="1645525" y="6478316"/>
            <a:chExt cx="4021200" cy="220291"/>
          </a:xfrm>
        </p:grpSpPr>
        <p:sp>
          <p:nvSpPr>
            <p:cNvPr id="128" name="Google Shape;128;p24"/>
            <p:cNvSpPr txBox="1"/>
            <p:nvPr/>
          </p:nvSpPr>
          <p:spPr>
            <a:xfrm>
              <a:off x="1645525" y="6478316"/>
              <a:ext cx="31479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ko-KR" sz="7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Broadcom Proprietary and Confidential. Copyright © 2025 Broadcom.  </a:t>
              </a:r>
              <a:endParaRPr sz="7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" name="Google Shape;129;p24"/>
            <p:cNvSpPr txBox="1"/>
            <p:nvPr/>
          </p:nvSpPr>
          <p:spPr>
            <a:xfrm>
              <a:off x="1645525" y="6590907"/>
              <a:ext cx="40212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ko-KR" sz="7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Rights Reserved. The term “Broadcom” refers to Broadcom Inc. and/or its subsidiaries.</a:t>
              </a:r>
              <a:endParaRPr sz="7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0" name="Google Shape;130;p24"/>
          <p:cNvSpPr>
            <a:spLocks noGrp="1"/>
          </p:cNvSpPr>
          <p:nvPr>
            <p:ph type="pic" idx="2"/>
          </p:nvPr>
        </p:nvSpPr>
        <p:spPr>
          <a:xfrm>
            <a:off x="8924544" y="4617720"/>
            <a:ext cx="27432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24"/>
          <p:cNvSpPr txBox="1">
            <a:spLocks noGrp="1"/>
          </p:cNvSpPr>
          <p:nvPr>
            <p:ph type="body" idx="1"/>
          </p:nvPr>
        </p:nvSpPr>
        <p:spPr>
          <a:xfrm>
            <a:off x="281172" y="1600200"/>
            <a:ext cx="54147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“"/>
              <a:defRPr>
                <a:solidFill>
                  <a:schemeClr val="accent2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“"/>
              <a:defRPr>
                <a:solidFill>
                  <a:schemeClr val="accent2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“"/>
              <a:defRPr>
                <a:solidFill>
                  <a:schemeClr val="accent2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“"/>
              <a:defRPr>
                <a:solidFill>
                  <a:schemeClr val="accent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6pPr>
            <a:lvl7pPr marL="3200400" lvl="6" indent="-3314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-"/>
              <a:defRPr>
                <a:solidFill>
                  <a:schemeClr val="accent2"/>
                </a:solidFill>
              </a:defRPr>
            </a:lvl7pPr>
            <a:lvl8pPr marL="3657600" lvl="7" indent="-3314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20"/>
              <a:buChar char="-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body" idx="3"/>
          </p:nvPr>
        </p:nvSpPr>
        <p:spPr>
          <a:xfrm>
            <a:off x="603504" y="5065776"/>
            <a:ext cx="4581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–"/>
              <a:defRPr/>
            </a:lvl5pPr>
            <a:lvl6pPr marL="2743200" lvl="5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-"/>
              <a:defRPr/>
            </a:lvl7pPr>
            <a:lvl8pPr marL="3657600" lvl="7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9A | Grid">
  <p:cSld name="CUSTOM_1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25"/>
          <p:cNvGrpSpPr/>
          <p:nvPr/>
        </p:nvGrpSpPr>
        <p:grpSpPr>
          <a:xfrm>
            <a:off x="0" y="0"/>
            <a:ext cx="12192784" cy="6858000"/>
            <a:chOff x="-254" y="0"/>
            <a:chExt cx="12189127" cy="6858000"/>
          </a:xfrm>
        </p:grpSpPr>
        <p:grpSp>
          <p:nvGrpSpPr>
            <p:cNvPr id="135" name="Google Shape;135;p25"/>
            <p:cNvGrpSpPr/>
            <p:nvPr/>
          </p:nvGrpSpPr>
          <p:grpSpPr>
            <a:xfrm>
              <a:off x="-254" y="0"/>
              <a:ext cx="12189127" cy="6858000"/>
              <a:chOff x="-127" y="-4574"/>
              <a:chExt cx="12189127" cy="6858000"/>
            </a:xfrm>
          </p:grpSpPr>
          <p:grpSp>
            <p:nvGrpSpPr>
              <p:cNvPr id="136" name="Google Shape;136;p25"/>
              <p:cNvGrpSpPr/>
              <p:nvPr/>
            </p:nvGrpSpPr>
            <p:grpSpPr>
              <a:xfrm>
                <a:off x="0" y="-4574"/>
                <a:ext cx="12189000" cy="6858000"/>
                <a:chOff x="12729307" y="-4574"/>
                <a:chExt cx="12189000" cy="6858000"/>
              </a:xfrm>
            </p:grpSpPr>
            <p:cxnSp>
              <p:nvCxnSpPr>
                <p:cNvPr id="137" name="Google Shape;137;p25"/>
                <p:cNvCxnSpPr/>
                <p:nvPr/>
              </p:nvCxnSpPr>
              <p:spPr>
                <a:xfrm>
                  <a:off x="12729307" y="13670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38" name="Google Shape;138;p25"/>
                <p:cNvCxnSpPr/>
                <p:nvPr/>
              </p:nvCxnSpPr>
              <p:spPr>
                <a:xfrm>
                  <a:off x="12729307" y="17099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39" name="Google Shape;139;p25"/>
                <p:cNvCxnSpPr/>
                <p:nvPr/>
              </p:nvCxnSpPr>
              <p:spPr>
                <a:xfrm>
                  <a:off x="12729307" y="10241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40" name="Google Shape;140;p25"/>
                <p:cNvCxnSpPr/>
                <p:nvPr/>
              </p:nvCxnSpPr>
              <p:spPr>
                <a:xfrm>
                  <a:off x="12729307" y="6812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41" name="Google Shape;141;p25"/>
                <p:cNvCxnSpPr/>
                <p:nvPr/>
              </p:nvCxnSpPr>
              <p:spPr>
                <a:xfrm>
                  <a:off x="12729307" y="3383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42" name="Google Shape;142;p25"/>
                <p:cNvCxnSpPr/>
                <p:nvPr/>
              </p:nvCxnSpPr>
              <p:spPr>
                <a:xfrm>
                  <a:off x="12729307" y="-4574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43" name="Google Shape;143;p25"/>
                <p:cNvCxnSpPr/>
                <p:nvPr/>
              </p:nvCxnSpPr>
              <p:spPr>
                <a:xfrm>
                  <a:off x="12729307" y="30815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44" name="Google Shape;144;p25"/>
                <p:cNvCxnSpPr/>
                <p:nvPr/>
              </p:nvCxnSpPr>
              <p:spPr>
                <a:xfrm>
                  <a:off x="12729307" y="34244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45" name="Google Shape;145;p25"/>
                <p:cNvCxnSpPr/>
                <p:nvPr/>
              </p:nvCxnSpPr>
              <p:spPr>
                <a:xfrm>
                  <a:off x="12729307" y="27386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46" name="Google Shape;146;p25"/>
                <p:cNvCxnSpPr/>
                <p:nvPr/>
              </p:nvCxnSpPr>
              <p:spPr>
                <a:xfrm>
                  <a:off x="12729307" y="23957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47" name="Google Shape;147;p25"/>
                <p:cNvCxnSpPr/>
                <p:nvPr/>
              </p:nvCxnSpPr>
              <p:spPr>
                <a:xfrm>
                  <a:off x="12729307" y="20528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48" name="Google Shape;148;p25"/>
                <p:cNvCxnSpPr/>
                <p:nvPr/>
              </p:nvCxnSpPr>
              <p:spPr>
                <a:xfrm>
                  <a:off x="12729307" y="47960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49" name="Google Shape;149;p25"/>
                <p:cNvCxnSpPr/>
                <p:nvPr/>
              </p:nvCxnSpPr>
              <p:spPr>
                <a:xfrm>
                  <a:off x="12729307" y="51389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50" name="Google Shape;150;p25"/>
                <p:cNvCxnSpPr/>
                <p:nvPr/>
              </p:nvCxnSpPr>
              <p:spPr>
                <a:xfrm>
                  <a:off x="12729307" y="44531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51" name="Google Shape;151;p25"/>
                <p:cNvCxnSpPr/>
                <p:nvPr/>
              </p:nvCxnSpPr>
              <p:spPr>
                <a:xfrm>
                  <a:off x="12729307" y="41102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52" name="Google Shape;152;p25"/>
                <p:cNvCxnSpPr/>
                <p:nvPr/>
              </p:nvCxnSpPr>
              <p:spPr>
                <a:xfrm>
                  <a:off x="12729307" y="37673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53" name="Google Shape;153;p25"/>
                <p:cNvCxnSpPr/>
                <p:nvPr/>
              </p:nvCxnSpPr>
              <p:spPr>
                <a:xfrm>
                  <a:off x="12729307" y="65105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54" name="Google Shape;154;p25"/>
                <p:cNvCxnSpPr/>
                <p:nvPr/>
              </p:nvCxnSpPr>
              <p:spPr>
                <a:xfrm>
                  <a:off x="12729307" y="68534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55" name="Google Shape;155;p25"/>
                <p:cNvCxnSpPr/>
                <p:nvPr/>
              </p:nvCxnSpPr>
              <p:spPr>
                <a:xfrm>
                  <a:off x="12729307" y="58247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56" name="Google Shape;156;p25"/>
                <p:cNvCxnSpPr/>
                <p:nvPr/>
              </p:nvCxnSpPr>
              <p:spPr>
                <a:xfrm>
                  <a:off x="12729307" y="54818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57" name="Google Shape;157;p25"/>
                <p:cNvCxnSpPr/>
                <p:nvPr/>
              </p:nvCxnSpPr>
              <p:spPr>
                <a:xfrm>
                  <a:off x="12729307" y="61676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58" name="Google Shape;158;p25"/>
              <p:cNvGrpSpPr/>
              <p:nvPr/>
            </p:nvGrpSpPr>
            <p:grpSpPr>
              <a:xfrm>
                <a:off x="-127" y="109726"/>
                <a:ext cx="12189000" cy="6629400"/>
                <a:chOff x="12729307" y="109726"/>
                <a:chExt cx="12189000" cy="6629400"/>
              </a:xfrm>
            </p:grpSpPr>
            <p:cxnSp>
              <p:nvCxnSpPr>
                <p:cNvPr id="159" name="Google Shape;159;p25"/>
                <p:cNvCxnSpPr/>
                <p:nvPr/>
              </p:nvCxnSpPr>
              <p:spPr>
                <a:xfrm>
                  <a:off x="12729307" y="14813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60" name="Google Shape;160;p25"/>
                <p:cNvCxnSpPr/>
                <p:nvPr/>
              </p:nvCxnSpPr>
              <p:spPr>
                <a:xfrm>
                  <a:off x="12729307" y="18242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61" name="Google Shape;161;p25"/>
                <p:cNvCxnSpPr/>
                <p:nvPr/>
              </p:nvCxnSpPr>
              <p:spPr>
                <a:xfrm>
                  <a:off x="12729307" y="11384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62" name="Google Shape;162;p25"/>
                <p:cNvCxnSpPr/>
                <p:nvPr/>
              </p:nvCxnSpPr>
              <p:spPr>
                <a:xfrm>
                  <a:off x="12729307" y="7955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63" name="Google Shape;163;p25"/>
                <p:cNvCxnSpPr/>
                <p:nvPr/>
              </p:nvCxnSpPr>
              <p:spPr>
                <a:xfrm>
                  <a:off x="12729307" y="4526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64" name="Google Shape;164;p25"/>
                <p:cNvCxnSpPr/>
                <p:nvPr/>
              </p:nvCxnSpPr>
              <p:spPr>
                <a:xfrm>
                  <a:off x="12729307" y="1097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65" name="Google Shape;165;p25"/>
                <p:cNvCxnSpPr/>
                <p:nvPr/>
              </p:nvCxnSpPr>
              <p:spPr>
                <a:xfrm>
                  <a:off x="12729307" y="31958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66" name="Google Shape;166;p25"/>
                <p:cNvCxnSpPr/>
                <p:nvPr/>
              </p:nvCxnSpPr>
              <p:spPr>
                <a:xfrm>
                  <a:off x="12729307" y="35387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67" name="Google Shape;167;p25"/>
                <p:cNvCxnSpPr/>
                <p:nvPr/>
              </p:nvCxnSpPr>
              <p:spPr>
                <a:xfrm>
                  <a:off x="12729307" y="28529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68" name="Google Shape;168;p25"/>
                <p:cNvCxnSpPr/>
                <p:nvPr/>
              </p:nvCxnSpPr>
              <p:spPr>
                <a:xfrm>
                  <a:off x="12729307" y="25100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69" name="Google Shape;169;p25"/>
                <p:cNvCxnSpPr/>
                <p:nvPr/>
              </p:nvCxnSpPr>
              <p:spPr>
                <a:xfrm>
                  <a:off x="12729307" y="21671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70" name="Google Shape;170;p25"/>
                <p:cNvCxnSpPr/>
                <p:nvPr/>
              </p:nvCxnSpPr>
              <p:spPr>
                <a:xfrm>
                  <a:off x="12729307" y="49103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71" name="Google Shape;171;p25"/>
                <p:cNvCxnSpPr/>
                <p:nvPr/>
              </p:nvCxnSpPr>
              <p:spPr>
                <a:xfrm>
                  <a:off x="12729307" y="52532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72" name="Google Shape;172;p25"/>
                <p:cNvCxnSpPr/>
                <p:nvPr/>
              </p:nvCxnSpPr>
              <p:spPr>
                <a:xfrm>
                  <a:off x="12729307" y="45674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73" name="Google Shape;173;p25"/>
                <p:cNvCxnSpPr/>
                <p:nvPr/>
              </p:nvCxnSpPr>
              <p:spPr>
                <a:xfrm>
                  <a:off x="12729307" y="42245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74" name="Google Shape;174;p25"/>
                <p:cNvCxnSpPr/>
                <p:nvPr/>
              </p:nvCxnSpPr>
              <p:spPr>
                <a:xfrm>
                  <a:off x="12729307" y="38816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75" name="Google Shape;175;p25"/>
                <p:cNvCxnSpPr/>
                <p:nvPr/>
              </p:nvCxnSpPr>
              <p:spPr>
                <a:xfrm>
                  <a:off x="12729307" y="66248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76" name="Google Shape;176;p25"/>
                <p:cNvCxnSpPr/>
                <p:nvPr/>
              </p:nvCxnSpPr>
              <p:spPr>
                <a:xfrm>
                  <a:off x="12729307" y="62819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77" name="Google Shape;177;p25"/>
                <p:cNvCxnSpPr/>
                <p:nvPr/>
              </p:nvCxnSpPr>
              <p:spPr>
                <a:xfrm>
                  <a:off x="12729307" y="59390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78" name="Google Shape;178;p25"/>
                <p:cNvCxnSpPr/>
                <p:nvPr/>
              </p:nvCxnSpPr>
              <p:spPr>
                <a:xfrm>
                  <a:off x="12729307" y="55961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79" name="Google Shape;179;p25"/>
                <p:cNvCxnSpPr/>
                <p:nvPr/>
              </p:nvCxnSpPr>
              <p:spPr>
                <a:xfrm>
                  <a:off x="12729307" y="15956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80" name="Google Shape;180;p25"/>
                <p:cNvCxnSpPr/>
                <p:nvPr/>
              </p:nvCxnSpPr>
              <p:spPr>
                <a:xfrm>
                  <a:off x="12729307" y="19385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81" name="Google Shape;181;p25"/>
                <p:cNvCxnSpPr/>
                <p:nvPr/>
              </p:nvCxnSpPr>
              <p:spPr>
                <a:xfrm>
                  <a:off x="12729307" y="12527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82" name="Google Shape;182;p25"/>
                <p:cNvCxnSpPr/>
                <p:nvPr/>
              </p:nvCxnSpPr>
              <p:spPr>
                <a:xfrm>
                  <a:off x="12729307" y="9098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83" name="Google Shape;183;p25"/>
                <p:cNvCxnSpPr/>
                <p:nvPr/>
              </p:nvCxnSpPr>
              <p:spPr>
                <a:xfrm>
                  <a:off x="12729307" y="5669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84" name="Google Shape;184;p25"/>
                <p:cNvCxnSpPr/>
                <p:nvPr/>
              </p:nvCxnSpPr>
              <p:spPr>
                <a:xfrm>
                  <a:off x="12729307" y="2240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85" name="Google Shape;185;p25"/>
                <p:cNvCxnSpPr/>
                <p:nvPr/>
              </p:nvCxnSpPr>
              <p:spPr>
                <a:xfrm>
                  <a:off x="12729307" y="33101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86" name="Google Shape;186;p25"/>
                <p:cNvCxnSpPr/>
                <p:nvPr/>
              </p:nvCxnSpPr>
              <p:spPr>
                <a:xfrm>
                  <a:off x="12729307" y="36530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87" name="Google Shape;187;p25"/>
                <p:cNvCxnSpPr/>
                <p:nvPr/>
              </p:nvCxnSpPr>
              <p:spPr>
                <a:xfrm>
                  <a:off x="12729307" y="29672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88" name="Google Shape;188;p25"/>
                <p:cNvCxnSpPr/>
                <p:nvPr/>
              </p:nvCxnSpPr>
              <p:spPr>
                <a:xfrm>
                  <a:off x="12729307" y="26243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89" name="Google Shape;189;p25"/>
                <p:cNvCxnSpPr/>
                <p:nvPr/>
              </p:nvCxnSpPr>
              <p:spPr>
                <a:xfrm>
                  <a:off x="12729307" y="22814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90" name="Google Shape;190;p25"/>
                <p:cNvCxnSpPr/>
                <p:nvPr/>
              </p:nvCxnSpPr>
              <p:spPr>
                <a:xfrm>
                  <a:off x="12729307" y="50246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91" name="Google Shape;191;p25"/>
                <p:cNvCxnSpPr/>
                <p:nvPr/>
              </p:nvCxnSpPr>
              <p:spPr>
                <a:xfrm>
                  <a:off x="12729307" y="53675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92" name="Google Shape;192;p25"/>
                <p:cNvCxnSpPr/>
                <p:nvPr/>
              </p:nvCxnSpPr>
              <p:spPr>
                <a:xfrm>
                  <a:off x="12729307" y="46817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93" name="Google Shape;193;p25"/>
                <p:cNvCxnSpPr/>
                <p:nvPr/>
              </p:nvCxnSpPr>
              <p:spPr>
                <a:xfrm>
                  <a:off x="12729307" y="43388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94" name="Google Shape;194;p25"/>
                <p:cNvCxnSpPr/>
                <p:nvPr/>
              </p:nvCxnSpPr>
              <p:spPr>
                <a:xfrm>
                  <a:off x="12729307" y="39959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95" name="Google Shape;195;p25"/>
                <p:cNvCxnSpPr/>
                <p:nvPr/>
              </p:nvCxnSpPr>
              <p:spPr>
                <a:xfrm>
                  <a:off x="12729307" y="67391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96" name="Google Shape;196;p25"/>
                <p:cNvCxnSpPr/>
                <p:nvPr/>
              </p:nvCxnSpPr>
              <p:spPr>
                <a:xfrm>
                  <a:off x="12729307" y="63962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97" name="Google Shape;197;p25"/>
                <p:cNvCxnSpPr/>
                <p:nvPr/>
              </p:nvCxnSpPr>
              <p:spPr>
                <a:xfrm>
                  <a:off x="12729307" y="60533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98" name="Google Shape;198;p25"/>
                <p:cNvCxnSpPr/>
                <p:nvPr/>
              </p:nvCxnSpPr>
              <p:spPr>
                <a:xfrm>
                  <a:off x="12729307" y="57104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</p:grpSp>
        </p:grpSp>
        <p:grpSp>
          <p:nvGrpSpPr>
            <p:cNvPr id="199" name="Google Shape;199;p25"/>
            <p:cNvGrpSpPr/>
            <p:nvPr/>
          </p:nvGrpSpPr>
          <p:grpSpPr>
            <a:xfrm>
              <a:off x="971126" y="0"/>
              <a:ext cx="10247334" cy="6858000"/>
              <a:chOff x="971253" y="0"/>
              <a:chExt cx="10247334" cy="6858000"/>
            </a:xfrm>
          </p:grpSpPr>
          <p:cxnSp>
            <p:nvCxnSpPr>
              <p:cNvPr id="200" name="Google Shape;200;p25"/>
              <p:cNvCxnSpPr/>
              <p:nvPr/>
            </p:nvCxnSpPr>
            <p:spPr>
              <a:xfrm flipH="1">
                <a:off x="971253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1" name="Google Shape;201;p25"/>
              <p:cNvCxnSpPr/>
              <p:nvPr/>
            </p:nvCxnSpPr>
            <p:spPr>
              <a:xfrm flipH="1">
                <a:off x="1902720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2" name="Google Shape;202;p25"/>
              <p:cNvCxnSpPr/>
              <p:nvPr/>
            </p:nvCxnSpPr>
            <p:spPr>
              <a:xfrm flipH="1">
                <a:off x="2834187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3" name="Google Shape;203;p25"/>
              <p:cNvCxnSpPr/>
              <p:nvPr/>
            </p:nvCxnSpPr>
            <p:spPr>
              <a:xfrm flipH="1">
                <a:off x="3765654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4" name="Google Shape;204;p25"/>
              <p:cNvCxnSpPr/>
              <p:nvPr/>
            </p:nvCxnSpPr>
            <p:spPr>
              <a:xfrm flipH="1">
                <a:off x="4697121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5" name="Google Shape;205;p25"/>
              <p:cNvCxnSpPr/>
              <p:nvPr/>
            </p:nvCxnSpPr>
            <p:spPr>
              <a:xfrm flipH="1">
                <a:off x="5628588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6" name="Google Shape;206;p25"/>
              <p:cNvCxnSpPr/>
              <p:nvPr/>
            </p:nvCxnSpPr>
            <p:spPr>
              <a:xfrm flipH="1">
                <a:off x="6560055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7" name="Google Shape;207;p25"/>
              <p:cNvCxnSpPr/>
              <p:nvPr/>
            </p:nvCxnSpPr>
            <p:spPr>
              <a:xfrm flipH="1">
                <a:off x="7491522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8" name="Google Shape;208;p25"/>
              <p:cNvCxnSpPr/>
              <p:nvPr/>
            </p:nvCxnSpPr>
            <p:spPr>
              <a:xfrm flipH="1">
                <a:off x="8422989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9" name="Google Shape;209;p25"/>
              <p:cNvCxnSpPr/>
              <p:nvPr/>
            </p:nvCxnSpPr>
            <p:spPr>
              <a:xfrm flipH="1">
                <a:off x="9354456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0" name="Google Shape;210;p25"/>
              <p:cNvCxnSpPr/>
              <p:nvPr/>
            </p:nvCxnSpPr>
            <p:spPr>
              <a:xfrm flipH="1">
                <a:off x="10285923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1" name="Google Shape;211;p25"/>
              <p:cNvCxnSpPr/>
              <p:nvPr/>
            </p:nvCxnSpPr>
            <p:spPr>
              <a:xfrm flipH="1">
                <a:off x="11217387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212" name="Google Shape;212;p25"/>
            <p:cNvGrpSpPr/>
            <p:nvPr/>
          </p:nvGrpSpPr>
          <p:grpSpPr>
            <a:xfrm>
              <a:off x="608758" y="448685"/>
              <a:ext cx="10971834" cy="5722702"/>
              <a:chOff x="608885" y="1604366"/>
              <a:chExt cx="10971834" cy="4567200"/>
            </a:xfrm>
          </p:grpSpPr>
          <p:sp>
            <p:nvSpPr>
              <p:cNvPr id="213" name="Google Shape;213;p25"/>
              <p:cNvSpPr/>
              <p:nvPr/>
            </p:nvSpPr>
            <p:spPr>
              <a:xfrm>
                <a:off x="608885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25"/>
              <p:cNvSpPr/>
              <p:nvPr/>
            </p:nvSpPr>
            <p:spPr>
              <a:xfrm>
                <a:off x="1540352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25"/>
              <p:cNvSpPr/>
              <p:nvPr/>
            </p:nvSpPr>
            <p:spPr>
              <a:xfrm>
                <a:off x="2471819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25"/>
              <p:cNvSpPr/>
              <p:nvPr/>
            </p:nvSpPr>
            <p:spPr>
              <a:xfrm>
                <a:off x="3403286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25"/>
              <p:cNvSpPr/>
              <p:nvPr/>
            </p:nvSpPr>
            <p:spPr>
              <a:xfrm>
                <a:off x="4334753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25"/>
              <p:cNvSpPr/>
              <p:nvPr/>
            </p:nvSpPr>
            <p:spPr>
              <a:xfrm>
                <a:off x="5266220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25"/>
              <p:cNvSpPr/>
              <p:nvPr/>
            </p:nvSpPr>
            <p:spPr>
              <a:xfrm>
                <a:off x="6197687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25"/>
              <p:cNvSpPr/>
              <p:nvPr/>
            </p:nvSpPr>
            <p:spPr>
              <a:xfrm>
                <a:off x="7129154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25"/>
              <p:cNvSpPr/>
              <p:nvPr/>
            </p:nvSpPr>
            <p:spPr>
              <a:xfrm>
                <a:off x="8060621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25"/>
              <p:cNvSpPr/>
              <p:nvPr/>
            </p:nvSpPr>
            <p:spPr>
              <a:xfrm>
                <a:off x="8992088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25"/>
              <p:cNvSpPr/>
              <p:nvPr/>
            </p:nvSpPr>
            <p:spPr>
              <a:xfrm>
                <a:off x="9923555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25"/>
              <p:cNvSpPr/>
              <p:nvPr/>
            </p:nvSpPr>
            <p:spPr>
              <a:xfrm>
                <a:off x="10855019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5" name="Google Shape;225;p25"/>
          <p:cNvSpPr txBox="1">
            <a:spLocks noGrp="1"/>
          </p:cNvSpPr>
          <p:nvPr>
            <p:ph type="sldNum" idx="12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options">
  <p:cSld name="04 options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 txBox="1">
            <a:spLocks noGrp="1"/>
          </p:cNvSpPr>
          <p:nvPr>
            <p:ph type="body" idx="1"/>
          </p:nvPr>
        </p:nvSpPr>
        <p:spPr>
          <a:xfrm>
            <a:off x="1106528" y="1762439"/>
            <a:ext cx="2531100" cy="8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26"/>
          <p:cNvSpPr txBox="1">
            <a:spLocks noGrp="1"/>
          </p:cNvSpPr>
          <p:nvPr>
            <p:ph type="body" idx="2"/>
          </p:nvPr>
        </p:nvSpPr>
        <p:spPr>
          <a:xfrm>
            <a:off x="8903647" y="1221101"/>
            <a:ext cx="24888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3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6"/>
          <p:cNvSpPr txBox="1">
            <a:spLocks noGrp="1"/>
          </p:cNvSpPr>
          <p:nvPr>
            <p:ph type="body" idx="3"/>
          </p:nvPr>
        </p:nvSpPr>
        <p:spPr>
          <a:xfrm>
            <a:off x="8789375" y="1775139"/>
            <a:ext cx="2603100" cy="7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26"/>
          <p:cNvSpPr txBox="1">
            <a:spLocks noGrp="1"/>
          </p:cNvSpPr>
          <p:nvPr>
            <p:ph type="body" idx="4"/>
          </p:nvPr>
        </p:nvSpPr>
        <p:spPr>
          <a:xfrm>
            <a:off x="1106527" y="1221101"/>
            <a:ext cx="2531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3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26"/>
          <p:cNvSpPr txBox="1">
            <a:spLocks noGrp="1"/>
          </p:cNvSpPr>
          <p:nvPr>
            <p:ph type="body" idx="5"/>
          </p:nvPr>
        </p:nvSpPr>
        <p:spPr>
          <a:xfrm>
            <a:off x="1106528" y="4827584"/>
            <a:ext cx="2531100" cy="8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26"/>
          <p:cNvSpPr txBox="1">
            <a:spLocks noGrp="1"/>
          </p:cNvSpPr>
          <p:nvPr>
            <p:ph type="body" idx="6"/>
          </p:nvPr>
        </p:nvSpPr>
        <p:spPr>
          <a:xfrm>
            <a:off x="1106527" y="4286246"/>
            <a:ext cx="2531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3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26"/>
          <p:cNvSpPr txBox="1">
            <a:spLocks noGrp="1"/>
          </p:cNvSpPr>
          <p:nvPr>
            <p:ph type="body" idx="7"/>
          </p:nvPr>
        </p:nvSpPr>
        <p:spPr>
          <a:xfrm>
            <a:off x="8903647" y="4286246"/>
            <a:ext cx="24888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3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26"/>
          <p:cNvSpPr txBox="1">
            <a:spLocks noGrp="1"/>
          </p:cNvSpPr>
          <p:nvPr>
            <p:ph type="body" idx="8"/>
          </p:nvPr>
        </p:nvSpPr>
        <p:spPr>
          <a:xfrm>
            <a:off x="8789375" y="4840284"/>
            <a:ext cx="2603100" cy="7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Plum">
  <p:cSld name="Title Slide – Plum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7"/>
          <p:cNvPicPr preferRelativeResize="0"/>
          <p:nvPr/>
        </p:nvPicPr>
        <p:blipFill rotWithShape="1">
          <a:blip r:embed="rId2">
            <a:alphaModFix/>
          </a:blip>
          <a:srcRect l="3" r="2"/>
          <a:stretch/>
        </p:blipFill>
        <p:spPr>
          <a:xfrm>
            <a:off x="879" y="0"/>
            <a:ext cx="12187312" cy="685849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7"/>
          <p:cNvSpPr txBox="1">
            <a:spLocks noGrp="1"/>
          </p:cNvSpPr>
          <p:nvPr>
            <p:ph type="body" idx="1"/>
          </p:nvPr>
        </p:nvSpPr>
        <p:spPr>
          <a:xfrm>
            <a:off x="6592948" y="4737425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666666"/>
              </a:buClr>
              <a:buSzPts val="1440"/>
              <a:buFont typeface="Arial"/>
              <a:buNone/>
              <a:defRPr sz="1600" b="0" i="0" u="none" strike="noStrike"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/>
            </a:lvl9pPr>
          </a:lstStyle>
          <a:p>
            <a:endParaRPr/>
          </a:p>
        </p:txBody>
      </p:sp>
      <p:sp>
        <p:nvSpPr>
          <p:cNvPr id="238" name="Google Shape;238;p27"/>
          <p:cNvSpPr txBox="1">
            <a:spLocks noGrp="1"/>
          </p:cNvSpPr>
          <p:nvPr>
            <p:ph type="body" idx="2"/>
          </p:nvPr>
        </p:nvSpPr>
        <p:spPr>
          <a:xfrm>
            <a:off x="6592948" y="5117480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/>
            </a:lvl9pPr>
          </a:lstStyle>
          <a:p>
            <a:endParaRPr/>
          </a:p>
        </p:txBody>
      </p:sp>
      <p:sp>
        <p:nvSpPr>
          <p:cNvPr id="239" name="Google Shape;239;p27"/>
          <p:cNvSpPr txBox="1">
            <a:spLocks noGrp="1"/>
          </p:cNvSpPr>
          <p:nvPr>
            <p:ph type="body" idx="3"/>
          </p:nvPr>
        </p:nvSpPr>
        <p:spPr>
          <a:xfrm>
            <a:off x="6592948" y="5485986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/>
            </a:lvl9pPr>
          </a:lstStyle>
          <a:p>
            <a:endParaRPr/>
          </a:p>
        </p:txBody>
      </p:sp>
      <p:sp>
        <p:nvSpPr>
          <p:cNvPr id="240" name="Google Shape;240;p27"/>
          <p:cNvSpPr txBox="1"/>
          <p:nvPr/>
        </p:nvSpPr>
        <p:spPr>
          <a:xfrm>
            <a:off x="1645084" y="6461498"/>
            <a:ext cx="2592056" cy="12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/>
          </a:p>
        </p:txBody>
      </p:sp>
      <p:sp>
        <p:nvSpPr>
          <p:cNvPr id="241" name="Google Shape;241;p27"/>
          <p:cNvSpPr txBox="1"/>
          <p:nvPr/>
        </p:nvSpPr>
        <p:spPr>
          <a:xfrm>
            <a:off x="1645084" y="6569434"/>
            <a:ext cx="3279744" cy="12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/>
          </a:p>
        </p:txBody>
      </p:sp>
      <p:grpSp>
        <p:nvGrpSpPr>
          <p:cNvPr id="242" name="Google Shape;242;p2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43" name="Google Shape;243;p2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44" name="Google Shape;244;p2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2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2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2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2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2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2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2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2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2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2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55" name="Google Shape;255;p2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2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2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2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2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2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2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2" name="Google Shape;262;p27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2866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 b="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27"/>
          <p:cNvSpPr txBox="1">
            <a:spLocks noGrp="1"/>
          </p:cNvSpPr>
          <p:nvPr>
            <p:ph type="subTitle" idx="4"/>
          </p:nvPr>
        </p:nvSpPr>
        <p:spPr>
          <a:xfrm>
            <a:off x="6592948" y="2986547"/>
            <a:ext cx="5116452" cy="416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9"/>
          <p:cNvGrpSpPr/>
          <p:nvPr/>
        </p:nvGrpSpPr>
        <p:grpSpPr>
          <a:xfrm>
            <a:off x="265706" y="6323271"/>
            <a:ext cx="1249597" cy="369649"/>
            <a:chOff x="265625" y="6323271"/>
            <a:chExt cx="1249222" cy="369649"/>
          </a:xfrm>
        </p:grpSpPr>
        <p:grpSp>
          <p:nvGrpSpPr>
            <p:cNvPr id="7" name="Google Shape;7;p1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" name="Google Shape;8;p1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9;p1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" name="Google Shape;10;p1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11;p1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12;p1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3;p1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1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1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1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1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" name="Google Shape;18;p1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9" name="Google Shape;19;p1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1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1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1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1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1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1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" name="Google Shape;26;p19"/>
          <p:cNvSpPr/>
          <p:nvPr/>
        </p:nvSpPr>
        <p:spPr>
          <a:xfrm>
            <a:off x="1613" y="0"/>
            <a:ext cx="12185715" cy="74871"/>
          </a:xfrm>
          <a:custGeom>
            <a:avLst/>
            <a:gdLst/>
            <a:ahLst/>
            <a:cxnLst/>
            <a:rect l="l" t="t" r="r" b="b"/>
            <a:pathLst>
              <a:path w="12185715" h="74871" extrusionOk="0">
                <a:moveTo>
                  <a:pt x="0" y="0"/>
                </a:moveTo>
                <a:lnTo>
                  <a:pt x="12185716" y="0"/>
                </a:lnTo>
                <a:lnTo>
                  <a:pt x="12185716" y="74871"/>
                </a:lnTo>
                <a:lnTo>
                  <a:pt x="0" y="74871"/>
                </a:lnTo>
                <a:close/>
              </a:path>
            </a:pathLst>
          </a:custGeom>
          <a:gradFill>
            <a:gsLst>
              <a:gs pos="0">
                <a:srgbClr val="61A00A"/>
              </a:gs>
              <a:gs pos="25000">
                <a:srgbClr val="007A86"/>
              </a:gs>
              <a:gs pos="50000">
                <a:srgbClr val="0193C2"/>
              </a:gs>
              <a:gs pos="75000">
                <a:srgbClr val="005B84"/>
              </a:gs>
              <a:gs pos="100000">
                <a:srgbClr val="6C4B8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oogle Shape;27;p19"/>
          <p:cNvGrpSpPr/>
          <p:nvPr/>
        </p:nvGrpSpPr>
        <p:grpSpPr>
          <a:xfrm>
            <a:off x="1645525" y="6478316"/>
            <a:ext cx="4021200" cy="220291"/>
            <a:chOff x="1645525" y="6478316"/>
            <a:chExt cx="4021200" cy="220291"/>
          </a:xfrm>
        </p:grpSpPr>
        <p:sp>
          <p:nvSpPr>
            <p:cNvPr id="28" name="Google Shape;28;p19"/>
            <p:cNvSpPr txBox="1"/>
            <p:nvPr/>
          </p:nvSpPr>
          <p:spPr>
            <a:xfrm>
              <a:off x="1645525" y="6478316"/>
              <a:ext cx="31479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ko-KR" sz="7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Broadcom Proprietary and Confidential. Copyright © 2025 Broadcom.  </a:t>
              </a:r>
              <a:endParaRPr sz="7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" name="Google Shape;29;p19"/>
            <p:cNvSpPr txBox="1"/>
            <p:nvPr/>
          </p:nvSpPr>
          <p:spPr>
            <a:xfrm>
              <a:off x="1645525" y="6590907"/>
              <a:ext cx="40212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ko-KR" sz="7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Rights Reserved. The term “Broadcom” refers to Broadcom Inc. and/or its subsidiaries.</a:t>
              </a:r>
              <a:endParaRPr sz="7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0" name="Google Shape;30;p19"/>
          <p:cNvSpPr txBox="1">
            <a:spLocks noGrp="1"/>
          </p:cNvSpPr>
          <p:nvPr>
            <p:ph type="sldNum" idx="12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585216" y="411480"/>
            <a:ext cx="11000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603504" y="1600203"/>
            <a:ext cx="10972800" cy="4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oboto"/>
              <a:buChar char="​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146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620"/>
              <a:buFont typeface="Roboto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2003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440"/>
              <a:buFont typeface="Roboto"/>
              <a:buChar char="–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Roboto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Roboto"/>
              <a:buChar char="–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Roboto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Roboto"/>
              <a:buChar char="-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860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Roboto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8609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C3C3C"/>
              </a:buClr>
              <a:buSzPts val="1260"/>
              <a:buFont typeface="Roboto"/>
              <a:buChar char="-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>
          <p15:clr>
            <a:srgbClr val="E46962"/>
          </p15:clr>
        </p15:guide>
        <p15:guide id="2">
          <p15:clr>
            <a:srgbClr val="E46962"/>
          </p15:clr>
        </p15:guide>
        <p15:guide id="3" pos="380">
          <p15:clr>
            <a:srgbClr val="E46962"/>
          </p15:clr>
        </p15:guide>
        <p15:guide id="4" pos="668">
          <p15:clr>
            <a:srgbClr val="E46962"/>
          </p15:clr>
        </p15:guide>
        <p15:guide id="5" pos="956">
          <p15:clr>
            <a:srgbClr val="E46962"/>
          </p15:clr>
        </p15:guide>
        <p15:guide id="6" pos="1244">
          <p15:clr>
            <a:srgbClr val="E46962"/>
          </p15:clr>
        </p15:guide>
        <p15:guide id="7" pos="1532">
          <p15:clr>
            <a:srgbClr val="E46962"/>
          </p15:clr>
        </p15:guide>
        <p15:guide id="8" pos="1820">
          <p15:clr>
            <a:srgbClr val="E46962"/>
          </p15:clr>
        </p15:guide>
        <p15:guide id="9" pos="2108">
          <p15:clr>
            <a:srgbClr val="E46962"/>
          </p15:clr>
        </p15:guide>
        <p15:guide id="10" pos="2396">
          <p15:clr>
            <a:srgbClr val="E46962"/>
          </p15:clr>
        </p15:guide>
        <p15:guide id="11" pos="2684">
          <p15:clr>
            <a:srgbClr val="E46962"/>
          </p15:clr>
        </p15:guide>
        <p15:guide id="12" pos="2972">
          <p15:clr>
            <a:srgbClr val="E46962"/>
          </p15:clr>
        </p15:guide>
        <p15:guide id="13" pos="3260">
          <p15:clr>
            <a:srgbClr val="E46962"/>
          </p15:clr>
        </p15:guide>
        <p15:guide id="14" pos="3548">
          <p15:clr>
            <a:srgbClr val="E46962"/>
          </p15:clr>
        </p15:guide>
        <p15:guide id="15" pos="3836">
          <p15:clr>
            <a:srgbClr val="E46962"/>
          </p15:clr>
        </p15:guide>
        <p15:guide id="16" pos="4124">
          <p15:clr>
            <a:srgbClr val="E46962"/>
          </p15:clr>
        </p15:guide>
        <p15:guide id="17" pos="4412">
          <p15:clr>
            <a:srgbClr val="E46962"/>
          </p15:clr>
        </p15:guide>
        <p15:guide id="18" pos="4700">
          <p15:clr>
            <a:srgbClr val="E46962"/>
          </p15:clr>
        </p15:guide>
        <p15:guide id="19" pos="4988">
          <p15:clr>
            <a:srgbClr val="E46962"/>
          </p15:clr>
        </p15:guide>
        <p15:guide id="20" pos="5276">
          <p15:clr>
            <a:srgbClr val="E46962"/>
          </p15:clr>
        </p15:guide>
        <p15:guide id="21" pos="5564">
          <p15:clr>
            <a:srgbClr val="E46962"/>
          </p15:clr>
        </p15:guide>
        <p15:guide id="22" pos="5852">
          <p15:clr>
            <a:srgbClr val="E46962"/>
          </p15:clr>
        </p15:guide>
        <p15:guide id="23" pos="6140">
          <p15:clr>
            <a:srgbClr val="E46962"/>
          </p15:clr>
        </p15:guide>
        <p15:guide id="24" pos="6428">
          <p15:clr>
            <a:srgbClr val="E46962"/>
          </p15:clr>
        </p15:guide>
        <p15:guide id="25" pos="6716">
          <p15:clr>
            <a:srgbClr val="E46962"/>
          </p15:clr>
        </p15:guide>
        <p15:guide id="26" pos="7004">
          <p15:clr>
            <a:srgbClr val="E46962"/>
          </p15:clr>
        </p15:guide>
        <p15:guide id="27" pos="7292">
          <p15:clr>
            <a:srgbClr val="E46962"/>
          </p15:clr>
        </p15:guide>
        <p15:guide id="28" pos="7678">
          <p15:clr>
            <a:srgbClr val="E46962"/>
          </p15:clr>
        </p15:guide>
        <p15:guide id="29" orient="horz" pos="288">
          <p15:clr>
            <a:srgbClr val="E46962"/>
          </p15:clr>
        </p15:guide>
        <p15:guide id="30" orient="horz" pos="576">
          <p15:clr>
            <a:srgbClr val="E46962"/>
          </p15:clr>
        </p15:guide>
        <p15:guide id="31" orient="horz" pos="720">
          <p15:clr>
            <a:srgbClr val="E46962"/>
          </p15:clr>
        </p15:guide>
        <p15:guide id="32" orient="horz" pos="1008">
          <p15:clr>
            <a:srgbClr val="E46962"/>
          </p15:clr>
        </p15:guide>
        <p15:guide id="33" orient="horz" pos="1296">
          <p15:clr>
            <a:srgbClr val="E46962"/>
          </p15:clr>
        </p15:guide>
        <p15:guide id="34" orient="horz" pos="1584">
          <p15:clr>
            <a:srgbClr val="E46962"/>
          </p15:clr>
        </p15:guide>
        <p15:guide id="35" orient="horz" pos="1872">
          <p15:clr>
            <a:srgbClr val="E46962"/>
          </p15:clr>
        </p15:guide>
        <p15:guide id="36" orient="horz" pos="2160">
          <p15:clr>
            <a:srgbClr val="E46962"/>
          </p15:clr>
        </p15:guide>
        <p15:guide id="37" orient="horz" pos="2448">
          <p15:clr>
            <a:srgbClr val="E46962"/>
          </p15:clr>
        </p15:guide>
        <p15:guide id="38" orient="horz" pos="2736">
          <p15:clr>
            <a:srgbClr val="E46962"/>
          </p15:clr>
        </p15:guide>
        <p15:guide id="39" orient="horz" pos="3024">
          <p15:clr>
            <a:srgbClr val="E46962"/>
          </p15:clr>
        </p15:guide>
        <p15:guide id="40" orient="horz" pos="3312">
          <p15:clr>
            <a:srgbClr val="E46962"/>
          </p15:clr>
        </p15:guide>
        <p15:guide id="41" orient="horz" pos="3600">
          <p15:clr>
            <a:srgbClr val="E46962"/>
          </p15:clr>
        </p15:guide>
        <p15:guide id="42" orient="horz" pos="3888">
          <p15:clr>
            <a:srgbClr val="E46962"/>
          </p15:clr>
        </p15:guide>
        <p15:guide id="43" orient="horz" pos="4032">
          <p15:clr>
            <a:srgbClr val="E46962"/>
          </p15:clr>
        </p15:guide>
        <p15:guide id="44" orient="horz" pos="432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dywis/VCF-Value-Pac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"/>
          <p:cNvSpPr txBox="1">
            <a:spLocks noGrp="1"/>
          </p:cNvSpPr>
          <p:nvPr>
            <p:ph type="title"/>
          </p:nvPr>
        </p:nvSpPr>
        <p:spPr>
          <a:xfrm>
            <a:off x="6547100" y="1700775"/>
            <a:ext cx="50292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</a:pPr>
            <a:r>
              <a:rPr lang="ko-KR"/>
              <a:t>VCF Value Pack</a:t>
            </a:r>
            <a:endParaRPr/>
          </a:p>
        </p:txBody>
      </p:sp>
      <p:sp>
        <p:nvSpPr>
          <p:cNvPr id="269" name="Google Shape;269;p1"/>
          <p:cNvSpPr txBox="1">
            <a:spLocks noGrp="1"/>
          </p:cNvSpPr>
          <p:nvPr>
            <p:ph type="subTitle" idx="1"/>
          </p:nvPr>
        </p:nvSpPr>
        <p:spPr>
          <a:xfrm>
            <a:off x="6547100" y="2990088"/>
            <a:ext cx="50292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ko-KR"/>
              <a:t>VCF Operations v1.2</a:t>
            </a:r>
            <a:endParaRPr/>
          </a:p>
        </p:txBody>
      </p:sp>
      <p:sp>
        <p:nvSpPr>
          <p:cNvPr id="270" name="Google Shape;270;p1"/>
          <p:cNvSpPr txBox="1">
            <a:spLocks noGrp="1"/>
          </p:cNvSpPr>
          <p:nvPr>
            <p:ph type="body" idx="2"/>
          </p:nvPr>
        </p:nvSpPr>
        <p:spPr>
          <a:xfrm>
            <a:off x="6547100" y="4736592"/>
            <a:ext cx="50292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​"/>
            </a:pPr>
            <a:r>
              <a:rPr lang="ko-KR"/>
              <a:t>Dongyun Heo</a:t>
            </a:r>
            <a:endParaRPr/>
          </a:p>
        </p:txBody>
      </p:sp>
      <p:sp>
        <p:nvSpPr>
          <p:cNvPr id="271" name="Google Shape;271;p1"/>
          <p:cNvSpPr txBox="1">
            <a:spLocks noGrp="1"/>
          </p:cNvSpPr>
          <p:nvPr>
            <p:ph type="body" idx="3"/>
          </p:nvPr>
        </p:nvSpPr>
        <p:spPr>
          <a:xfrm>
            <a:off x="6547100" y="5120640"/>
            <a:ext cx="50292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​"/>
            </a:pPr>
            <a:r>
              <a:rPr lang="ko-KR"/>
              <a:t>CXS / VMware by Broadcom</a:t>
            </a:r>
            <a:endParaRPr/>
          </a:p>
        </p:txBody>
      </p:sp>
      <p:sp>
        <p:nvSpPr>
          <p:cNvPr id="272" name="Google Shape;272;p1"/>
          <p:cNvSpPr txBox="1">
            <a:spLocks noGrp="1"/>
          </p:cNvSpPr>
          <p:nvPr>
            <p:ph type="body" idx="4"/>
          </p:nvPr>
        </p:nvSpPr>
        <p:spPr>
          <a:xfrm>
            <a:off x="6547100" y="5486400"/>
            <a:ext cx="50292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9722" y="2493720"/>
            <a:ext cx="3554882" cy="224303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ko-KR"/>
              <a:t>VCF Value Pack</a:t>
            </a:r>
            <a:endParaRPr/>
          </a:p>
        </p:txBody>
      </p:sp>
      <p:sp>
        <p:nvSpPr>
          <p:cNvPr id="280" name="Google Shape;280;p2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/>
              <a:t>본 문서의 대시보드는 VCF Value Pack – Basic 을 제공하며, 별도의 Workshop 및 작업이 필요한 대시보드는 Add-on Pack 에서 별도의 서비스를 통해 지원합니다.</a:t>
            </a:r>
            <a:endParaRPr/>
          </a:p>
        </p:txBody>
      </p:sp>
      <p:pic>
        <p:nvPicPr>
          <p:cNvPr id="281" name="Google Shape;28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2308" y="2493720"/>
            <a:ext cx="3227933" cy="259377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"/>
          <p:cNvSpPr/>
          <p:nvPr/>
        </p:nvSpPr>
        <p:spPr>
          <a:xfrm>
            <a:off x="-2052" y="1436614"/>
            <a:ext cx="3879784" cy="5430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75" tIns="45700" rIns="45707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None/>
            </a:pPr>
            <a:r>
              <a:rPr lang="ko-KR" sz="2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Basic</a:t>
            </a:r>
            <a:endParaRPr sz="2800" b="1" i="1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"/>
          <p:cNvSpPr/>
          <p:nvPr/>
        </p:nvSpPr>
        <p:spPr>
          <a:xfrm>
            <a:off x="236112" y="4736753"/>
            <a:ext cx="11513713" cy="127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4" name="Google Shape;284;p2"/>
          <p:cNvGrpSpPr/>
          <p:nvPr/>
        </p:nvGrpSpPr>
        <p:grpSpPr>
          <a:xfrm>
            <a:off x="1708656" y="2089828"/>
            <a:ext cx="655236" cy="592428"/>
            <a:chOff x="-47223" y="2893454"/>
            <a:chExt cx="655236" cy="592428"/>
          </a:xfrm>
        </p:grpSpPr>
        <p:sp>
          <p:nvSpPr>
            <p:cNvPr id="285" name="Google Shape;285;p2"/>
            <p:cNvSpPr/>
            <p:nvPr/>
          </p:nvSpPr>
          <p:spPr>
            <a:xfrm>
              <a:off x="-47223" y="2893454"/>
              <a:ext cx="655236" cy="592428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36550" y="2969654"/>
              <a:ext cx="487689" cy="44002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ko-KR" sz="3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7" name="Google Shape;287;p2"/>
          <p:cNvGrpSpPr/>
          <p:nvPr/>
        </p:nvGrpSpPr>
        <p:grpSpPr>
          <a:xfrm>
            <a:off x="6129545" y="2089828"/>
            <a:ext cx="655236" cy="592428"/>
            <a:chOff x="-47223" y="2893454"/>
            <a:chExt cx="655236" cy="592428"/>
          </a:xfrm>
        </p:grpSpPr>
        <p:sp>
          <p:nvSpPr>
            <p:cNvPr id="288" name="Google Shape;288;p2"/>
            <p:cNvSpPr/>
            <p:nvPr/>
          </p:nvSpPr>
          <p:spPr>
            <a:xfrm>
              <a:off x="-47223" y="2893454"/>
              <a:ext cx="655236" cy="592428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36550" y="2969654"/>
              <a:ext cx="487689" cy="44002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ko-KR" sz="3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90" name="Google Shape;290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60039" y="2742755"/>
            <a:ext cx="3125942" cy="199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2"/>
          <p:cNvGrpSpPr/>
          <p:nvPr/>
        </p:nvGrpSpPr>
        <p:grpSpPr>
          <a:xfrm>
            <a:off x="9595392" y="2089828"/>
            <a:ext cx="655236" cy="592428"/>
            <a:chOff x="-47223" y="2893454"/>
            <a:chExt cx="655236" cy="592428"/>
          </a:xfrm>
        </p:grpSpPr>
        <p:sp>
          <p:nvSpPr>
            <p:cNvPr id="292" name="Google Shape;292;p2"/>
            <p:cNvSpPr/>
            <p:nvPr/>
          </p:nvSpPr>
          <p:spPr>
            <a:xfrm>
              <a:off x="-47223" y="2893454"/>
              <a:ext cx="655236" cy="592428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36550" y="2969654"/>
              <a:ext cx="487689" cy="44002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ko-KR" sz="3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4" name="Google Shape;294;p2"/>
          <p:cNvSpPr/>
          <p:nvPr/>
        </p:nvSpPr>
        <p:spPr>
          <a:xfrm>
            <a:off x="8153933" y="4587448"/>
            <a:ext cx="3538155" cy="1736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25" tIns="274225" rIns="274225" bIns="1828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2000" b="1" i="0" u="none" strike="noStrike" cap="none">
                <a:solidFill>
                  <a:srgbClr val="007B8C"/>
                </a:solidFill>
                <a:latin typeface="Arial"/>
                <a:ea typeface="Arial"/>
                <a:cs typeface="Arial"/>
                <a:sym typeface="Arial"/>
              </a:rPr>
              <a:t>추가 메트릭 대시보드</a:t>
            </a:r>
            <a:endParaRPr sz="2000" b="1" i="0" u="none" strike="noStrike" cap="none">
              <a:solidFill>
                <a:srgbClr val="007B8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 API 를 활용하여 기본적으로 제공하지 않는 메트릭을 추가 수집한 대시보드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"/>
          <p:cNvSpPr/>
          <p:nvPr/>
        </p:nvSpPr>
        <p:spPr>
          <a:xfrm>
            <a:off x="4554286" y="1442242"/>
            <a:ext cx="7634539" cy="543032"/>
          </a:xfrm>
          <a:prstGeom prst="rect">
            <a:avLst/>
          </a:prstGeom>
          <a:solidFill>
            <a:srgbClr val="007B8C"/>
          </a:solidFill>
          <a:ln>
            <a:noFill/>
          </a:ln>
        </p:spPr>
        <p:txBody>
          <a:bodyPr spcFirstLastPara="1" wrap="square" lIns="457075" tIns="45700" rIns="45707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None/>
            </a:pPr>
            <a:r>
              <a:rPr lang="ko-KR" sz="2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Add-on Pack</a:t>
            </a:r>
            <a:endParaRPr sz="2800" b="1" i="1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p2"/>
          <p:cNvCxnSpPr/>
          <p:nvPr/>
        </p:nvCxnSpPr>
        <p:spPr>
          <a:xfrm>
            <a:off x="4245289" y="1485089"/>
            <a:ext cx="0" cy="4531472"/>
          </a:xfrm>
          <a:prstGeom prst="straightConnector1">
            <a:avLst/>
          </a:prstGeom>
          <a:noFill/>
          <a:ln w="19050" cap="flat" cmpd="sng">
            <a:solidFill>
              <a:srgbClr val="00798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7" name="Google Shape;297;p2"/>
          <p:cNvSpPr/>
          <p:nvPr/>
        </p:nvSpPr>
        <p:spPr>
          <a:xfrm>
            <a:off x="258833" y="4587448"/>
            <a:ext cx="3554882" cy="1736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25" tIns="274225" rIns="274225" bIns="1828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2000" b="1" i="0" u="none" strike="noStrike" cap="none">
                <a:solidFill>
                  <a:srgbClr val="0098C7"/>
                </a:solidFill>
                <a:latin typeface="Arial"/>
                <a:ea typeface="Arial"/>
                <a:cs typeface="Arial"/>
                <a:sym typeface="Arial"/>
              </a:rPr>
              <a:t>클라우드 운영자 대시보드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다양한 고객들의 운영 경험이 녹아든 클라우드 운영 환경에 최적화된 대시보드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"/>
          <p:cNvSpPr/>
          <p:nvPr/>
        </p:nvSpPr>
        <p:spPr>
          <a:xfrm>
            <a:off x="4688086" y="4587448"/>
            <a:ext cx="3538155" cy="1736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25" tIns="274225" rIns="274225" bIns="1828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2000" b="1" i="0" u="none" strike="noStrike" cap="none">
                <a:solidFill>
                  <a:srgbClr val="007B8C"/>
                </a:solidFill>
                <a:latin typeface="Arial"/>
                <a:ea typeface="Arial"/>
                <a:cs typeface="Arial"/>
                <a:sym typeface="Arial"/>
              </a:rPr>
              <a:t>맞춤형 운영자 대시보드</a:t>
            </a:r>
            <a:endParaRPr sz="2000" b="1" i="0" u="none" strike="noStrike" cap="none">
              <a:solidFill>
                <a:srgbClr val="007B8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Workshop 을 통해 고객 환경 및 요구사항에 맞춘 운영 대시보드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"/>
          <p:cNvSpPr/>
          <p:nvPr/>
        </p:nvSpPr>
        <p:spPr>
          <a:xfrm>
            <a:off x="4550567" y="1979646"/>
            <a:ext cx="7638258" cy="4344710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"/>
          <p:cNvSpPr txBox="1">
            <a:spLocks noGrp="1"/>
          </p:cNvSpPr>
          <p:nvPr>
            <p:ph type="title"/>
          </p:nvPr>
        </p:nvSpPr>
        <p:spPr>
          <a:xfrm>
            <a:off x="585216" y="411480"/>
            <a:ext cx="11000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/>
              <a:t>How to Import VCF Value Pack Basic</a:t>
            </a:r>
            <a:endParaRPr/>
          </a:p>
        </p:txBody>
      </p:sp>
      <p:sp>
        <p:nvSpPr>
          <p:cNvPr id="305" name="Google Shape;305;p3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/>
              <a:t>Github 에서 Views 와 Dashboard 파일을 다운 받아서 순서대로 IMPORT 수행 </a:t>
            </a:r>
            <a:endParaRPr/>
          </a:p>
        </p:txBody>
      </p:sp>
      <p:sp>
        <p:nvSpPr>
          <p:cNvPr id="306" name="Google Shape;306;p3">
            <a:hlinkClick r:id="rId3"/>
          </p:cNvPr>
          <p:cNvSpPr/>
          <p:nvPr/>
        </p:nvSpPr>
        <p:spPr>
          <a:xfrm>
            <a:off x="579809" y="1530036"/>
            <a:ext cx="3746658" cy="31196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https://github.com/hdywis/VCF-Value-Pack</a:t>
            </a:r>
            <a:endParaRPr sz="14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07" name="Google Shape;307;p3"/>
          <p:cNvGrpSpPr/>
          <p:nvPr/>
        </p:nvGrpSpPr>
        <p:grpSpPr>
          <a:xfrm>
            <a:off x="579809" y="1902279"/>
            <a:ext cx="5250811" cy="2062818"/>
            <a:chOff x="579809" y="1902279"/>
            <a:chExt cx="7772400" cy="3053442"/>
          </a:xfrm>
        </p:grpSpPr>
        <p:pic>
          <p:nvPicPr>
            <p:cNvPr id="308" name="Google Shape;308;p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9809" y="1902279"/>
              <a:ext cx="7772400" cy="30534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9" name="Google Shape;309;p3"/>
            <p:cNvSpPr/>
            <p:nvPr/>
          </p:nvSpPr>
          <p:spPr>
            <a:xfrm>
              <a:off x="7369521" y="2091350"/>
              <a:ext cx="924815" cy="307818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4997206" y="4404323"/>
              <a:ext cx="1097206" cy="345701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1" name="Google Shape;311;p3"/>
          <p:cNvGrpSpPr/>
          <p:nvPr/>
        </p:nvGrpSpPr>
        <p:grpSpPr>
          <a:xfrm>
            <a:off x="6495771" y="1301727"/>
            <a:ext cx="5361395" cy="3800244"/>
            <a:chOff x="5073238" y="985205"/>
            <a:chExt cx="6835409" cy="4845049"/>
          </a:xfrm>
        </p:grpSpPr>
        <p:pic>
          <p:nvPicPr>
            <p:cNvPr id="312" name="Google Shape;312;p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73238" y="985205"/>
              <a:ext cx="6627556" cy="4572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3" name="Google Shape;313;p3"/>
            <p:cNvGrpSpPr/>
            <p:nvPr/>
          </p:nvGrpSpPr>
          <p:grpSpPr>
            <a:xfrm>
              <a:off x="5250382" y="1993852"/>
              <a:ext cx="6658265" cy="3836402"/>
              <a:chOff x="5250382" y="1993852"/>
              <a:chExt cx="6658265" cy="3836402"/>
            </a:xfrm>
          </p:grpSpPr>
          <p:sp>
            <p:nvSpPr>
              <p:cNvPr id="314" name="Google Shape;314;p3"/>
              <p:cNvSpPr/>
              <p:nvPr/>
            </p:nvSpPr>
            <p:spPr>
              <a:xfrm>
                <a:off x="7080531" y="2892462"/>
                <a:ext cx="331773" cy="307818"/>
              </a:xfrm>
              <a:prstGeom prst="rect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3"/>
              <p:cNvSpPr/>
              <p:nvPr/>
            </p:nvSpPr>
            <p:spPr>
              <a:xfrm>
                <a:off x="5250382" y="4792742"/>
                <a:ext cx="697264" cy="307818"/>
              </a:xfrm>
              <a:prstGeom prst="rect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3"/>
              <p:cNvSpPr/>
              <p:nvPr/>
            </p:nvSpPr>
            <p:spPr>
              <a:xfrm>
                <a:off x="5250382" y="4480804"/>
                <a:ext cx="874408" cy="307818"/>
              </a:xfrm>
              <a:prstGeom prst="rect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3"/>
              <p:cNvSpPr/>
              <p:nvPr/>
            </p:nvSpPr>
            <p:spPr>
              <a:xfrm>
                <a:off x="7434351" y="2432171"/>
                <a:ext cx="874408" cy="307818"/>
              </a:xfrm>
              <a:prstGeom prst="rect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3"/>
              <p:cNvSpPr/>
              <p:nvPr/>
            </p:nvSpPr>
            <p:spPr>
              <a:xfrm>
                <a:off x="10641027" y="1993852"/>
                <a:ext cx="595700" cy="223365"/>
              </a:xfrm>
              <a:prstGeom prst="rect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3"/>
              <p:cNvSpPr/>
              <p:nvPr/>
            </p:nvSpPr>
            <p:spPr>
              <a:xfrm>
                <a:off x="10641027" y="2814005"/>
                <a:ext cx="971044" cy="223365"/>
              </a:xfrm>
              <a:prstGeom prst="rect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20" name="Google Shape;320;p3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7679342" y="3557792"/>
                <a:ext cx="4229305" cy="22724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1" name="Google Shape;321;p3"/>
              <p:cNvSpPr/>
              <p:nvPr/>
            </p:nvSpPr>
            <p:spPr>
              <a:xfrm>
                <a:off x="11094181" y="4046017"/>
                <a:ext cx="656384" cy="202301"/>
              </a:xfrm>
              <a:prstGeom prst="rect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3"/>
              <p:cNvSpPr/>
              <p:nvPr/>
            </p:nvSpPr>
            <p:spPr>
              <a:xfrm>
                <a:off x="11236727" y="5385912"/>
                <a:ext cx="580540" cy="286605"/>
              </a:xfrm>
              <a:prstGeom prst="rect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23" name="Google Shape;323;p3"/>
          <p:cNvSpPr txBox="1">
            <a:spLocks noGrp="1"/>
          </p:cNvSpPr>
          <p:nvPr>
            <p:ph type="body" idx="2"/>
          </p:nvPr>
        </p:nvSpPr>
        <p:spPr>
          <a:xfrm>
            <a:off x="662714" y="4210800"/>
            <a:ext cx="5431698" cy="18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ko-KR" sz="1500"/>
              <a:t>1. Operations &gt; Views &gt; Manage &gt; Import &gt; BROWSE &gt;                                    </a:t>
            </a:r>
            <a:r>
              <a:rPr lang="ko-KR" sz="1500" i="1"/>
              <a:t>1. [VCF Value Pack] Basic 1. - Views.xml</a:t>
            </a:r>
            <a:r>
              <a:rPr lang="ko-KR" sz="1500"/>
              <a:t> 선택 &gt; IMPORT</a:t>
            </a:r>
            <a:endParaRPr/>
          </a:p>
          <a:p>
            <a:pPr marL="0" lvl="0" indent="-1143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​"/>
            </a:pPr>
            <a:r>
              <a:rPr lang="ko-KR" sz="1500"/>
              <a:t>2. Operations &gt; Dashboards &gt; Manage &gt; Import &gt; BROWSE &gt;                </a:t>
            </a:r>
            <a:r>
              <a:rPr lang="ko-KR" sz="1500" i="1"/>
              <a:t>2. [VCF Value Pack] Basic 1. - Dashboard.json</a:t>
            </a:r>
            <a:r>
              <a:rPr lang="ko-KR" sz="1500"/>
              <a:t> 선택 &gt; IMPORT</a:t>
            </a:r>
            <a:endParaRPr/>
          </a:p>
          <a:p>
            <a:pPr marL="0" lvl="0" indent="-1143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​"/>
            </a:pPr>
            <a:r>
              <a:rPr lang="ko-KR" sz="1500"/>
              <a:t>일정 시간 경과 후 (모래시계 모양이 사라지면) 대시보드 Import 작업이 완료됩니다.</a:t>
            </a:r>
            <a:endParaRPr sz="15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ko-KR"/>
              <a:t>vSphere 인벤토리 대시보드</a:t>
            </a:r>
            <a:endParaRPr/>
          </a:p>
        </p:txBody>
      </p:sp>
      <p:sp>
        <p:nvSpPr>
          <p:cNvPr id="329" name="Google Shape;329;p4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VCF 기반의 Private Cloud 인프라 인벤토리 현황 정보를 한 눈에 살펴볼 수 있는 통합 대시보드입니다.</a:t>
            </a:r>
            <a:endParaRPr sz="2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0" name="Google Shape;330;p4"/>
          <p:cNvSpPr/>
          <p:nvPr/>
        </p:nvSpPr>
        <p:spPr>
          <a:xfrm>
            <a:off x="472882" y="2082297"/>
            <a:ext cx="3554882" cy="4249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25" tIns="274225" rIns="274225" bIns="1828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통합 인벤토리 현황</a:t>
            </a: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에서는 등록된 vCenter의 전체 상태를 확인할 수 있습니다.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데이터센터 인벤토리 현황</a:t>
            </a: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과 </a:t>
            </a:r>
            <a:r>
              <a:rPr lang="ko-K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클러스터 인벤토리 현황</a:t>
            </a: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에서는 각각 해당 영역의 인벤토리 정보를 제공합니다.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또한, </a:t>
            </a:r>
            <a:r>
              <a:rPr lang="ko-K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데이터센터 리소스 현황</a:t>
            </a: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과 </a:t>
            </a:r>
            <a:r>
              <a:rPr lang="ko-K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클러스터 리소스 현황</a:t>
            </a: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에서는 좌측 목록을 통해 CPU, 메모리, 데이터스토어의 할당 상태 등을 상세히 확인할 수 있습니다.</a:t>
            </a:r>
            <a:endParaRPr/>
          </a:p>
        </p:txBody>
      </p:sp>
      <p:sp>
        <p:nvSpPr>
          <p:cNvPr id="331" name="Google Shape;331;p4"/>
          <p:cNvSpPr/>
          <p:nvPr/>
        </p:nvSpPr>
        <p:spPr>
          <a:xfrm>
            <a:off x="4867436" y="1798680"/>
            <a:ext cx="6713377" cy="421973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"/>
          <p:cNvSpPr txBox="1"/>
          <p:nvPr/>
        </p:nvSpPr>
        <p:spPr>
          <a:xfrm>
            <a:off x="4867436" y="1490903"/>
            <a:ext cx="6713377" cy="30777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[VCF Value Pack] 1. Basic &gt; [VCF-11] vSphere 인벤토리 대시보드</a:t>
            </a:r>
            <a:endParaRPr sz="1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"/>
          <p:cNvSpPr/>
          <p:nvPr/>
        </p:nvSpPr>
        <p:spPr>
          <a:xfrm rot="-5400000">
            <a:off x="2079450" y="3444529"/>
            <a:ext cx="4987142" cy="588829"/>
          </a:xfrm>
          <a:prstGeom prst="triangle">
            <a:avLst>
              <a:gd name="adj" fmla="val 50000"/>
            </a:avLst>
          </a:prstGeom>
          <a:gradFill>
            <a:gsLst>
              <a:gs pos="0">
                <a:srgbClr val="808080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"/>
          <p:cNvSpPr/>
          <p:nvPr/>
        </p:nvSpPr>
        <p:spPr>
          <a:xfrm>
            <a:off x="940287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5" name="Google Shape;335;p4"/>
          <p:cNvSpPr/>
          <p:nvPr/>
        </p:nvSpPr>
        <p:spPr>
          <a:xfrm>
            <a:off x="7166116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6" name="Google Shape;336;p4"/>
          <p:cNvSpPr/>
          <p:nvPr/>
        </p:nvSpPr>
        <p:spPr>
          <a:xfrm>
            <a:off x="492298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7" name="Google Shape;337;p4"/>
          <p:cNvSpPr/>
          <p:nvPr/>
        </p:nvSpPr>
        <p:spPr>
          <a:xfrm>
            <a:off x="-2051" y="1436614"/>
            <a:ext cx="4620823" cy="5430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75" tIns="45700" rIns="45707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None/>
            </a:pPr>
            <a:r>
              <a:rPr lang="ko-KR" sz="20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VCF Value Pack – Basic</a:t>
            </a:r>
            <a:endParaRPr sz="2000" b="1" i="1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44428" y="1843378"/>
            <a:ext cx="6559393" cy="4130337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"/>
          <p:cNvSpPr/>
          <p:nvPr/>
        </p:nvSpPr>
        <p:spPr>
          <a:xfrm>
            <a:off x="4975069" y="2082297"/>
            <a:ext cx="6493304" cy="8296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0" name="Google Shape;340;p4"/>
          <p:cNvGrpSpPr/>
          <p:nvPr/>
        </p:nvGrpSpPr>
        <p:grpSpPr>
          <a:xfrm>
            <a:off x="8162441" y="2197468"/>
            <a:ext cx="291960" cy="291960"/>
            <a:chOff x="3699402" y="4197490"/>
            <a:chExt cx="291960" cy="291960"/>
          </a:xfrm>
        </p:grpSpPr>
        <p:sp>
          <p:nvSpPr>
            <p:cNvPr id="341" name="Google Shape;341;p4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4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4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4" name="Google Shape;344;p4"/>
          <p:cNvGrpSpPr/>
          <p:nvPr/>
        </p:nvGrpSpPr>
        <p:grpSpPr>
          <a:xfrm>
            <a:off x="8157363" y="2541385"/>
            <a:ext cx="291960" cy="291960"/>
            <a:chOff x="4120982" y="4027237"/>
            <a:chExt cx="291960" cy="291960"/>
          </a:xfrm>
        </p:grpSpPr>
        <p:sp>
          <p:nvSpPr>
            <p:cNvPr id="345" name="Google Shape;345;p4"/>
            <p:cNvSpPr/>
            <p:nvPr/>
          </p:nvSpPr>
          <p:spPr>
            <a:xfrm>
              <a:off x="4120982" y="4027237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4"/>
            <p:cNvSpPr/>
            <p:nvPr/>
          </p:nvSpPr>
          <p:spPr>
            <a:xfrm>
              <a:off x="4199496" y="4105751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7" name="Google Shape;347;p4"/>
            <p:cNvCxnSpPr/>
            <p:nvPr/>
          </p:nvCxnSpPr>
          <p:spPr>
            <a:xfrm>
              <a:off x="4260102" y="4173217"/>
              <a:ext cx="148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sm" len="sm"/>
            </a:ln>
          </p:spPr>
        </p:cxnSp>
      </p:grpSp>
      <p:cxnSp>
        <p:nvCxnSpPr>
          <p:cNvPr id="348" name="Google Shape;348;p4"/>
          <p:cNvCxnSpPr>
            <a:stCxn id="345" idx="2"/>
            <a:endCxn id="349" idx="6"/>
          </p:cNvCxnSpPr>
          <p:nvPr/>
        </p:nvCxnSpPr>
        <p:spPr>
          <a:xfrm flipH="1">
            <a:off x="6444063" y="2687365"/>
            <a:ext cx="1713300" cy="2036100"/>
          </a:xfrm>
          <a:prstGeom prst="curvedConnector3">
            <a:avLst>
              <a:gd name="adj1" fmla="val 50002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0" name="Google Shape;350;p4"/>
          <p:cNvSpPr/>
          <p:nvPr/>
        </p:nvSpPr>
        <p:spPr>
          <a:xfrm>
            <a:off x="4975069" y="2961255"/>
            <a:ext cx="2662576" cy="100456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"/>
          <p:cNvSpPr/>
          <p:nvPr/>
        </p:nvSpPr>
        <p:spPr>
          <a:xfrm>
            <a:off x="4975069" y="4064501"/>
            <a:ext cx="2662577" cy="1657717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"/>
          <p:cNvSpPr/>
          <p:nvPr/>
        </p:nvSpPr>
        <p:spPr>
          <a:xfrm>
            <a:off x="7694565" y="2961255"/>
            <a:ext cx="3773808" cy="100456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"/>
          <p:cNvSpPr/>
          <p:nvPr/>
        </p:nvSpPr>
        <p:spPr>
          <a:xfrm>
            <a:off x="7694564" y="4064501"/>
            <a:ext cx="3773809" cy="1657717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4" name="Google Shape;354;p4"/>
          <p:cNvGrpSpPr/>
          <p:nvPr/>
        </p:nvGrpSpPr>
        <p:grpSpPr>
          <a:xfrm>
            <a:off x="6152041" y="3107157"/>
            <a:ext cx="291960" cy="291960"/>
            <a:chOff x="3699402" y="4197490"/>
            <a:chExt cx="291960" cy="291960"/>
          </a:xfrm>
        </p:grpSpPr>
        <p:sp>
          <p:nvSpPr>
            <p:cNvPr id="355" name="Google Shape;355;p4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4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4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8" name="Google Shape;358;p4"/>
          <p:cNvGrpSpPr/>
          <p:nvPr/>
        </p:nvGrpSpPr>
        <p:grpSpPr>
          <a:xfrm>
            <a:off x="6146963" y="3451074"/>
            <a:ext cx="291960" cy="291960"/>
            <a:chOff x="4120982" y="4027237"/>
            <a:chExt cx="291960" cy="291960"/>
          </a:xfrm>
        </p:grpSpPr>
        <p:sp>
          <p:nvSpPr>
            <p:cNvPr id="359" name="Google Shape;359;p4"/>
            <p:cNvSpPr/>
            <p:nvPr/>
          </p:nvSpPr>
          <p:spPr>
            <a:xfrm>
              <a:off x="4120982" y="4027237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4"/>
            <p:cNvSpPr/>
            <p:nvPr/>
          </p:nvSpPr>
          <p:spPr>
            <a:xfrm>
              <a:off x="4199496" y="4105751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1" name="Google Shape;361;p4"/>
            <p:cNvCxnSpPr/>
            <p:nvPr/>
          </p:nvCxnSpPr>
          <p:spPr>
            <a:xfrm>
              <a:off x="4260102" y="4173217"/>
              <a:ext cx="148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sm" len="sm"/>
            </a:ln>
          </p:spPr>
        </p:cxnSp>
      </p:grpSp>
      <p:grpSp>
        <p:nvGrpSpPr>
          <p:cNvPr id="362" name="Google Shape;362;p4"/>
          <p:cNvGrpSpPr/>
          <p:nvPr/>
        </p:nvGrpSpPr>
        <p:grpSpPr>
          <a:xfrm>
            <a:off x="6152041" y="4577368"/>
            <a:ext cx="291960" cy="291960"/>
            <a:chOff x="3699402" y="4197490"/>
            <a:chExt cx="291960" cy="291960"/>
          </a:xfrm>
        </p:grpSpPr>
        <p:sp>
          <p:nvSpPr>
            <p:cNvPr id="349" name="Google Shape;349;p4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4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4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5" name="Google Shape;365;p4"/>
          <p:cNvGrpSpPr/>
          <p:nvPr/>
        </p:nvGrpSpPr>
        <p:grpSpPr>
          <a:xfrm>
            <a:off x="6146963" y="4921285"/>
            <a:ext cx="291960" cy="291960"/>
            <a:chOff x="4120982" y="4027237"/>
            <a:chExt cx="291960" cy="291960"/>
          </a:xfrm>
        </p:grpSpPr>
        <p:sp>
          <p:nvSpPr>
            <p:cNvPr id="366" name="Google Shape;366;p4"/>
            <p:cNvSpPr/>
            <p:nvPr/>
          </p:nvSpPr>
          <p:spPr>
            <a:xfrm>
              <a:off x="4120982" y="4027237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4"/>
            <p:cNvSpPr/>
            <p:nvPr/>
          </p:nvSpPr>
          <p:spPr>
            <a:xfrm>
              <a:off x="4199496" y="4105751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8" name="Google Shape;368;p4"/>
            <p:cNvCxnSpPr/>
            <p:nvPr/>
          </p:nvCxnSpPr>
          <p:spPr>
            <a:xfrm>
              <a:off x="4260102" y="4173217"/>
              <a:ext cx="148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sm" len="sm"/>
            </a:ln>
          </p:spPr>
        </p:cxnSp>
      </p:grpSp>
      <p:grpSp>
        <p:nvGrpSpPr>
          <p:cNvPr id="369" name="Google Shape;369;p4"/>
          <p:cNvGrpSpPr/>
          <p:nvPr/>
        </p:nvGrpSpPr>
        <p:grpSpPr>
          <a:xfrm>
            <a:off x="9480416" y="3107157"/>
            <a:ext cx="291960" cy="291960"/>
            <a:chOff x="3699402" y="4197490"/>
            <a:chExt cx="291960" cy="291960"/>
          </a:xfrm>
        </p:grpSpPr>
        <p:sp>
          <p:nvSpPr>
            <p:cNvPr id="370" name="Google Shape;370;p4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4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4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3" name="Google Shape;373;p4"/>
          <p:cNvGrpSpPr/>
          <p:nvPr/>
        </p:nvGrpSpPr>
        <p:grpSpPr>
          <a:xfrm>
            <a:off x="9475338" y="3451074"/>
            <a:ext cx="291960" cy="291960"/>
            <a:chOff x="4120982" y="4027237"/>
            <a:chExt cx="291960" cy="291960"/>
          </a:xfrm>
        </p:grpSpPr>
        <p:sp>
          <p:nvSpPr>
            <p:cNvPr id="374" name="Google Shape;374;p4"/>
            <p:cNvSpPr/>
            <p:nvPr/>
          </p:nvSpPr>
          <p:spPr>
            <a:xfrm>
              <a:off x="4120982" y="4027237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4"/>
            <p:cNvSpPr/>
            <p:nvPr/>
          </p:nvSpPr>
          <p:spPr>
            <a:xfrm>
              <a:off x="4199496" y="4105751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6" name="Google Shape;376;p4"/>
            <p:cNvCxnSpPr/>
            <p:nvPr/>
          </p:nvCxnSpPr>
          <p:spPr>
            <a:xfrm>
              <a:off x="4260102" y="4173217"/>
              <a:ext cx="148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sm" len="sm"/>
            </a:ln>
          </p:spPr>
        </p:cxnSp>
      </p:grpSp>
      <p:grpSp>
        <p:nvGrpSpPr>
          <p:cNvPr id="377" name="Google Shape;377;p4"/>
          <p:cNvGrpSpPr/>
          <p:nvPr/>
        </p:nvGrpSpPr>
        <p:grpSpPr>
          <a:xfrm>
            <a:off x="9480416" y="4577368"/>
            <a:ext cx="291960" cy="291960"/>
            <a:chOff x="3699402" y="4197490"/>
            <a:chExt cx="291960" cy="291960"/>
          </a:xfrm>
        </p:grpSpPr>
        <p:sp>
          <p:nvSpPr>
            <p:cNvPr id="378" name="Google Shape;378;p4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1" name="Google Shape;381;p4"/>
          <p:cNvGrpSpPr/>
          <p:nvPr/>
        </p:nvGrpSpPr>
        <p:grpSpPr>
          <a:xfrm>
            <a:off x="9475338" y="4921285"/>
            <a:ext cx="291960" cy="291960"/>
            <a:chOff x="4120982" y="4027237"/>
            <a:chExt cx="291960" cy="291960"/>
          </a:xfrm>
        </p:grpSpPr>
        <p:sp>
          <p:nvSpPr>
            <p:cNvPr id="382" name="Google Shape;382;p4"/>
            <p:cNvSpPr/>
            <p:nvPr/>
          </p:nvSpPr>
          <p:spPr>
            <a:xfrm>
              <a:off x="4120982" y="4027237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4"/>
            <p:cNvSpPr/>
            <p:nvPr/>
          </p:nvSpPr>
          <p:spPr>
            <a:xfrm>
              <a:off x="4199496" y="4105751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4" name="Google Shape;384;p4"/>
            <p:cNvCxnSpPr/>
            <p:nvPr/>
          </p:nvCxnSpPr>
          <p:spPr>
            <a:xfrm>
              <a:off x="4260102" y="4173217"/>
              <a:ext cx="148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sm" len="sm"/>
            </a:ln>
          </p:spPr>
        </p:cxnSp>
      </p:grpSp>
      <p:cxnSp>
        <p:nvCxnSpPr>
          <p:cNvPr id="385" name="Google Shape;385;p4"/>
          <p:cNvCxnSpPr>
            <a:stCxn id="359" idx="4"/>
            <a:endCxn id="349" idx="0"/>
          </p:cNvCxnSpPr>
          <p:nvPr/>
        </p:nvCxnSpPr>
        <p:spPr>
          <a:xfrm rot="-5400000" flipH="1">
            <a:off x="5878343" y="4157634"/>
            <a:ext cx="834300" cy="5100"/>
          </a:xfrm>
          <a:prstGeom prst="curvedConnector3">
            <a:avLst>
              <a:gd name="adj1" fmla="val 50002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6" name="Google Shape;386;p4"/>
          <p:cNvCxnSpPr>
            <a:stCxn id="359" idx="6"/>
            <a:endCxn id="378" idx="2"/>
          </p:cNvCxnSpPr>
          <p:nvPr/>
        </p:nvCxnSpPr>
        <p:spPr>
          <a:xfrm>
            <a:off x="6438923" y="3597054"/>
            <a:ext cx="3041400" cy="1126200"/>
          </a:xfrm>
          <a:prstGeom prst="curvedConnector3">
            <a:avLst>
              <a:gd name="adj1" fmla="val 50002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7" name="Google Shape;387;p4"/>
          <p:cNvCxnSpPr>
            <a:stCxn id="366" idx="6"/>
            <a:endCxn id="378" idx="2"/>
          </p:cNvCxnSpPr>
          <p:nvPr/>
        </p:nvCxnSpPr>
        <p:spPr>
          <a:xfrm rot="10800000" flipH="1">
            <a:off x="6438923" y="4723465"/>
            <a:ext cx="3041400" cy="343800"/>
          </a:xfrm>
          <a:prstGeom prst="curvedConnector3">
            <a:avLst>
              <a:gd name="adj1" fmla="val 50002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8" name="Google Shape;388;p4"/>
          <p:cNvCxnSpPr>
            <a:stCxn id="359" idx="6"/>
            <a:endCxn id="370" idx="2"/>
          </p:cNvCxnSpPr>
          <p:nvPr/>
        </p:nvCxnSpPr>
        <p:spPr>
          <a:xfrm rot="10800000" flipH="1">
            <a:off x="6438923" y="3253254"/>
            <a:ext cx="3041400" cy="343800"/>
          </a:xfrm>
          <a:prstGeom prst="curvedConnector3">
            <a:avLst>
              <a:gd name="adj1" fmla="val 50002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ko-KR"/>
              <a:t>가상머신 성능분석 대시보드</a:t>
            </a:r>
            <a:endParaRPr/>
          </a:p>
        </p:txBody>
      </p:sp>
      <p:sp>
        <p:nvSpPr>
          <p:cNvPr id="394" name="Google Shape;394;p5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/>
              <a:t>가상 머신 성능에 영향을 끼치는 호스트, 데이터스토어 성능 지표를 하나의 화면에서 확인하고 분석하는 대시보드입니다.</a:t>
            </a:r>
            <a:endParaRPr/>
          </a:p>
        </p:txBody>
      </p:sp>
      <p:sp>
        <p:nvSpPr>
          <p:cNvPr id="395" name="Google Shape;395;p5"/>
          <p:cNvSpPr/>
          <p:nvPr/>
        </p:nvSpPr>
        <p:spPr>
          <a:xfrm>
            <a:off x="4867436" y="1798680"/>
            <a:ext cx="6713377" cy="421973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5"/>
          <p:cNvSpPr txBox="1"/>
          <p:nvPr/>
        </p:nvSpPr>
        <p:spPr>
          <a:xfrm>
            <a:off x="4867436" y="1490903"/>
            <a:ext cx="6713377" cy="30777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[VCF Value Pack] 1. Basic &gt; [VCF-12] 가상머신 성능분석 대시보드</a:t>
            </a:r>
            <a:endParaRPr sz="1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5"/>
          <p:cNvSpPr/>
          <p:nvPr/>
        </p:nvSpPr>
        <p:spPr>
          <a:xfrm rot="-5400000">
            <a:off x="2079450" y="3444529"/>
            <a:ext cx="4987142" cy="588829"/>
          </a:xfrm>
          <a:prstGeom prst="triangle">
            <a:avLst>
              <a:gd name="adj" fmla="val 50000"/>
            </a:avLst>
          </a:prstGeom>
          <a:gradFill>
            <a:gsLst>
              <a:gs pos="0">
                <a:srgbClr val="808080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"/>
          <p:cNvSpPr/>
          <p:nvPr/>
        </p:nvSpPr>
        <p:spPr>
          <a:xfrm>
            <a:off x="940287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9" name="Google Shape;399;p5"/>
          <p:cNvSpPr/>
          <p:nvPr/>
        </p:nvSpPr>
        <p:spPr>
          <a:xfrm>
            <a:off x="7166116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0" name="Google Shape;400;p5"/>
          <p:cNvSpPr/>
          <p:nvPr/>
        </p:nvSpPr>
        <p:spPr>
          <a:xfrm>
            <a:off x="492298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1" name="Google Shape;401;p5"/>
          <p:cNvSpPr/>
          <p:nvPr/>
        </p:nvSpPr>
        <p:spPr>
          <a:xfrm>
            <a:off x="-2051" y="1436614"/>
            <a:ext cx="4620823" cy="5430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75" tIns="45700" rIns="45707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None/>
            </a:pPr>
            <a:r>
              <a:rPr lang="ko-KR" sz="20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VCF Value Pack – Basic</a:t>
            </a:r>
            <a:endParaRPr/>
          </a:p>
        </p:txBody>
      </p:sp>
      <p:pic>
        <p:nvPicPr>
          <p:cNvPr id="402" name="Google Shape;40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95209" y="1812386"/>
            <a:ext cx="6657830" cy="4192321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"/>
          <p:cNvSpPr/>
          <p:nvPr/>
        </p:nvSpPr>
        <p:spPr>
          <a:xfrm>
            <a:off x="472882" y="2082297"/>
            <a:ext cx="3554882" cy="4249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25" tIns="274225" rIns="274225" bIns="1828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VM 목록</a:t>
            </a: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에서는 대시보드 기간 동안의 Peak 사용량 등을 목록 형태로 제공합니다. 각 열을 클릭하면 해당 값 기준으로 정렬할 수 있습니다.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VM을 클릭하면 해당 </a:t>
            </a:r>
            <a:r>
              <a:rPr lang="ko-K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VM 속성</a:t>
            </a: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VM 이름</a:t>
            </a: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그리고 해당 VM이 위치한 </a:t>
            </a:r>
            <a:r>
              <a:rPr lang="ko-K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호스트 이름</a:t>
            </a: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과 </a:t>
            </a:r>
            <a:r>
              <a:rPr lang="ko-K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데이터스토어 이름</a:t>
            </a: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을 확인할 수 있습니다.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또한, </a:t>
            </a:r>
            <a:r>
              <a:rPr lang="ko-K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VM 성능 정보, 호스트 성능 정보, 데이터스토어 성능 정보</a:t>
            </a: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에서는 각 항목의 사용량과 경합 정보를 간략히 확인할 수 있으며, 더블 클릭 시 팝업이 나타나고, 한 번 클릭하면 </a:t>
            </a:r>
            <a:r>
              <a:rPr lang="ko-K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상세 메트릭 차트</a:t>
            </a: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에서 데이터를 비교하며 확인할 수 있습니다.</a:t>
            </a:r>
            <a:endParaRPr/>
          </a:p>
        </p:txBody>
      </p:sp>
      <p:sp>
        <p:nvSpPr>
          <p:cNvPr id="404" name="Google Shape;404;p5"/>
          <p:cNvSpPr/>
          <p:nvPr/>
        </p:nvSpPr>
        <p:spPr>
          <a:xfrm>
            <a:off x="4922982" y="1979647"/>
            <a:ext cx="4352499" cy="114635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5" name="Google Shape;405;p5"/>
          <p:cNvGrpSpPr/>
          <p:nvPr/>
        </p:nvGrpSpPr>
        <p:grpSpPr>
          <a:xfrm>
            <a:off x="6898343" y="2239665"/>
            <a:ext cx="291960" cy="291960"/>
            <a:chOff x="3699402" y="4197490"/>
            <a:chExt cx="291960" cy="291960"/>
          </a:xfrm>
        </p:grpSpPr>
        <p:sp>
          <p:nvSpPr>
            <p:cNvPr id="406" name="Google Shape;406;p5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5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9" name="Google Shape;409;p5"/>
          <p:cNvGrpSpPr/>
          <p:nvPr/>
        </p:nvGrpSpPr>
        <p:grpSpPr>
          <a:xfrm>
            <a:off x="6893265" y="2583582"/>
            <a:ext cx="291960" cy="291960"/>
            <a:chOff x="4120982" y="4027237"/>
            <a:chExt cx="291960" cy="291960"/>
          </a:xfrm>
        </p:grpSpPr>
        <p:sp>
          <p:nvSpPr>
            <p:cNvPr id="410" name="Google Shape;410;p5"/>
            <p:cNvSpPr/>
            <p:nvPr/>
          </p:nvSpPr>
          <p:spPr>
            <a:xfrm>
              <a:off x="4120982" y="4027237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5"/>
            <p:cNvSpPr/>
            <p:nvPr/>
          </p:nvSpPr>
          <p:spPr>
            <a:xfrm>
              <a:off x="4199496" y="4105751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2" name="Google Shape;412;p5"/>
            <p:cNvCxnSpPr/>
            <p:nvPr/>
          </p:nvCxnSpPr>
          <p:spPr>
            <a:xfrm>
              <a:off x="4260102" y="4173217"/>
              <a:ext cx="148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sm" len="sm"/>
            </a:ln>
          </p:spPr>
        </p:cxnSp>
      </p:grpSp>
      <p:sp>
        <p:nvSpPr>
          <p:cNvPr id="413" name="Google Shape;413;p5"/>
          <p:cNvSpPr/>
          <p:nvPr/>
        </p:nvSpPr>
        <p:spPr>
          <a:xfrm>
            <a:off x="9356253" y="1979647"/>
            <a:ext cx="2177940" cy="114635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5"/>
          <p:cNvSpPr/>
          <p:nvPr/>
        </p:nvSpPr>
        <p:spPr>
          <a:xfrm>
            <a:off x="9356253" y="3186586"/>
            <a:ext cx="2177940" cy="231374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5"/>
          <p:cNvSpPr/>
          <p:nvPr/>
        </p:nvSpPr>
        <p:spPr>
          <a:xfrm>
            <a:off x="9356253" y="3496473"/>
            <a:ext cx="2177940" cy="1183103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5"/>
          <p:cNvSpPr/>
          <p:nvPr/>
        </p:nvSpPr>
        <p:spPr>
          <a:xfrm>
            <a:off x="7104000" y="3186586"/>
            <a:ext cx="2177940" cy="231374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5"/>
          <p:cNvSpPr/>
          <p:nvPr/>
        </p:nvSpPr>
        <p:spPr>
          <a:xfrm>
            <a:off x="7104000" y="3496473"/>
            <a:ext cx="2177940" cy="1183103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5"/>
          <p:cNvSpPr/>
          <p:nvPr/>
        </p:nvSpPr>
        <p:spPr>
          <a:xfrm>
            <a:off x="4926150" y="3186586"/>
            <a:ext cx="2115734" cy="231374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5"/>
          <p:cNvSpPr/>
          <p:nvPr/>
        </p:nvSpPr>
        <p:spPr>
          <a:xfrm>
            <a:off x="4926150" y="3496473"/>
            <a:ext cx="2115734" cy="1183103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5"/>
          <p:cNvSpPr/>
          <p:nvPr/>
        </p:nvSpPr>
        <p:spPr>
          <a:xfrm>
            <a:off x="4922982" y="4744032"/>
            <a:ext cx="6611211" cy="114635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1" name="Google Shape;421;p5"/>
          <p:cNvGrpSpPr/>
          <p:nvPr/>
        </p:nvGrpSpPr>
        <p:grpSpPr>
          <a:xfrm>
            <a:off x="5687157" y="3781117"/>
            <a:ext cx="291960" cy="291960"/>
            <a:chOff x="3699402" y="4197490"/>
            <a:chExt cx="291960" cy="291960"/>
          </a:xfrm>
        </p:grpSpPr>
        <p:sp>
          <p:nvSpPr>
            <p:cNvPr id="422" name="Google Shape;422;p5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5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5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5" name="Google Shape;425;p5"/>
          <p:cNvGrpSpPr/>
          <p:nvPr/>
        </p:nvGrpSpPr>
        <p:grpSpPr>
          <a:xfrm>
            <a:off x="5682079" y="4125034"/>
            <a:ext cx="291960" cy="291960"/>
            <a:chOff x="4120982" y="4027237"/>
            <a:chExt cx="291960" cy="291960"/>
          </a:xfrm>
        </p:grpSpPr>
        <p:sp>
          <p:nvSpPr>
            <p:cNvPr id="426" name="Google Shape;426;p5"/>
            <p:cNvSpPr/>
            <p:nvPr/>
          </p:nvSpPr>
          <p:spPr>
            <a:xfrm>
              <a:off x="4120982" y="4027237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5"/>
            <p:cNvSpPr/>
            <p:nvPr/>
          </p:nvSpPr>
          <p:spPr>
            <a:xfrm>
              <a:off x="4199496" y="4105751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8" name="Google Shape;428;p5"/>
            <p:cNvCxnSpPr/>
            <p:nvPr/>
          </p:nvCxnSpPr>
          <p:spPr>
            <a:xfrm>
              <a:off x="4260102" y="4173217"/>
              <a:ext cx="148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sm" len="sm"/>
            </a:ln>
          </p:spPr>
        </p:cxnSp>
      </p:grpSp>
      <p:grpSp>
        <p:nvGrpSpPr>
          <p:cNvPr id="429" name="Google Shape;429;p5"/>
          <p:cNvGrpSpPr/>
          <p:nvPr/>
        </p:nvGrpSpPr>
        <p:grpSpPr>
          <a:xfrm>
            <a:off x="10299243" y="2408505"/>
            <a:ext cx="291960" cy="291960"/>
            <a:chOff x="3699402" y="4197490"/>
            <a:chExt cx="291960" cy="291960"/>
          </a:xfrm>
        </p:grpSpPr>
        <p:sp>
          <p:nvSpPr>
            <p:cNvPr id="430" name="Google Shape;430;p5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5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5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3" name="Google Shape;433;p5"/>
          <p:cNvGrpSpPr/>
          <p:nvPr/>
        </p:nvGrpSpPr>
        <p:grpSpPr>
          <a:xfrm>
            <a:off x="6027474" y="4125034"/>
            <a:ext cx="291960" cy="291960"/>
            <a:chOff x="4120982" y="4027237"/>
            <a:chExt cx="291960" cy="291960"/>
          </a:xfrm>
        </p:grpSpPr>
        <p:sp>
          <p:nvSpPr>
            <p:cNvPr id="434" name="Google Shape;434;p5"/>
            <p:cNvSpPr/>
            <p:nvPr/>
          </p:nvSpPr>
          <p:spPr>
            <a:xfrm>
              <a:off x="4120982" y="4027237"/>
              <a:ext cx="291960" cy="291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5"/>
            <p:cNvSpPr/>
            <p:nvPr/>
          </p:nvSpPr>
          <p:spPr>
            <a:xfrm>
              <a:off x="4199496" y="4105751"/>
              <a:ext cx="134932" cy="134932"/>
            </a:xfrm>
            <a:prstGeom prst="ellipse">
              <a:avLst/>
            </a:prstGeom>
            <a:solidFill>
              <a:srgbClr val="FFC00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6" name="Google Shape;436;p5"/>
            <p:cNvCxnSpPr/>
            <p:nvPr/>
          </p:nvCxnSpPr>
          <p:spPr>
            <a:xfrm>
              <a:off x="4260102" y="4173217"/>
              <a:ext cx="148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sm" len="sm"/>
            </a:ln>
          </p:spPr>
        </p:cxnSp>
      </p:grpSp>
      <p:grpSp>
        <p:nvGrpSpPr>
          <p:cNvPr id="437" name="Google Shape;437;p5"/>
          <p:cNvGrpSpPr/>
          <p:nvPr/>
        </p:nvGrpSpPr>
        <p:grpSpPr>
          <a:xfrm>
            <a:off x="7910525" y="3781117"/>
            <a:ext cx="291960" cy="291960"/>
            <a:chOff x="3699402" y="4197490"/>
            <a:chExt cx="291960" cy="291960"/>
          </a:xfrm>
        </p:grpSpPr>
        <p:sp>
          <p:nvSpPr>
            <p:cNvPr id="438" name="Google Shape;438;p5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5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5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1" name="Google Shape;441;p5"/>
          <p:cNvGrpSpPr/>
          <p:nvPr/>
        </p:nvGrpSpPr>
        <p:grpSpPr>
          <a:xfrm>
            <a:off x="7905447" y="4125034"/>
            <a:ext cx="291960" cy="291960"/>
            <a:chOff x="4120982" y="4027237"/>
            <a:chExt cx="291960" cy="291960"/>
          </a:xfrm>
        </p:grpSpPr>
        <p:sp>
          <p:nvSpPr>
            <p:cNvPr id="442" name="Google Shape;442;p5"/>
            <p:cNvSpPr/>
            <p:nvPr/>
          </p:nvSpPr>
          <p:spPr>
            <a:xfrm>
              <a:off x="4120982" y="4027237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5"/>
            <p:cNvSpPr/>
            <p:nvPr/>
          </p:nvSpPr>
          <p:spPr>
            <a:xfrm>
              <a:off x="4199496" y="4105751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4" name="Google Shape;444;p5"/>
            <p:cNvCxnSpPr/>
            <p:nvPr/>
          </p:nvCxnSpPr>
          <p:spPr>
            <a:xfrm>
              <a:off x="4260102" y="4173217"/>
              <a:ext cx="148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sm" len="sm"/>
            </a:ln>
          </p:spPr>
        </p:cxnSp>
      </p:grpSp>
      <p:grpSp>
        <p:nvGrpSpPr>
          <p:cNvPr id="445" name="Google Shape;445;p5"/>
          <p:cNvGrpSpPr/>
          <p:nvPr/>
        </p:nvGrpSpPr>
        <p:grpSpPr>
          <a:xfrm>
            <a:off x="8250842" y="4125034"/>
            <a:ext cx="291960" cy="291960"/>
            <a:chOff x="4120982" y="4027237"/>
            <a:chExt cx="291960" cy="291960"/>
          </a:xfrm>
        </p:grpSpPr>
        <p:sp>
          <p:nvSpPr>
            <p:cNvPr id="446" name="Google Shape;446;p5"/>
            <p:cNvSpPr/>
            <p:nvPr/>
          </p:nvSpPr>
          <p:spPr>
            <a:xfrm>
              <a:off x="4120982" y="4027237"/>
              <a:ext cx="291960" cy="291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5"/>
            <p:cNvSpPr/>
            <p:nvPr/>
          </p:nvSpPr>
          <p:spPr>
            <a:xfrm>
              <a:off x="4199496" y="4105751"/>
              <a:ext cx="134932" cy="134932"/>
            </a:xfrm>
            <a:prstGeom prst="ellipse">
              <a:avLst/>
            </a:prstGeom>
            <a:solidFill>
              <a:srgbClr val="FFC00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8" name="Google Shape;448;p5"/>
            <p:cNvCxnSpPr/>
            <p:nvPr/>
          </p:nvCxnSpPr>
          <p:spPr>
            <a:xfrm>
              <a:off x="4260102" y="4173217"/>
              <a:ext cx="148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sm" len="sm"/>
            </a:ln>
          </p:spPr>
        </p:cxnSp>
      </p:grpSp>
      <p:grpSp>
        <p:nvGrpSpPr>
          <p:cNvPr id="449" name="Google Shape;449;p5"/>
          <p:cNvGrpSpPr/>
          <p:nvPr/>
        </p:nvGrpSpPr>
        <p:grpSpPr>
          <a:xfrm>
            <a:off x="10130404" y="3781117"/>
            <a:ext cx="291960" cy="291960"/>
            <a:chOff x="3699402" y="4197490"/>
            <a:chExt cx="291960" cy="291960"/>
          </a:xfrm>
        </p:grpSpPr>
        <p:sp>
          <p:nvSpPr>
            <p:cNvPr id="450" name="Google Shape;450;p5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5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5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3" name="Google Shape;453;p5"/>
          <p:cNvGrpSpPr/>
          <p:nvPr/>
        </p:nvGrpSpPr>
        <p:grpSpPr>
          <a:xfrm>
            <a:off x="10125326" y="4125034"/>
            <a:ext cx="291960" cy="291960"/>
            <a:chOff x="4120982" y="4027237"/>
            <a:chExt cx="291960" cy="291960"/>
          </a:xfrm>
        </p:grpSpPr>
        <p:sp>
          <p:nvSpPr>
            <p:cNvPr id="454" name="Google Shape;454;p5"/>
            <p:cNvSpPr/>
            <p:nvPr/>
          </p:nvSpPr>
          <p:spPr>
            <a:xfrm>
              <a:off x="4120982" y="4027237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5"/>
            <p:cNvSpPr/>
            <p:nvPr/>
          </p:nvSpPr>
          <p:spPr>
            <a:xfrm>
              <a:off x="4199496" y="4105751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6" name="Google Shape;456;p5"/>
            <p:cNvCxnSpPr/>
            <p:nvPr/>
          </p:nvCxnSpPr>
          <p:spPr>
            <a:xfrm>
              <a:off x="4260102" y="4173217"/>
              <a:ext cx="148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sm" len="sm"/>
            </a:ln>
          </p:spPr>
        </p:cxnSp>
      </p:grpSp>
      <p:grpSp>
        <p:nvGrpSpPr>
          <p:cNvPr id="457" name="Google Shape;457;p5"/>
          <p:cNvGrpSpPr/>
          <p:nvPr/>
        </p:nvGrpSpPr>
        <p:grpSpPr>
          <a:xfrm>
            <a:off x="10470721" y="4125034"/>
            <a:ext cx="291960" cy="291960"/>
            <a:chOff x="4120982" y="4027237"/>
            <a:chExt cx="291960" cy="291960"/>
          </a:xfrm>
        </p:grpSpPr>
        <p:sp>
          <p:nvSpPr>
            <p:cNvPr id="458" name="Google Shape;458;p5"/>
            <p:cNvSpPr/>
            <p:nvPr/>
          </p:nvSpPr>
          <p:spPr>
            <a:xfrm>
              <a:off x="4120982" y="4027237"/>
              <a:ext cx="291960" cy="291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5"/>
            <p:cNvSpPr/>
            <p:nvPr/>
          </p:nvSpPr>
          <p:spPr>
            <a:xfrm>
              <a:off x="4199496" y="4105751"/>
              <a:ext cx="134932" cy="134932"/>
            </a:xfrm>
            <a:prstGeom prst="ellipse">
              <a:avLst/>
            </a:prstGeom>
            <a:solidFill>
              <a:srgbClr val="FFC00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0" name="Google Shape;460;p5"/>
            <p:cNvCxnSpPr/>
            <p:nvPr/>
          </p:nvCxnSpPr>
          <p:spPr>
            <a:xfrm>
              <a:off x="4260102" y="4173217"/>
              <a:ext cx="148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sm" len="sm"/>
            </a:ln>
          </p:spPr>
        </p:cxnSp>
      </p:grpSp>
      <p:grpSp>
        <p:nvGrpSpPr>
          <p:cNvPr id="461" name="Google Shape;461;p5"/>
          <p:cNvGrpSpPr/>
          <p:nvPr/>
        </p:nvGrpSpPr>
        <p:grpSpPr>
          <a:xfrm>
            <a:off x="7905447" y="5221117"/>
            <a:ext cx="291960" cy="291960"/>
            <a:chOff x="3699402" y="4197490"/>
            <a:chExt cx="291960" cy="291960"/>
          </a:xfrm>
        </p:grpSpPr>
        <p:sp>
          <p:nvSpPr>
            <p:cNvPr id="462" name="Google Shape;462;p5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5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5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5" name="Google Shape;465;p5"/>
          <p:cNvGrpSpPr/>
          <p:nvPr/>
        </p:nvGrpSpPr>
        <p:grpSpPr>
          <a:xfrm>
            <a:off x="8224124" y="5221117"/>
            <a:ext cx="291960" cy="291960"/>
            <a:chOff x="3699402" y="4197490"/>
            <a:chExt cx="291960" cy="291960"/>
          </a:xfrm>
        </p:grpSpPr>
        <p:sp>
          <p:nvSpPr>
            <p:cNvPr id="466" name="Google Shape;466;p5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5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FFC00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5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9" name="Google Shape;469;p5"/>
          <p:cNvCxnSpPr>
            <a:stCxn id="410" idx="2"/>
            <a:endCxn id="470" idx="0"/>
          </p:cNvCxnSpPr>
          <p:nvPr/>
        </p:nvCxnSpPr>
        <p:spPr>
          <a:xfrm flipH="1">
            <a:off x="5646165" y="2729562"/>
            <a:ext cx="1247100" cy="458400"/>
          </a:xfrm>
          <a:prstGeom prst="curvedConnector2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1" name="Google Shape;471;p5"/>
          <p:cNvGrpSpPr/>
          <p:nvPr/>
        </p:nvGrpSpPr>
        <p:grpSpPr>
          <a:xfrm>
            <a:off x="5500268" y="3187936"/>
            <a:ext cx="985017" cy="291960"/>
            <a:chOff x="5643785" y="3195457"/>
            <a:chExt cx="985017" cy="291960"/>
          </a:xfrm>
        </p:grpSpPr>
        <p:grpSp>
          <p:nvGrpSpPr>
            <p:cNvPr id="472" name="Google Shape;472;p5"/>
            <p:cNvGrpSpPr/>
            <p:nvPr/>
          </p:nvGrpSpPr>
          <p:grpSpPr>
            <a:xfrm>
              <a:off x="5643785" y="3195457"/>
              <a:ext cx="291960" cy="291960"/>
              <a:chOff x="3699402" y="4197490"/>
              <a:chExt cx="291960" cy="291960"/>
            </a:xfrm>
          </p:grpSpPr>
          <p:sp>
            <p:nvSpPr>
              <p:cNvPr id="470" name="Google Shape;470;p5"/>
              <p:cNvSpPr/>
              <p:nvPr/>
            </p:nvSpPr>
            <p:spPr>
              <a:xfrm>
                <a:off x="3699402" y="4197490"/>
                <a:ext cx="291960" cy="29196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5"/>
              <p:cNvSpPr/>
              <p:nvPr/>
            </p:nvSpPr>
            <p:spPr>
              <a:xfrm>
                <a:off x="3777916" y="4276004"/>
                <a:ext cx="134932" cy="134932"/>
              </a:xfrm>
              <a:prstGeom prst="ellipse">
                <a:avLst/>
              </a:prstGeom>
              <a:solidFill>
                <a:srgbClr val="0070C0"/>
              </a:solidFill>
              <a:ln w="127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5"/>
              <p:cNvSpPr/>
              <p:nvPr/>
            </p:nvSpPr>
            <p:spPr>
              <a:xfrm>
                <a:off x="3822523" y="4320611"/>
                <a:ext cx="45719" cy="45719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5" name="Google Shape;475;p5"/>
            <p:cNvGrpSpPr/>
            <p:nvPr/>
          </p:nvGrpSpPr>
          <p:grpSpPr>
            <a:xfrm>
              <a:off x="5990313" y="3195457"/>
              <a:ext cx="291960" cy="291960"/>
              <a:chOff x="4120982" y="4027237"/>
              <a:chExt cx="291960" cy="291960"/>
            </a:xfrm>
          </p:grpSpPr>
          <p:sp>
            <p:nvSpPr>
              <p:cNvPr id="476" name="Google Shape;476;p5"/>
              <p:cNvSpPr/>
              <p:nvPr/>
            </p:nvSpPr>
            <p:spPr>
              <a:xfrm>
                <a:off x="4120982" y="4027237"/>
                <a:ext cx="291960" cy="29196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5"/>
              <p:cNvSpPr/>
              <p:nvPr/>
            </p:nvSpPr>
            <p:spPr>
              <a:xfrm>
                <a:off x="4199496" y="4105751"/>
                <a:ext cx="134932" cy="134932"/>
              </a:xfrm>
              <a:prstGeom prst="ellipse">
                <a:avLst/>
              </a:prstGeom>
              <a:solidFill>
                <a:srgbClr val="0070C0"/>
              </a:solidFill>
              <a:ln w="127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78" name="Google Shape;478;p5"/>
              <p:cNvCxnSpPr/>
              <p:nvPr/>
            </p:nvCxnSpPr>
            <p:spPr>
              <a:xfrm>
                <a:off x="4260102" y="4173217"/>
                <a:ext cx="148651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stealth" w="sm" len="sm"/>
              </a:ln>
            </p:spPr>
          </p:cxnSp>
        </p:grpSp>
        <p:grpSp>
          <p:nvGrpSpPr>
            <p:cNvPr id="479" name="Google Shape;479;p5"/>
            <p:cNvGrpSpPr/>
            <p:nvPr/>
          </p:nvGrpSpPr>
          <p:grpSpPr>
            <a:xfrm>
              <a:off x="6336842" y="3195457"/>
              <a:ext cx="291960" cy="291960"/>
              <a:chOff x="4120982" y="4027237"/>
              <a:chExt cx="291960" cy="291960"/>
            </a:xfrm>
          </p:grpSpPr>
          <p:sp>
            <p:nvSpPr>
              <p:cNvPr id="480" name="Google Shape;480;p5"/>
              <p:cNvSpPr/>
              <p:nvPr/>
            </p:nvSpPr>
            <p:spPr>
              <a:xfrm>
                <a:off x="4120982" y="4027237"/>
                <a:ext cx="291960" cy="29196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5"/>
              <p:cNvSpPr/>
              <p:nvPr/>
            </p:nvSpPr>
            <p:spPr>
              <a:xfrm>
                <a:off x="4199496" y="4105751"/>
                <a:ext cx="134932" cy="134932"/>
              </a:xfrm>
              <a:prstGeom prst="ellipse">
                <a:avLst/>
              </a:prstGeom>
              <a:solidFill>
                <a:srgbClr val="FFC000"/>
              </a:solidFill>
              <a:ln w="127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82" name="Google Shape;482;p5"/>
              <p:cNvCxnSpPr/>
              <p:nvPr/>
            </p:nvCxnSpPr>
            <p:spPr>
              <a:xfrm>
                <a:off x="4260102" y="4173217"/>
                <a:ext cx="148651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stealth" w="sm" len="sm"/>
              </a:ln>
            </p:spPr>
          </p:cxnSp>
        </p:grpSp>
      </p:grpSp>
      <p:grpSp>
        <p:nvGrpSpPr>
          <p:cNvPr id="483" name="Google Shape;483;p5"/>
          <p:cNvGrpSpPr/>
          <p:nvPr/>
        </p:nvGrpSpPr>
        <p:grpSpPr>
          <a:xfrm>
            <a:off x="7731616" y="3187936"/>
            <a:ext cx="985017" cy="291960"/>
            <a:chOff x="5643785" y="3195457"/>
            <a:chExt cx="985017" cy="291960"/>
          </a:xfrm>
        </p:grpSpPr>
        <p:grpSp>
          <p:nvGrpSpPr>
            <p:cNvPr id="484" name="Google Shape;484;p5"/>
            <p:cNvGrpSpPr/>
            <p:nvPr/>
          </p:nvGrpSpPr>
          <p:grpSpPr>
            <a:xfrm>
              <a:off x="5643785" y="3195457"/>
              <a:ext cx="291960" cy="291960"/>
              <a:chOff x="3699402" y="4197490"/>
              <a:chExt cx="291960" cy="291960"/>
            </a:xfrm>
          </p:grpSpPr>
          <p:sp>
            <p:nvSpPr>
              <p:cNvPr id="485" name="Google Shape;485;p5"/>
              <p:cNvSpPr/>
              <p:nvPr/>
            </p:nvSpPr>
            <p:spPr>
              <a:xfrm>
                <a:off x="3699402" y="4197490"/>
                <a:ext cx="291960" cy="29196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5"/>
              <p:cNvSpPr/>
              <p:nvPr/>
            </p:nvSpPr>
            <p:spPr>
              <a:xfrm>
                <a:off x="3777916" y="4276004"/>
                <a:ext cx="134932" cy="134932"/>
              </a:xfrm>
              <a:prstGeom prst="ellipse">
                <a:avLst/>
              </a:prstGeom>
              <a:solidFill>
                <a:srgbClr val="0070C0"/>
              </a:solidFill>
              <a:ln w="127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5"/>
              <p:cNvSpPr/>
              <p:nvPr/>
            </p:nvSpPr>
            <p:spPr>
              <a:xfrm>
                <a:off x="3822523" y="4320611"/>
                <a:ext cx="45719" cy="45719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8" name="Google Shape;488;p5"/>
            <p:cNvGrpSpPr/>
            <p:nvPr/>
          </p:nvGrpSpPr>
          <p:grpSpPr>
            <a:xfrm>
              <a:off x="5990313" y="3195457"/>
              <a:ext cx="291960" cy="291960"/>
              <a:chOff x="4120982" y="4027237"/>
              <a:chExt cx="291960" cy="291960"/>
            </a:xfrm>
          </p:grpSpPr>
          <p:sp>
            <p:nvSpPr>
              <p:cNvPr id="489" name="Google Shape;489;p5"/>
              <p:cNvSpPr/>
              <p:nvPr/>
            </p:nvSpPr>
            <p:spPr>
              <a:xfrm>
                <a:off x="4120982" y="4027237"/>
                <a:ext cx="291960" cy="29196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5"/>
              <p:cNvSpPr/>
              <p:nvPr/>
            </p:nvSpPr>
            <p:spPr>
              <a:xfrm>
                <a:off x="4199496" y="4105751"/>
                <a:ext cx="134932" cy="134932"/>
              </a:xfrm>
              <a:prstGeom prst="ellipse">
                <a:avLst/>
              </a:prstGeom>
              <a:solidFill>
                <a:srgbClr val="0070C0"/>
              </a:solidFill>
              <a:ln w="127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91" name="Google Shape;491;p5"/>
              <p:cNvCxnSpPr/>
              <p:nvPr/>
            </p:nvCxnSpPr>
            <p:spPr>
              <a:xfrm>
                <a:off x="4260102" y="4173217"/>
                <a:ext cx="148651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stealth" w="sm" len="sm"/>
              </a:ln>
            </p:spPr>
          </p:cxnSp>
        </p:grpSp>
        <p:grpSp>
          <p:nvGrpSpPr>
            <p:cNvPr id="492" name="Google Shape;492;p5"/>
            <p:cNvGrpSpPr/>
            <p:nvPr/>
          </p:nvGrpSpPr>
          <p:grpSpPr>
            <a:xfrm>
              <a:off x="6336842" y="3195457"/>
              <a:ext cx="291960" cy="291960"/>
              <a:chOff x="4120982" y="4027237"/>
              <a:chExt cx="291960" cy="291960"/>
            </a:xfrm>
          </p:grpSpPr>
          <p:sp>
            <p:nvSpPr>
              <p:cNvPr id="493" name="Google Shape;493;p5"/>
              <p:cNvSpPr/>
              <p:nvPr/>
            </p:nvSpPr>
            <p:spPr>
              <a:xfrm>
                <a:off x="4120982" y="4027237"/>
                <a:ext cx="291960" cy="29196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5"/>
              <p:cNvSpPr/>
              <p:nvPr/>
            </p:nvSpPr>
            <p:spPr>
              <a:xfrm>
                <a:off x="4199496" y="4105751"/>
                <a:ext cx="134932" cy="134932"/>
              </a:xfrm>
              <a:prstGeom prst="ellipse">
                <a:avLst/>
              </a:prstGeom>
              <a:solidFill>
                <a:srgbClr val="FFC000"/>
              </a:solidFill>
              <a:ln w="127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95" name="Google Shape;495;p5"/>
              <p:cNvCxnSpPr/>
              <p:nvPr/>
            </p:nvCxnSpPr>
            <p:spPr>
              <a:xfrm>
                <a:off x="4260102" y="4173217"/>
                <a:ext cx="148651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stealth" w="sm" len="sm"/>
              </a:ln>
            </p:spPr>
          </p:cxnSp>
        </p:grpSp>
      </p:grpSp>
      <p:grpSp>
        <p:nvGrpSpPr>
          <p:cNvPr id="496" name="Google Shape;496;p5"/>
          <p:cNvGrpSpPr/>
          <p:nvPr/>
        </p:nvGrpSpPr>
        <p:grpSpPr>
          <a:xfrm>
            <a:off x="9932886" y="3187936"/>
            <a:ext cx="985017" cy="291960"/>
            <a:chOff x="5643785" y="3195457"/>
            <a:chExt cx="985017" cy="291960"/>
          </a:xfrm>
        </p:grpSpPr>
        <p:grpSp>
          <p:nvGrpSpPr>
            <p:cNvPr id="497" name="Google Shape;497;p5"/>
            <p:cNvGrpSpPr/>
            <p:nvPr/>
          </p:nvGrpSpPr>
          <p:grpSpPr>
            <a:xfrm>
              <a:off x="5643785" y="3195457"/>
              <a:ext cx="291960" cy="291960"/>
              <a:chOff x="3699402" y="4197490"/>
              <a:chExt cx="291960" cy="291960"/>
            </a:xfrm>
          </p:grpSpPr>
          <p:sp>
            <p:nvSpPr>
              <p:cNvPr id="498" name="Google Shape;498;p5"/>
              <p:cNvSpPr/>
              <p:nvPr/>
            </p:nvSpPr>
            <p:spPr>
              <a:xfrm>
                <a:off x="3699402" y="4197490"/>
                <a:ext cx="291960" cy="29196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5"/>
              <p:cNvSpPr/>
              <p:nvPr/>
            </p:nvSpPr>
            <p:spPr>
              <a:xfrm>
                <a:off x="3777916" y="4276004"/>
                <a:ext cx="134932" cy="134932"/>
              </a:xfrm>
              <a:prstGeom prst="ellipse">
                <a:avLst/>
              </a:prstGeom>
              <a:solidFill>
                <a:srgbClr val="0070C0"/>
              </a:solidFill>
              <a:ln w="127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5"/>
              <p:cNvSpPr/>
              <p:nvPr/>
            </p:nvSpPr>
            <p:spPr>
              <a:xfrm>
                <a:off x="3822523" y="4320611"/>
                <a:ext cx="45719" cy="45719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1" name="Google Shape;501;p5"/>
            <p:cNvGrpSpPr/>
            <p:nvPr/>
          </p:nvGrpSpPr>
          <p:grpSpPr>
            <a:xfrm>
              <a:off x="5990313" y="3195457"/>
              <a:ext cx="291960" cy="291960"/>
              <a:chOff x="4120982" y="4027237"/>
              <a:chExt cx="291960" cy="291960"/>
            </a:xfrm>
          </p:grpSpPr>
          <p:sp>
            <p:nvSpPr>
              <p:cNvPr id="502" name="Google Shape;502;p5"/>
              <p:cNvSpPr/>
              <p:nvPr/>
            </p:nvSpPr>
            <p:spPr>
              <a:xfrm>
                <a:off x="4120982" y="4027237"/>
                <a:ext cx="291960" cy="29196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5"/>
              <p:cNvSpPr/>
              <p:nvPr/>
            </p:nvSpPr>
            <p:spPr>
              <a:xfrm>
                <a:off x="4199496" y="4105751"/>
                <a:ext cx="134932" cy="134932"/>
              </a:xfrm>
              <a:prstGeom prst="ellipse">
                <a:avLst/>
              </a:prstGeom>
              <a:solidFill>
                <a:srgbClr val="0070C0"/>
              </a:solidFill>
              <a:ln w="127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04" name="Google Shape;504;p5"/>
              <p:cNvCxnSpPr/>
              <p:nvPr/>
            </p:nvCxnSpPr>
            <p:spPr>
              <a:xfrm>
                <a:off x="4260102" y="4173217"/>
                <a:ext cx="148651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stealth" w="sm" len="sm"/>
              </a:ln>
            </p:spPr>
          </p:cxnSp>
        </p:grpSp>
        <p:grpSp>
          <p:nvGrpSpPr>
            <p:cNvPr id="505" name="Google Shape;505;p5"/>
            <p:cNvGrpSpPr/>
            <p:nvPr/>
          </p:nvGrpSpPr>
          <p:grpSpPr>
            <a:xfrm>
              <a:off x="6336842" y="3195457"/>
              <a:ext cx="291960" cy="291960"/>
              <a:chOff x="4120982" y="4027237"/>
              <a:chExt cx="291960" cy="291960"/>
            </a:xfrm>
          </p:grpSpPr>
          <p:sp>
            <p:nvSpPr>
              <p:cNvPr id="506" name="Google Shape;506;p5"/>
              <p:cNvSpPr/>
              <p:nvPr/>
            </p:nvSpPr>
            <p:spPr>
              <a:xfrm>
                <a:off x="4120982" y="4027237"/>
                <a:ext cx="291960" cy="29196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5"/>
              <p:cNvSpPr/>
              <p:nvPr/>
            </p:nvSpPr>
            <p:spPr>
              <a:xfrm>
                <a:off x="4199496" y="4105751"/>
                <a:ext cx="134932" cy="134932"/>
              </a:xfrm>
              <a:prstGeom prst="ellipse">
                <a:avLst/>
              </a:prstGeom>
              <a:solidFill>
                <a:srgbClr val="FFC000"/>
              </a:solidFill>
              <a:ln w="127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08" name="Google Shape;508;p5"/>
              <p:cNvCxnSpPr/>
              <p:nvPr/>
            </p:nvCxnSpPr>
            <p:spPr>
              <a:xfrm>
                <a:off x="4260102" y="4173217"/>
                <a:ext cx="148651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stealth" w="sm" len="sm"/>
              </a:ln>
            </p:spPr>
          </p:cxnSp>
        </p:grpSp>
      </p:grpSp>
      <p:cxnSp>
        <p:nvCxnSpPr>
          <p:cNvPr id="509" name="Google Shape;509;p5"/>
          <p:cNvCxnSpPr>
            <a:stCxn id="410" idx="2"/>
            <a:endCxn id="422" idx="6"/>
          </p:cNvCxnSpPr>
          <p:nvPr/>
        </p:nvCxnSpPr>
        <p:spPr>
          <a:xfrm flipH="1">
            <a:off x="5979165" y="2729562"/>
            <a:ext cx="914100" cy="1197600"/>
          </a:xfrm>
          <a:prstGeom prst="curvedConnector3">
            <a:avLst>
              <a:gd name="adj1" fmla="val 15509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0" name="Google Shape;510;p5"/>
          <p:cNvCxnSpPr>
            <a:stCxn id="410" idx="6"/>
            <a:endCxn id="438" idx="2"/>
          </p:cNvCxnSpPr>
          <p:nvPr/>
        </p:nvCxnSpPr>
        <p:spPr>
          <a:xfrm>
            <a:off x="7185225" y="2729562"/>
            <a:ext cx="725400" cy="1197600"/>
          </a:xfrm>
          <a:prstGeom prst="curvedConnector3">
            <a:avLst>
              <a:gd name="adj1" fmla="val 49993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1" name="Google Shape;511;p5"/>
          <p:cNvCxnSpPr>
            <a:stCxn id="410" idx="6"/>
            <a:endCxn id="450" idx="2"/>
          </p:cNvCxnSpPr>
          <p:nvPr/>
        </p:nvCxnSpPr>
        <p:spPr>
          <a:xfrm>
            <a:off x="7185225" y="2729562"/>
            <a:ext cx="2945100" cy="1197600"/>
          </a:xfrm>
          <a:prstGeom prst="curvedConnector3">
            <a:avLst>
              <a:gd name="adj1" fmla="val 64187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2" name="Google Shape;512;p5"/>
          <p:cNvCxnSpPr>
            <a:stCxn id="410" idx="6"/>
            <a:endCxn id="430" idx="2"/>
          </p:cNvCxnSpPr>
          <p:nvPr/>
        </p:nvCxnSpPr>
        <p:spPr>
          <a:xfrm rot="10800000" flipH="1">
            <a:off x="7185225" y="2554362"/>
            <a:ext cx="3114000" cy="1752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3" name="Google Shape;513;p5"/>
          <p:cNvCxnSpPr>
            <a:stCxn id="406" idx="6"/>
            <a:endCxn id="489" idx="0"/>
          </p:cNvCxnSpPr>
          <p:nvPr/>
        </p:nvCxnSpPr>
        <p:spPr>
          <a:xfrm>
            <a:off x="7190303" y="2385645"/>
            <a:ext cx="1033800" cy="802200"/>
          </a:xfrm>
          <a:prstGeom prst="curvedConnector2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4" name="Google Shape;514;p5"/>
          <p:cNvCxnSpPr>
            <a:stCxn id="434" idx="6"/>
            <a:endCxn id="466" idx="2"/>
          </p:cNvCxnSpPr>
          <p:nvPr/>
        </p:nvCxnSpPr>
        <p:spPr>
          <a:xfrm>
            <a:off x="6319434" y="4271014"/>
            <a:ext cx="1904700" cy="10962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FFC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5" name="Google Shape;515;p5"/>
          <p:cNvCxnSpPr>
            <a:stCxn id="446" idx="4"/>
            <a:endCxn id="466" idx="0"/>
          </p:cNvCxnSpPr>
          <p:nvPr/>
        </p:nvCxnSpPr>
        <p:spPr>
          <a:xfrm rot="5400000">
            <a:off x="7981472" y="4805644"/>
            <a:ext cx="804000" cy="26700"/>
          </a:xfrm>
          <a:prstGeom prst="curvedConnector3">
            <a:avLst>
              <a:gd name="adj1" fmla="val 50008"/>
            </a:avLst>
          </a:prstGeom>
          <a:noFill/>
          <a:ln w="19050" cap="flat" cmpd="sng">
            <a:solidFill>
              <a:srgbClr val="FFC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6" name="Google Shape;516;p5"/>
          <p:cNvCxnSpPr>
            <a:stCxn id="458" idx="4"/>
            <a:endCxn id="466" idx="6"/>
          </p:cNvCxnSpPr>
          <p:nvPr/>
        </p:nvCxnSpPr>
        <p:spPr>
          <a:xfrm rot="5400000">
            <a:off x="9091351" y="3841744"/>
            <a:ext cx="950100" cy="2100600"/>
          </a:xfrm>
          <a:prstGeom prst="curvedConnector2">
            <a:avLst/>
          </a:prstGeom>
          <a:noFill/>
          <a:ln w="19050" cap="flat" cmpd="sng">
            <a:solidFill>
              <a:srgbClr val="FFC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"/>
          <p:cNvSpPr/>
          <p:nvPr/>
        </p:nvSpPr>
        <p:spPr>
          <a:xfrm>
            <a:off x="4867436" y="1798680"/>
            <a:ext cx="6713377" cy="421973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2" name="Google Shape;52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1059" y="1827811"/>
            <a:ext cx="6669754" cy="4259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ko-KR"/>
              <a:t>스냅샷 관리 대시보드</a:t>
            </a:r>
            <a:endParaRPr/>
          </a:p>
        </p:txBody>
      </p:sp>
      <p:sp>
        <p:nvSpPr>
          <p:cNvPr id="524" name="Google Shape;524;p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/>
              <a:t>가상머신 스냅샷 목록, 용량 분포, 데이터스토어 용량 추세를 한눈에 확인하고 선제적 장애 예방을 할 수 있는 대시보드입니다.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525" name="Google Shape;525;p6"/>
          <p:cNvSpPr txBox="1"/>
          <p:nvPr/>
        </p:nvSpPr>
        <p:spPr>
          <a:xfrm>
            <a:off x="4867436" y="1490903"/>
            <a:ext cx="6713377" cy="30777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[VCF Value Pack] 1. Basic &gt; [VCF-13] 스냅샷 관리 대시보드</a:t>
            </a:r>
            <a:endParaRPr sz="1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6"/>
          <p:cNvSpPr/>
          <p:nvPr/>
        </p:nvSpPr>
        <p:spPr>
          <a:xfrm rot="-5400000">
            <a:off x="2079450" y="3444529"/>
            <a:ext cx="4987142" cy="588829"/>
          </a:xfrm>
          <a:prstGeom prst="triangle">
            <a:avLst>
              <a:gd name="adj" fmla="val 50000"/>
            </a:avLst>
          </a:prstGeom>
          <a:gradFill>
            <a:gsLst>
              <a:gs pos="0">
                <a:srgbClr val="808080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6"/>
          <p:cNvSpPr/>
          <p:nvPr/>
        </p:nvSpPr>
        <p:spPr>
          <a:xfrm>
            <a:off x="940287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8" name="Google Shape;528;p6"/>
          <p:cNvSpPr/>
          <p:nvPr/>
        </p:nvSpPr>
        <p:spPr>
          <a:xfrm>
            <a:off x="7166116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9" name="Google Shape;529;p6"/>
          <p:cNvSpPr/>
          <p:nvPr/>
        </p:nvSpPr>
        <p:spPr>
          <a:xfrm>
            <a:off x="492298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0" name="Google Shape;530;p6"/>
          <p:cNvSpPr/>
          <p:nvPr/>
        </p:nvSpPr>
        <p:spPr>
          <a:xfrm>
            <a:off x="-2051" y="1436614"/>
            <a:ext cx="4620823" cy="5430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75" tIns="45700" rIns="45707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None/>
            </a:pPr>
            <a:r>
              <a:rPr lang="ko-KR" sz="20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VCF Value Pack – Basic</a:t>
            </a:r>
            <a:endParaRPr/>
          </a:p>
        </p:txBody>
      </p:sp>
      <p:sp>
        <p:nvSpPr>
          <p:cNvPr id="531" name="Google Shape;531;p6"/>
          <p:cNvSpPr/>
          <p:nvPr/>
        </p:nvSpPr>
        <p:spPr>
          <a:xfrm>
            <a:off x="472882" y="2082297"/>
            <a:ext cx="3554882" cy="4249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25" tIns="274225" rIns="274225" bIns="1828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스냅샷 용량별 VM 분포</a:t>
            </a: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에서는 최소 및 최대 용량을 기준으로 5개의 그룹으로 분포를 확인하여 전반적인 현황을 파악할 수 있습니다.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스냅샷 전체 현황</a:t>
            </a: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에서는 스냅샷의 경과 기간 순으로 용량 정보를 목록 형태로 제공합니다.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목록에서 항목을 클릭하면 해당 </a:t>
            </a:r>
            <a:r>
              <a:rPr lang="ko-K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스냅샷 상세 정보</a:t>
            </a: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와 연동되며, 이를 통해 해당 VM이 위치한 </a:t>
            </a:r>
            <a:r>
              <a:rPr lang="ko-K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데이터스토어 용량 추세</a:t>
            </a: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를 확인하여 용량 현황을 파악할 수 있습니다.</a:t>
            </a:r>
            <a:endParaRPr/>
          </a:p>
        </p:txBody>
      </p:sp>
      <p:sp>
        <p:nvSpPr>
          <p:cNvPr id="532" name="Google Shape;532;p6"/>
          <p:cNvSpPr/>
          <p:nvPr/>
        </p:nvSpPr>
        <p:spPr>
          <a:xfrm>
            <a:off x="4932629" y="2082297"/>
            <a:ext cx="3806537" cy="255637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6"/>
          <p:cNvSpPr/>
          <p:nvPr/>
        </p:nvSpPr>
        <p:spPr>
          <a:xfrm>
            <a:off x="8835656" y="3405128"/>
            <a:ext cx="2648668" cy="1233544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6"/>
          <p:cNvSpPr/>
          <p:nvPr/>
        </p:nvSpPr>
        <p:spPr>
          <a:xfrm>
            <a:off x="8835656" y="2100233"/>
            <a:ext cx="2648668" cy="1217614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5" name="Google Shape;535;p6"/>
          <p:cNvGrpSpPr/>
          <p:nvPr/>
        </p:nvGrpSpPr>
        <p:grpSpPr>
          <a:xfrm>
            <a:off x="6673104" y="2957243"/>
            <a:ext cx="291960" cy="291960"/>
            <a:chOff x="3699402" y="4197490"/>
            <a:chExt cx="291960" cy="291960"/>
          </a:xfrm>
        </p:grpSpPr>
        <p:sp>
          <p:nvSpPr>
            <p:cNvPr id="536" name="Google Shape;536;p6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6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6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9" name="Google Shape;539;p6"/>
          <p:cNvGrpSpPr/>
          <p:nvPr/>
        </p:nvGrpSpPr>
        <p:grpSpPr>
          <a:xfrm>
            <a:off x="6668026" y="3301160"/>
            <a:ext cx="291960" cy="291960"/>
            <a:chOff x="4120982" y="4027237"/>
            <a:chExt cx="291960" cy="291960"/>
          </a:xfrm>
        </p:grpSpPr>
        <p:sp>
          <p:nvSpPr>
            <p:cNvPr id="540" name="Google Shape;540;p6"/>
            <p:cNvSpPr/>
            <p:nvPr/>
          </p:nvSpPr>
          <p:spPr>
            <a:xfrm>
              <a:off x="4120982" y="4027237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6"/>
            <p:cNvSpPr/>
            <p:nvPr/>
          </p:nvSpPr>
          <p:spPr>
            <a:xfrm>
              <a:off x="4199496" y="4105751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2" name="Google Shape;542;p6"/>
            <p:cNvCxnSpPr/>
            <p:nvPr/>
          </p:nvCxnSpPr>
          <p:spPr>
            <a:xfrm>
              <a:off x="4260102" y="4173217"/>
              <a:ext cx="148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sm" len="sm"/>
            </a:ln>
          </p:spPr>
        </p:cxnSp>
      </p:grpSp>
      <p:grpSp>
        <p:nvGrpSpPr>
          <p:cNvPr id="543" name="Google Shape;543;p6"/>
          <p:cNvGrpSpPr/>
          <p:nvPr/>
        </p:nvGrpSpPr>
        <p:grpSpPr>
          <a:xfrm>
            <a:off x="10023839" y="2439699"/>
            <a:ext cx="291960" cy="291960"/>
            <a:chOff x="3699402" y="4197490"/>
            <a:chExt cx="291960" cy="291960"/>
          </a:xfrm>
        </p:grpSpPr>
        <p:sp>
          <p:nvSpPr>
            <p:cNvPr id="544" name="Google Shape;544;p6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6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6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7" name="Google Shape;547;p6"/>
          <p:cNvGrpSpPr/>
          <p:nvPr/>
        </p:nvGrpSpPr>
        <p:grpSpPr>
          <a:xfrm>
            <a:off x="10018761" y="2783616"/>
            <a:ext cx="291960" cy="291960"/>
            <a:chOff x="4120982" y="4027237"/>
            <a:chExt cx="291960" cy="291960"/>
          </a:xfrm>
        </p:grpSpPr>
        <p:sp>
          <p:nvSpPr>
            <p:cNvPr id="548" name="Google Shape;548;p6"/>
            <p:cNvSpPr/>
            <p:nvPr/>
          </p:nvSpPr>
          <p:spPr>
            <a:xfrm>
              <a:off x="4120982" y="4027237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6"/>
            <p:cNvSpPr/>
            <p:nvPr/>
          </p:nvSpPr>
          <p:spPr>
            <a:xfrm>
              <a:off x="4199496" y="4105751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0" name="Google Shape;550;p6"/>
            <p:cNvCxnSpPr/>
            <p:nvPr/>
          </p:nvCxnSpPr>
          <p:spPr>
            <a:xfrm>
              <a:off x="4260102" y="4173217"/>
              <a:ext cx="148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sm" len="sm"/>
            </a:ln>
          </p:spPr>
        </p:cxnSp>
      </p:grpSp>
      <p:grpSp>
        <p:nvGrpSpPr>
          <p:cNvPr id="551" name="Google Shape;551;p6"/>
          <p:cNvGrpSpPr/>
          <p:nvPr/>
        </p:nvGrpSpPr>
        <p:grpSpPr>
          <a:xfrm>
            <a:off x="10023839" y="3819835"/>
            <a:ext cx="291960" cy="291960"/>
            <a:chOff x="3699402" y="4197490"/>
            <a:chExt cx="291960" cy="291960"/>
          </a:xfrm>
        </p:grpSpPr>
        <p:sp>
          <p:nvSpPr>
            <p:cNvPr id="552" name="Google Shape;552;p6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6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6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5" name="Google Shape;555;p6"/>
          <p:cNvGrpSpPr/>
          <p:nvPr/>
        </p:nvGrpSpPr>
        <p:grpSpPr>
          <a:xfrm>
            <a:off x="10018761" y="4163752"/>
            <a:ext cx="291960" cy="291960"/>
            <a:chOff x="4120982" y="4027237"/>
            <a:chExt cx="291960" cy="291960"/>
          </a:xfrm>
        </p:grpSpPr>
        <p:sp>
          <p:nvSpPr>
            <p:cNvPr id="556" name="Google Shape;556;p6"/>
            <p:cNvSpPr/>
            <p:nvPr/>
          </p:nvSpPr>
          <p:spPr>
            <a:xfrm>
              <a:off x="4120982" y="4027237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6"/>
            <p:cNvSpPr/>
            <p:nvPr/>
          </p:nvSpPr>
          <p:spPr>
            <a:xfrm>
              <a:off x="4199496" y="4105751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8" name="Google Shape;558;p6"/>
            <p:cNvCxnSpPr/>
            <p:nvPr/>
          </p:nvCxnSpPr>
          <p:spPr>
            <a:xfrm>
              <a:off x="4260102" y="4173217"/>
              <a:ext cx="148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sm" len="sm"/>
            </a:ln>
          </p:spPr>
        </p:cxnSp>
      </p:grpSp>
      <p:grpSp>
        <p:nvGrpSpPr>
          <p:cNvPr id="559" name="Google Shape;559;p6"/>
          <p:cNvGrpSpPr/>
          <p:nvPr/>
        </p:nvGrpSpPr>
        <p:grpSpPr>
          <a:xfrm>
            <a:off x="6673104" y="4942332"/>
            <a:ext cx="291960" cy="291960"/>
            <a:chOff x="3699402" y="4197490"/>
            <a:chExt cx="291960" cy="291960"/>
          </a:xfrm>
        </p:grpSpPr>
        <p:sp>
          <p:nvSpPr>
            <p:cNvPr id="560" name="Google Shape;560;p6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6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6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3" name="Google Shape;563;p6"/>
          <p:cNvGrpSpPr/>
          <p:nvPr/>
        </p:nvGrpSpPr>
        <p:grpSpPr>
          <a:xfrm>
            <a:off x="6668026" y="5286249"/>
            <a:ext cx="291960" cy="291960"/>
            <a:chOff x="4120982" y="4027237"/>
            <a:chExt cx="291960" cy="291960"/>
          </a:xfrm>
        </p:grpSpPr>
        <p:sp>
          <p:nvSpPr>
            <p:cNvPr id="564" name="Google Shape;564;p6"/>
            <p:cNvSpPr/>
            <p:nvPr/>
          </p:nvSpPr>
          <p:spPr>
            <a:xfrm>
              <a:off x="4120982" y="4027237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6"/>
            <p:cNvSpPr/>
            <p:nvPr/>
          </p:nvSpPr>
          <p:spPr>
            <a:xfrm>
              <a:off x="4199496" y="4105751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6" name="Google Shape;566;p6"/>
            <p:cNvCxnSpPr/>
            <p:nvPr/>
          </p:nvCxnSpPr>
          <p:spPr>
            <a:xfrm>
              <a:off x="4260102" y="4173217"/>
              <a:ext cx="148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sm" len="sm"/>
            </a:ln>
          </p:spPr>
        </p:cxnSp>
      </p:grpSp>
      <p:cxnSp>
        <p:nvCxnSpPr>
          <p:cNvPr id="567" name="Google Shape;567;p6"/>
          <p:cNvCxnSpPr>
            <a:stCxn id="540" idx="4"/>
            <a:endCxn id="560" idx="0"/>
          </p:cNvCxnSpPr>
          <p:nvPr/>
        </p:nvCxnSpPr>
        <p:spPr>
          <a:xfrm rot="-5400000" flipH="1">
            <a:off x="6142006" y="4265120"/>
            <a:ext cx="1349100" cy="5100"/>
          </a:xfrm>
          <a:prstGeom prst="curvedConnector3">
            <a:avLst>
              <a:gd name="adj1" fmla="val 50004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8" name="Google Shape;568;p6"/>
          <p:cNvCxnSpPr>
            <a:stCxn id="540" idx="6"/>
            <a:endCxn id="569" idx="2"/>
          </p:cNvCxnSpPr>
          <p:nvPr/>
        </p:nvCxnSpPr>
        <p:spPr>
          <a:xfrm>
            <a:off x="6959986" y="3447140"/>
            <a:ext cx="3063900" cy="1473900"/>
          </a:xfrm>
          <a:prstGeom prst="curvedConnector3">
            <a:avLst>
              <a:gd name="adj1" fmla="val 49999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0" name="Google Shape;570;p6"/>
          <p:cNvSpPr/>
          <p:nvPr/>
        </p:nvSpPr>
        <p:spPr>
          <a:xfrm>
            <a:off x="4924053" y="4701233"/>
            <a:ext cx="3806537" cy="1344937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6"/>
          <p:cNvSpPr/>
          <p:nvPr/>
        </p:nvSpPr>
        <p:spPr>
          <a:xfrm>
            <a:off x="8835656" y="4701233"/>
            <a:ext cx="2648668" cy="70181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6"/>
          <p:cNvSpPr/>
          <p:nvPr/>
        </p:nvSpPr>
        <p:spPr>
          <a:xfrm>
            <a:off x="8835656" y="5470456"/>
            <a:ext cx="2648668" cy="586379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3" name="Google Shape;573;p6"/>
          <p:cNvGrpSpPr/>
          <p:nvPr/>
        </p:nvGrpSpPr>
        <p:grpSpPr>
          <a:xfrm>
            <a:off x="10023839" y="4775010"/>
            <a:ext cx="291960" cy="291960"/>
            <a:chOff x="3699402" y="4197490"/>
            <a:chExt cx="291960" cy="291960"/>
          </a:xfrm>
        </p:grpSpPr>
        <p:sp>
          <p:nvSpPr>
            <p:cNvPr id="569" name="Google Shape;569;p6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6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6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6" name="Google Shape;576;p6"/>
          <p:cNvGrpSpPr/>
          <p:nvPr/>
        </p:nvGrpSpPr>
        <p:grpSpPr>
          <a:xfrm>
            <a:off x="10018761" y="5078467"/>
            <a:ext cx="291960" cy="291960"/>
            <a:chOff x="4120982" y="4027237"/>
            <a:chExt cx="291960" cy="291960"/>
          </a:xfrm>
        </p:grpSpPr>
        <p:sp>
          <p:nvSpPr>
            <p:cNvPr id="577" name="Google Shape;577;p6"/>
            <p:cNvSpPr/>
            <p:nvPr/>
          </p:nvSpPr>
          <p:spPr>
            <a:xfrm>
              <a:off x="4120982" y="4027237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6"/>
            <p:cNvSpPr/>
            <p:nvPr/>
          </p:nvSpPr>
          <p:spPr>
            <a:xfrm>
              <a:off x="4199496" y="4105751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9" name="Google Shape;579;p6"/>
            <p:cNvCxnSpPr/>
            <p:nvPr/>
          </p:nvCxnSpPr>
          <p:spPr>
            <a:xfrm>
              <a:off x="4260102" y="4173217"/>
              <a:ext cx="148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sm" len="sm"/>
            </a:ln>
          </p:spPr>
        </p:cxnSp>
      </p:grpSp>
      <p:grpSp>
        <p:nvGrpSpPr>
          <p:cNvPr id="580" name="Google Shape;580;p6"/>
          <p:cNvGrpSpPr/>
          <p:nvPr/>
        </p:nvGrpSpPr>
        <p:grpSpPr>
          <a:xfrm>
            <a:off x="10023839" y="5499695"/>
            <a:ext cx="291960" cy="291960"/>
            <a:chOff x="3699402" y="4197490"/>
            <a:chExt cx="291960" cy="291960"/>
          </a:xfrm>
        </p:grpSpPr>
        <p:sp>
          <p:nvSpPr>
            <p:cNvPr id="581" name="Google Shape;581;p6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6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6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4" name="Google Shape;584;p6"/>
          <p:cNvGrpSpPr/>
          <p:nvPr/>
        </p:nvGrpSpPr>
        <p:grpSpPr>
          <a:xfrm>
            <a:off x="10018761" y="5803152"/>
            <a:ext cx="291960" cy="291960"/>
            <a:chOff x="4120982" y="4027237"/>
            <a:chExt cx="291960" cy="291960"/>
          </a:xfrm>
        </p:grpSpPr>
        <p:sp>
          <p:nvSpPr>
            <p:cNvPr id="585" name="Google Shape;585;p6"/>
            <p:cNvSpPr/>
            <p:nvPr/>
          </p:nvSpPr>
          <p:spPr>
            <a:xfrm>
              <a:off x="4120982" y="4027237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6"/>
            <p:cNvSpPr/>
            <p:nvPr/>
          </p:nvSpPr>
          <p:spPr>
            <a:xfrm>
              <a:off x="4199496" y="4105751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7" name="Google Shape;587;p6"/>
            <p:cNvCxnSpPr/>
            <p:nvPr/>
          </p:nvCxnSpPr>
          <p:spPr>
            <a:xfrm>
              <a:off x="4260102" y="4173217"/>
              <a:ext cx="148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sm" len="sm"/>
            </a:ln>
          </p:spPr>
        </p:cxnSp>
      </p:grpSp>
      <p:cxnSp>
        <p:nvCxnSpPr>
          <p:cNvPr id="588" name="Google Shape;588;p6"/>
          <p:cNvCxnSpPr>
            <a:stCxn id="540" idx="6"/>
            <a:endCxn id="581" idx="2"/>
          </p:cNvCxnSpPr>
          <p:nvPr/>
        </p:nvCxnSpPr>
        <p:spPr>
          <a:xfrm>
            <a:off x="6959986" y="3447140"/>
            <a:ext cx="3063900" cy="2198400"/>
          </a:xfrm>
          <a:prstGeom prst="curvedConnector3">
            <a:avLst>
              <a:gd name="adj1" fmla="val 49999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"/>
          <p:cNvSpPr/>
          <p:nvPr/>
        </p:nvSpPr>
        <p:spPr>
          <a:xfrm>
            <a:off x="4867436" y="1798680"/>
            <a:ext cx="6713377" cy="421973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4" name="Google Shape;59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1059" y="1827811"/>
            <a:ext cx="6669754" cy="4259637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ko-KR"/>
              <a:t>VM OS 용량 관리 대시보드</a:t>
            </a:r>
            <a:endParaRPr/>
          </a:p>
        </p:txBody>
      </p:sp>
      <p:sp>
        <p:nvSpPr>
          <p:cNvPr id="596" name="Google Shape;596;p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/>
              <a:t>가상머신의 OS 용량을 파티션별로 사용율 및 용량 증감을 파악하는 대시보드입니다. 해당 정보는 VMware Tools 를 통해서 수집됩니다.</a:t>
            </a:r>
            <a:endParaRPr/>
          </a:p>
        </p:txBody>
      </p:sp>
      <p:sp>
        <p:nvSpPr>
          <p:cNvPr id="597" name="Google Shape;597;p7"/>
          <p:cNvSpPr txBox="1"/>
          <p:nvPr/>
        </p:nvSpPr>
        <p:spPr>
          <a:xfrm>
            <a:off x="4867436" y="1490903"/>
            <a:ext cx="6713377" cy="30777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[VCF Value Pack] 1. Basic &gt; [VCF-14] VM OS 용량 관리 대시보드</a:t>
            </a:r>
            <a:endParaRPr sz="1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7"/>
          <p:cNvSpPr/>
          <p:nvPr/>
        </p:nvSpPr>
        <p:spPr>
          <a:xfrm rot="-5400000">
            <a:off x="2079450" y="3444529"/>
            <a:ext cx="4987142" cy="588829"/>
          </a:xfrm>
          <a:prstGeom prst="triangle">
            <a:avLst>
              <a:gd name="adj" fmla="val 50000"/>
            </a:avLst>
          </a:prstGeom>
          <a:gradFill>
            <a:gsLst>
              <a:gs pos="0">
                <a:srgbClr val="808080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7"/>
          <p:cNvSpPr/>
          <p:nvPr/>
        </p:nvSpPr>
        <p:spPr>
          <a:xfrm>
            <a:off x="940287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0" name="Google Shape;600;p7"/>
          <p:cNvSpPr/>
          <p:nvPr/>
        </p:nvSpPr>
        <p:spPr>
          <a:xfrm>
            <a:off x="7166116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1" name="Google Shape;601;p7"/>
          <p:cNvSpPr/>
          <p:nvPr/>
        </p:nvSpPr>
        <p:spPr>
          <a:xfrm>
            <a:off x="492298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2" name="Google Shape;602;p7"/>
          <p:cNvSpPr/>
          <p:nvPr/>
        </p:nvSpPr>
        <p:spPr>
          <a:xfrm>
            <a:off x="-2051" y="1436614"/>
            <a:ext cx="4620823" cy="5430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75" tIns="45700" rIns="45707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None/>
            </a:pPr>
            <a:r>
              <a:rPr lang="ko-KR" sz="20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VCF Value Pack – Basic</a:t>
            </a:r>
            <a:endParaRPr/>
          </a:p>
        </p:txBody>
      </p:sp>
      <p:sp>
        <p:nvSpPr>
          <p:cNvPr id="603" name="Google Shape;603;p7"/>
          <p:cNvSpPr/>
          <p:nvPr/>
        </p:nvSpPr>
        <p:spPr>
          <a:xfrm>
            <a:off x="472882" y="2082297"/>
            <a:ext cx="3554882" cy="4249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25" tIns="274225" rIns="274225" bIns="1828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VM별 디스크 사용 현황</a:t>
            </a: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에서는 파티션별 사용율 및 용량 증감을 파악하며 해당 파티션을 클릭하면 </a:t>
            </a:r>
            <a:r>
              <a:rPr lang="ko-K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각 파티션 사용 현황 </a:t>
            </a: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에서 해당 VM 의 전체 파티션 용량을 확인합니다.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게스트 파일 시스템 사용율 추세</a:t>
            </a: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에서는 해당 VM 의 OS 용량 전체의 추세를 확인합니다.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각 파티션별 추세를 확인하기 위해서는 </a:t>
            </a:r>
            <a:r>
              <a:rPr lang="ko-K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Guest File System 검색 해서 메트릭 더블 클릭</a:t>
            </a: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에서 원하는 파티션의 메트릭을 </a:t>
            </a:r>
            <a:r>
              <a:rPr lang="ko-K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Metric Chart</a:t>
            </a: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에서 분석합니다.</a:t>
            </a:r>
            <a:endParaRPr/>
          </a:p>
        </p:txBody>
      </p:sp>
      <p:sp>
        <p:nvSpPr>
          <p:cNvPr id="604" name="Google Shape;604;p7"/>
          <p:cNvSpPr/>
          <p:nvPr/>
        </p:nvSpPr>
        <p:spPr>
          <a:xfrm>
            <a:off x="4932629" y="2082298"/>
            <a:ext cx="3296641" cy="2000674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7"/>
          <p:cNvSpPr/>
          <p:nvPr/>
        </p:nvSpPr>
        <p:spPr>
          <a:xfrm>
            <a:off x="4932629" y="4181353"/>
            <a:ext cx="6551695" cy="827833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7"/>
          <p:cNvSpPr/>
          <p:nvPr/>
        </p:nvSpPr>
        <p:spPr>
          <a:xfrm>
            <a:off x="8294463" y="2100233"/>
            <a:ext cx="3189861" cy="1981092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7" name="Google Shape;607;p7"/>
          <p:cNvGrpSpPr/>
          <p:nvPr/>
        </p:nvGrpSpPr>
        <p:grpSpPr>
          <a:xfrm>
            <a:off x="6431222" y="2794175"/>
            <a:ext cx="291960" cy="291960"/>
            <a:chOff x="3699402" y="4197490"/>
            <a:chExt cx="291960" cy="291960"/>
          </a:xfrm>
        </p:grpSpPr>
        <p:sp>
          <p:nvSpPr>
            <p:cNvPr id="608" name="Google Shape;608;p7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7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7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1" name="Google Shape;611;p7"/>
          <p:cNvGrpSpPr/>
          <p:nvPr/>
        </p:nvGrpSpPr>
        <p:grpSpPr>
          <a:xfrm>
            <a:off x="6426144" y="3138092"/>
            <a:ext cx="291960" cy="291960"/>
            <a:chOff x="4120982" y="4027237"/>
            <a:chExt cx="291960" cy="291960"/>
          </a:xfrm>
        </p:grpSpPr>
        <p:sp>
          <p:nvSpPr>
            <p:cNvPr id="612" name="Google Shape;612;p7"/>
            <p:cNvSpPr/>
            <p:nvPr/>
          </p:nvSpPr>
          <p:spPr>
            <a:xfrm>
              <a:off x="4120982" y="4027237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7"/>
            <p:cNvSpPr/>
            <p:nvPr/>
          </p:nvSpPr>
          <p:spPr>
            <a:xfrm>
              <a:off x="4199496" y="4105751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4" name="Google Shape;614;p7"/>
            <p:cNvCxnSpPr/>
            <p:nvPr/>
          </p:nvCxnSpPr>
          <p:spPr>
            <a:xfrm>
              <a:off x="4260102" y="4173217"/>
              <a:ext cx="148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sm" len="sm"/>
            </a:ln>
          </p:spPr>
        </p:cxnSp>
      </p:grpSp>
      <p:grpSp>
        <p:nvGrpSpPr>
          <p:cNvPr id="615" name="Google Shape;615;p7"/>
          <p:cNvGrpSpPr/>
          <p:nvPr/>
        </p:nvGrpSpPr>
        <p:grpSpPr>
          <a:xfrm>
            <a:off x="9758749" y="2796680"/>
            <a:ext cx="291960" cy="291960"/>
            <a:chOff x="3699402" y="4197490"/>
            <a:chExt cx="291960" cy="291960"/>
          </a:xfrm>
        </p:grpSpPr>
        <p:sp>
          <p:nvSpPr>
            <p:cNvPr id="616" name="Google Shape;616;p7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7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7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9" name="Google Shape;619;p7"/>
          <p:cNvGrpSpPr/>
          <p:nvPr/>
        </p:nvGrpSpPr>
        <p:grpSpPr>
          <a:xfrm>
            <a:off x="9753671" y="3140597"/>
            <a:ext cx="291960" cy="291960"/>
            <a:chOff x="4120982" y="4027237"/>
            <a:chExt cx="291960" cy="291960"/>
          </a:xfrm>
        </p:grpSpPr>
        <p:sp>
          <p:nvSpPr>
            <p:cNvPr id="620" name="Google Shape;620;p7"/>
            <p:cNvSpPr/>
            <p:nvPr/>
          </p:nvSpPr>
          <p:spPr>
            <a:xfrm>
              <a:off x="4120982" y="4027237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7"/>
            <p:cNvSpPr/>
            <p:nvPr/>
          </p:nvSpPr>
          <p:spPr>
            <a:xfrm>
              <a:off x="4199496" y="4105751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2" name="Google Shape;622;p7"/>
            <p:cNvCxnSpPr/>
            <p:nvPr/>
          </p:nvCxnSpPr>
          <p:spPr>
            <a:xfrm>
              <a:off x="4260102" y="4173217"/>
              <a:ext cx="148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sm" len="sm"/>
            </a:ln>
          </p:spPr>
        </p:cxnSp>
      </p:grpSp>
      <p:grpSp>
        <p:nvGrpSpPr>
          <p:cNvPr id="623" name="Google Shape;623;p7"/>
          <p:cNvGrpSpPr/>
          <p:nvPr/>
        </p:nvGrpSpPr>
        <p:grpSpPr>
          <a:xfrm>
            <a:off x="8065369" y="4284191"/>
            <a:ext cx="291960" cy="291960"/>
            <a:chOff x="3699402" y="4197490"/>
            <a:chExt cx="291960" cy="291960"/>
          </a:xfrm>
        </p:grpSpPr>
        <p:sp>
          <p:nvSpPr>
            <p:cNvPr id="624" name="Google Shape;624;p7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7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7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7" name="Google Shape;627;p7"/>
          <p:cNvGrpSpPr/>
          <p:nvPr/>
        </p:nvGrpSpPr>
        <p:grpSpPr>
          <a:xfrm>
            <a:off x="8060291" y="4628108"/>
            <a:ext cx="291960" cy="291960"/>
            <a:chOff x="4120982" y="4027237"/>
            <a:chExt cx="291960" cy="291960"/>
          </a:xfrm>
        </p:grpSpPr>
        <p:sp>
          <p:nvSpPr>
            <p:cNvPr id="628" name="Google Shape;628;p7"/>
            <p:cNvSpPr/>
            <p:nvPr/>
          </p:nvSpPr>
          <p:spPr>
            <a:xfrm>
              <a:off x="4120982" y="4027237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7"/>
            <p:cNvSpPr/>
            <p:nvPr/>
          </p:nvSpPr>
          <p:spPr>
            <a:xfrm>
              <a:off x="4199496" y="4105751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0" name="Google Shape;630;p7"/>
            <p:cNvCxnSpPr/>
            <p:nvPr/>
          </p:nvCxnSpPr>
          <p:spPr>
            <a:xfrm>
              <a:off x="4260102" y="4173217"/>
              <a:ext cx="148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sm" len="sm"/>
            </a:ln>
          </p:spPr>
        </p:cxnSp>
      </p:grpSp>
      <p:cxnSp>
        <p:nvCxnSpPr>
          <p:cNvPr id="631" name="Google Shape;631;p7"/>
          <p:cNvCxnSpPr>
            <a:stCxn id="612" idx="4"/>
            <a:endCxn id="632" idx="0"/>
          </p:cNvCxnSpPr>
          <p:nvPr/>
        </p:nvCxnSpPr>
        <p:spPr>
          <a:xfrm rot="5400000">
            <a:off x="5368674" y="4110302"/>
            <a:ext cx="1883700" cy="5232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3" name="Google Shape;633;p7"/>
          <p:cNvCxnSpPr>
            <a:stCxn id="612" idx="6"/>
            <a:endCxn id="616" idx="2"/>
          </p:cNvCxnSpPr>
          <p:nvPr/>
        </p:nvCxnSpPr>
        <p:spPr>
          <a:xfrm rot="10800000" flipH="1">
            <a:off x="6718104" y="2942672"/>
            <a:ext cx="3040500" cy="341400"/>
          </a:xfrm>
          <a:prstGeom prst="curvedConnector3">
            <a:avLst>
              <a:gd name="adj1" fmla="val 50002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34" name="Google Shape;634;p7"/>
          <p:cNvSpPr/>
          <p:nvPr/>
        </p:nvSpPr>
        <p:spPr>
          <a:xfrm>
            <a:off x="4924053" y="5078467"/>
            <a:ext cx="2197457" cy="967703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7"/>
          <p:cNvSpPr/>
          <p:nvPr/>
        </p:nvSpPr>
        <p:spPr>
          <a:xfrm>
            <a:off x="7186703" y="5089134"/>
            <a:ext cx="4297621" cy="967702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6" name="Google Shape;636;p7"/>
          <p:cNvCxnSpPr>
            <a:stCxn id="612" idx="6"/>
            <a:endCxn id="624" idx="2"/>
          </p:cNvCxnSpPr>
          <p:nvPr/>
        </p:nvCxnSpPr>
        <p:spPr>
          <a:xfrm>
            <a:off x="6718104" y="3284072"/>
            <a:ext cx="1347300" cy="1146000"/>
          </a:xfrm>
          <a:prstGeom prst="curvedConnector3">
            <a:avLst>
              <a:gd name="adj1" fmla="val 49999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37" name="Google Shape;637;p7"/>
          <p:cNvGrpSpPr/>
          <p:nvPr/>
        </p:nvGrpSpPr>
        <p:grpSpPr>
          <a:xfrm>
            <a:off x="5902901" y="5313792"/>
            <a:ext cx="291960" cy="291960"/>
            <a:chOff x="3699402" y="4197490"/>
            <a:chExt cx="291960" cy="291960"/>
          </a:xfrm>
        </p:grpSpPr>
        <p:sp>
          <p:nvSpPr>
            <p:cNvPr id="632" name="Google Shape;632;p7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7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7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0" name="Google Shape;640;p7"/>
          <p:cNvGrpSpPr/>
          <p:nvPr/>
        </p:nvGrpSpPr>
        <p:grpSpPr>
          <a:xfrm>
            <a:off x="5901900" y="5638102"/>
            <a:ext cx="291960" cy="291960"/>
            <a:chOff x="4120982" y="4027237"/>
            <a:chExt cx="291960" cy="291960"/>
          </a:xfrm>
        </p:grpSpPr>
        <p:sp>
          <p:nvSpPr>
            <p:cNvPr id="641" name="Google Shape;641;p7"/>
            <p:cNvSpPr/>
            <p:nvPr/>
          </p:nvSpPr>
          <p:spPr>
            <a:xfrm>
              <a:off x="4120982" y="4027237"/>
              <a:ext cx="291960" cy="291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7"/>
            <p:cNvSpPr/>
            <p:nvPr/>
          </p:nvSpPr>
          <p:spPr>
            <a:xfrm>
              <a:off x="4199496" y="4105751"/>
              <a:ext cx="134932" cy="134932"/>
            </a:xfrm>
            <a:prstGeom prst="ellipse">
              <a:avLst/>
            </a:prstGeom>
            <a:solidFill>
              <a:srgbClr val="FFC00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3" name="Google Shape;643;p7"/>
            <p:cNvCxnSpPr/>
            <p:nvPr/>
          </p:nvCxnSpPr>
          <p:spPr>
            <a:xfrm>
              <a:off x="4260102" y="4173217"/>
              <a:ext cx="148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sm" len="sm"/>
            </a:ln>
          </p:spPr>
        </p:cxnSp>
      </p:grpSp>
      <p:grpSp>
        <p:nvGrpSpPr>
          <p:cNvPr id="644" name="Google Shape;644;p7"/>
          <p:cNvGrpSpPr/>
          <p:nvPr/>
        </p:nvGrpSpPr>
        <p:grpSpPr>
          <a:xfrm>
            <a:off x="9477480" y="5459772"/>
            <a:ext cx="291960" cy="291960"/>
            <a:chOff x="3699402" y="4197490"/>
            <a:chExt cx="291960" cy="291960"/>
          </a:xfrm>
        </p:grpSpPr>
        <p:sp>
          <p:nvSpPr>
            <p:cNvPr id="645" name="Google Shape;645;p7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7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7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8" name="Google Shape;648;p7"/>
          <p:cNvGrpSpPr/>
          <p:nvPr/>
        </p:nvGrpSpPr>
        <p:grpSpPr>
          <a:xfrm>
            <a:off x="9126703" y="5452183"/>
            <a:ext cx="291960" cy="291960"/>
            <a:chOff x="3699402" y="4197490"/>
            <a:chExt cx="291960" cy="291960"/>
          </a:xfrm>
        </p:grpSpPr>
        <p:sp>
          <p:nvSpPr>
            <p:cNvPr id="649" name="Google Shape;649;p7"/>
            <p:cNvSpPr/>
            <p:nvPr/>
          </p:nvSpPr>
          <p:spPr>
            <a:xfrm>
              <a:off x="3699402" y="4197490"/>
              <a:ext cx="291960" cy="291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7"/>
            <p:cNvSpPr/>
            <p:nvPr/>
          </p:nvSpPr>
          <p:spPr>
            <a:xfrm>
              <a:off x="3777916" y="4276004"/>
              <a:ext cx="134932" cy="134932"/>
            </a:xfrm>
            <a:prstGeom prst="ellipse">
              <a:avLst/>
            </a:prstGeom>
            <a:solidFill>
              <a:srgbClr val="FFC00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7"/>
            <p:cNvSpPr/>
            <p:nvPr/>
          </p:nvSpPr>
          <p:spPr>
            <a:xfrm>
              <a:off x="3822523" y="4320611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52" name="Google Shape;652;p7"/>
          <p:cNvCxnSpPr>
            <a:stCxn id="641" idx="6"/>
            <a:endCxn id="649" idx="2"/>
          </p:cNvCxnSpPr>
          <p:nvPr/>
        </p:nvCxnSpPr>
        <p:spPr>
          <a:xfrm rot="10800000" flipH="1">
            <a:off x="6193860" y="5598082"/>
            <a:ext cx="2932800" cy="1860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FFC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9722" y="2493720"/>
            <a:ext cx="3554882" cy="2243032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ko-KR"/>
              <a:t>VCF Value Pack</a:t>
            </a:r>
            <a:endParaRPr/>
          </a:p>
        </p:txBody>
      </p:sp>
      <p:sp>
        <p:nvSpPr>
          <p:cNvPr id="660" name="Google Shape;660;p8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/>
              <a:t>본 문서의 대시보드는 VCF Value Pack – Basic 을 제공하며, 별도의 Workshop 및 작업이 필요한 대시보드는 Add-on Pack 에서 별도의 서비스를 통해 지원합니다.</a:t>
            </a:r>
            <a:endParaRPr/>
          </a:p>
        </p:txBody>
      </p:sp>
      <p:pic>
        <p:nvPicPr>
          <p:cNvPr id="661" name="Google Shape;66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2308" y="2493720"/>
            <a:ext cx="3227933" cy="2593772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8"/>
          <p:cNvSpPr/>
          <p:nvPr/>
        </p:nvSpPr>
        <p:spPr>
          <a:xfrm>
            <a:off x="-2052" y="1436614"/>
            <a:ext cx="3879784" cy="5430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75" tIns="45700" rIns="45707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None/>
            </a:pPr>
            <a:r>
              <a:rPr lang="ko-KR" sz="2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Basic</a:t>
            </a:r>
            <a:endParaRPr sz="2800" b="1" i="1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8"/>
          <p:cNvSpPr/>
          <p:nvPr/>
        </p:nvSpPr>
        <p:spPr>
          <a:xfrm>
            <a:off x="236112" y="4736753"/>
            <a:ext cx="11513713" cy="127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4" name="Google Shape;664;p8"/>
          <p:cNvGrpSpPr/>
          <p:nvPr/>
        </p:nvGrpSpPr>
        <p:grpSpPr>
          <a:xfrm>
            <a:off x="1708656" y="2089828"/>
            <a:ext cx="655236" cy="592428"/>
            <a:chOff x="-47223" y="2893454"/>
            <a:chExt cx="655236" cy="592428"/>
          </a:xfrm>
        </p:grpSpPr>
        <p:sp>
          <p:nvSpPr>
            <p:cNvPr id="665" name="Google Shape;665;p8"/>
            <p:cNvSpPr/>
            <p:nvPr/>
          </p:nvSpPr>
          <p:spPr>
            <a:xfrm>
              <a:off x="-47223" y="2893454"/>
              <a:ext cx="655236" cy="592428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36550" y="2969654"/>
              <a:ext cx="487689" cy="44002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ko-KR" sz="3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7" name="Google Shape;667;p8"/>
          <p:cNvGrpSpPr/>
          <p:nvPr/>
        </p:nvGrpSpPr>
        <p:grpSpPr>
          <a:xfrm>
            <a:off x="6129545" y="2089828"/>
            <a:ext cx="655236" cy="592428"/>
            <a:chOff x="-47223" y="2893454"/>
            <a:chExt cx="655236" cy="592428"/>
          </a:xfrm>
        </p:grpSpPr>
        <p:sp>
          <p:nvSpPr>
            <p:cNvPr id="668" name="Google Shape;668;p8"/>
            <p:cNvSpPr/>
            <p:nvPr/>
          </p:nvSpPr>
          <p:spPr>
            <a:xfrm>
              <a:off x="-47223" y="2893454"/>
              <a:ext cx="655236" cy="592428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36550" y="2969654"/>
              <a:ext cx="487689" cy="44002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ko-KR" sz="3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70" name="Google Shape;67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60039" y="2742755"/>
            <a:ext cx="3125942" cy="199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1" name="Google Shape;671;p8"/>
          <p:cNvGrpSpPr/>
          <p:nvPr/>
        </p:nvGrpSpPr>
        <p:grpSpPr>
          <a:xfrm>
            <a:off x="9595392" y="2089828"/>
            <a:ext cx="655236" cy="592428"/>
            <a:chOff x="-47223" y="2893454"/>
            <a:chExt cx="655236" cy="592428"/>
          </a:xfrm>
        </p:grpSpPr>
        <p:sp>
          <p:nvSpPr>
            <p:cNvPr id="672" name="Google Shape;672;p8"/>
            <p:cNvSpPr/>
            <p:nvPr/>
          </p:nvSpPr>
          <p:spPr>
            <a:xfrm>
              <a:off x="-47223" y="2893454"/>
              <a:ext cx="655236" cy="592428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36550" y="2969654"/>
              <a:ext cx="487689" cy="44002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ko-KR" sz="3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4" name="Google Shape;674;p8"/>
          <p:cNvSpPr/>
          <p:nvPr/>
        </p:nvSpPr>
        <p:spPr>
          <a:xfrm>
            <a:off x="8153933" y="4587448"/>
            <a:ext cx="3538155" cy="1736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25" tIns="274225" rIns="274225" bIns="1828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2000" b="1" i="0" u="none" strike="noStrike" cap="none">
                <a:solidFill>
                  <a:srgbClr val="007B8C"/>
                </a:solidFill>
                <a:latin typeface="Arial"/>
                <a:ea typeface="Arial"/>
                <a:cs typeface="Arial"/>
                <a:sym typeface="Arial"/>
              </a:rPr>
              <a:t>추가 메트릭 대시보드</a:t>
            </a:r>
            <a:endParaRPr sz="2000" b="1" i="0" u="none" strike="noStrike" cap="none">
              <a:solidFill>
                <a:srgbClr val="007B8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 API 를 활용하여 기본적으로 제공하지 않는 메트릭을 추가 수집한 대시보드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8"/>
          <p:cNvSpPr/>
          <p:nvPr/>
        </p:nvSpPr>
        <p:spPr>
          <a:xfrm>
            <a:off x="4554286" y="1442242"/>
            <a:ext cx="7634539" cy="543032"/>
          </a:xfrm>
          <a:prstGeom prst="rect">
            <a:avLst/>
          </a:prstGeom>
          <a:solidFill>
            <a:srgbClr val="007B8C"/>
          </a:solidFill>
          <a:ln>
            <a:noFill/>
          </a:ln>
        </p:spPr>
        <p:txBody>
          <a:bodyPr spcFirstLastPara="1" wrap="square" lIns="457075" tIns="45700" rIns="45707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None/>
            </a:pPr>
            <a:r>
              <a:rPr lang="ko-KR" sz="2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Add-on Pack</a:t>
            </a:r>
            <a:endParaRPr sz="2800" b="1" i="1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6" name="Google Shape;676;p8"/>
          <p:cNvCxnSpPr/>
          <p:nvPr/>
        </p:nvCxnSpPr>
        <p:spPr>
          <a:xfrm>
            <a:off x="4245289" y="1485089"/>
            <a:ext cx="0" cy="4531472"/>
          </a:xfrm>
          <a:prstGeom prst="straightConnector1">
            <a:avLst/>
          </a:prstGeom>
          <a:noFill/>
          <a:ln w="19050" cap="flat" cmpd="sng">
            <a:solidFill>
              <a:srgbClr val="00798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7" name="Google Shape;677;p8"/>
          <p:cNvSpPr/>
          <p:nvPr/>
        </p:nvSpPr>
        <p:spPr>
          <a:xfrm>
            <a:off x="258833" y="4587448"/>
            <a:ext cx="3554882" cy="1736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25" tIns="274225" rIns="274225" bIns="1828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2000" b="1" i="0" u="none" strike="noStrike" cap="none">
                <a:solidFill>
                  <a:srgbClr val="0098C7"/>
                </a:solidFill>
                <a:latin typeface="Arial"/>
                <a:ea typeface="Arial"/>
                <a:cs typeface="Arial"/>
                <a:sym typeface="Arial"/>
              </a:rPr>
              <a:t>클라우드 운영자 대시보드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다양한 고객들의 운영 경험이 녹아든 클라우드 운영 환경에 최적화된 대시보드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8"/>
          <p:cNvSpPr/>
          <p:nvPr/>
        </p:nvSpPr>
        <p:spPr>
          <a:xfrm>
            <a:off x="4688086" y="4587448"/>
            <a:ext cx="3538155" cy="1736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25" tIns="274225" rIns="274225" bIns="1828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2000" b="1" i="0" u="none" strike="noStrike" cap="none">
                <a:solidFill>
                  <a:srgbClr val="007B8C"/>
                </a:solidFill>
                <a:latin typeface="Arial"/>
                <a:ea typeface="Arial"/>
                <a:cs typeface="Arial"/>
                <a:sym typeface="Arial"/>
              </a:rPr>
              <a:t>맞춤형 운영자 대시보드</a:t>
            </a:r>
            <a:endParaRPr sz="2000" b="1" i="0" u="none" strike="noStrike" cap="none">
              <a:solidFill>
                <a:srgbClr val="007B8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Workshop 을 통해 고객 환경 및 요구사항에 맞춘 운영 대시보드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8"/>
          <p:cNvSpPr/>
          <p:nvPr/>
        </p:nvSpPr>
        <p:spPr>
          <a:xfrm>
            <a:off x="27159" y="1979646"/>
            <a:ext cx="3822075" cy="4344710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8"/>
          <p:cNvSpPr/>
          <p:nvPr/>
        </p:nvSpPr>
        <p:spPr>
          <a:xfrm>
            <a:off x="8375114" y="1979646"/>
            <a:ext cx="3822075" cy="4344710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9"/>
          <p:cNvSpPr/>
          <p:nvPr/>
        </p:nvSpPr>
        <p:spPr>
          <a:xfrm>
            <a:off x="4867436" y="1830010"/>
            <a:ext cx="6713377" cy="421973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9"/>
          <p:cNvSpPr/>
          <p:nvPr/>
        </p:nvSpPr>
        <p:spPr>
          <a:xfrm>
            <a:off x="4867436" y="1798680"/>
            <a:ext cx="6713377" cy="421973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7" name="Google Shape;68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6764" y="1912264"/>
            <a:ext cx="6641933" cy="3992563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ko-KR"/>
              <a:t>클러스터 리소스 대시보드</a:t>
            </a:r>
            <a:endParaRPr sz="2600"/>
          </a:p>
        </p:txBody>
      </p:sp>
      <p:sp>
        <p:nvSpPr>
          <p:cNvPr id="689" name="Google Shape;689;p9"/>
          <p:cNvSpPr/>
          <p:nvPr/>
        </p:nvSpPr>
        <p:spPr>
          <a:xfrm>
            <a:off x="-2051" y="1436614"/>
            <a:ext cx="4620823" cy="5430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75" tIns="45700" rIns="45707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VCF Add-on Pack – Advanced</a:t>
            </a:r>
            <a:endParaRPr/>
          </a:p>
        </p:txBody>
      </p:sp>
      <p:sp>
        <p:nvSpPr>
          <p:cNvPr id="690" name="Google Shape;690;p9"/>
          <p:cNvSpPr txBox="1"/>
          <p:nvPr/>
        </p:nvSpPr>
        <p:spPr>
          <a:xfrm>
            <a:off x="4867436" y="1490903"/>
            <a:ext cx="6713377" cy="3077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[VCF Value Pack] 2. Advanced &gt; [VCF-21] 클러스터 리소스 대시보드</a:t>
            </a:r>
            <a:endParaRPr sz="1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9"/>
          <p:cNvSpPr/>
          <p:nvPr/>
        </p:nvSpPr>
        <p:spPr>
          <a:xfrm rot="-5400000">
            <a:off x="2079450" y="3444529"/>
            <a:ext cx="4987142" cy="588829"/>
          </a:xfrm>
          <a:prstGeom prst="triangle">
            <a:avLst>
              <a:gd name="adj" fmla="val 50000"/>
            </a:avLst>
          </a:prstGeom>
          <a:gradFill>
            <a:gsLst>
              <a:gs pos="0">
                <a:srgbClr val="808080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9"/>
          <p:cNvSpPr/>
          <p:nvPr/>
        </p:nvSpPr>
        <p:spPr>
          <a:xfrm>
            <a:off x="940287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3" name="Google Shape;693;p9"/>
          <p:cNvSpPr/>
          <p:nvPr/>
        </p:nvSpPr>
        <p:spPr>
          <a:xfrm>
            <a:off x="7166116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4" name="Google Shape;694;p9"/>
          <p:cNvSpPr/>
          <p:nvPr/>
        </p:nvSpPr>
        <p:spPr>
          <a:xfrm>
            <a:off x="492298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5" name="Google Shape;695;p9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/>
              <a:t>클러스터 내 호스트의 Failover 를 고려하여 워크로드 스코어를 통해 리소스 최적화, 리소스 증설 계획의 근거를 제공합니다. 기준 값은 운영 기준에 맞게 선정해야 합니다.</a:t>
            </a:r>
            <a:endParaRPr/>
          </a:p>
        </p:txBody>
      </p:sp>
      <p:sp>
        <p:nvSpPr>
          <p:cNvPr id="696" name="Google Shape;696;p9"/>
          <p:cNvSpPr/>
          <p:nvPr/>
        </p:nvSpPr>
        <p:spPr>
          <a:xfrm>
            <a:off x="940287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7" name="Google Shape;697;p9"/>
          <p:cNvSpPr/>
          <p:nvPr/>
        </p:nvSpPr>
        <p:spPr>
          <a:xfrm>
            <a:off x="7166116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8" name="Google Shape;698;p9"/>
          <p:cNvSpPr/>
          <p:nvPr/>
        </p:nvSpPr>
        <p:spPr>
          <a:xfrm>
            <a:off x="492298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99" name="Google Shape;69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7212" y="2574780"/>
            <a:ext cx="3554882" cy="22430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0" name="Google Shape;700;p9"/>
          <p:cNvGrpSpPr/>
          <p:nvPr/>
        </p:nvGrpSpPr>
        <p:grpSpPr>
          <a:xfrm>
            <a:off x="1997035" y="2170888"/>
            <a:ext cx="655236" cy="592428"/>
            <a:chOff x="-47223" y="2893454"/>
            <a:chExt cx="655236" cy="592428"/>
          </a:xfrm>
        </p:grpSpPr>
        <p:sp>
          <p:nvSpPr>
            <p:cNvPr id="701" name="Google Shape;701;p9"/>
            <p:cNvSpPr/>
            <p:nvPr/>
          </p:nvSpPr>
          <p:spPr>
            <a:xfrm>
              <a:off x="-47223" y="2893454"/>
              <a:ext cx="655236" cy="592428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36550" y="2969654"/>
              <a:ext cx="487689" cy="44002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ko-KR" sz="3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3" name="Google Shape;703;p9"/>
          <p:cNvSpPr/>
          <p:nvPr/>
        </p:nvSpPr>
        <p:spPr>
          <a:xfrm>
            <a:off x="555576" y="4668508"/>
            <a:ext cx="3538155" cy="1736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25" tIns="274225" rIns="274225" bIns="1828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2000" b="1" i="0" u="none" strike="noStrike" cap="none">
                <a:solidFill>
                  <a:srgbClr val="007B8C"/>
                </a:solidFill>
                <a:latin typeface="Arial"/>
                <a:ea typeface="Arial"/>
                <a:cs typeface="Arial"/>
                <a:sym typeface="Arial"/>
              </a:rPr>
              <a:t>맞춤형 운영자 대시보드</a:t>
            </a:r>
            <a:endParaRPr sz="2000" b="1" i="0" u="none" strike="noStrike" cap="none">
              <a:solidFill>
                <a:srgbClr val="007B8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Workshop 을 통해 고객 환경 및 요구사항에 맞춘 운영 대시보드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ko-KR" sz="2600"/>
              <a:t>KPI 위반 대시보드</a:t>
            </a:r>
            <a:endParaRPr sz="2600"/>
          </a:p>
        </p:txBody>
      </p:sp>
      <p:sp>
        <p:nvSpPr>
          <p:cNvPr id="709" name="Google Shape;709;p10"/>
          <p:cNvSpPr/>
          <p:nvPr/>
        </p:nvSpPr>
        <p:spPr>
          <a:xfrm>
            <a:off x="-2051" y="1436614"/>
            <a:ext cx="4620823" cy="5430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75" tIns="45700" rIns="45707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VCF Add-on Pack – Advanced</a:t>
            </a:r>
            <a:endParaRPr/>
          </a:p>
        </p:txBody>
      </p:sp>
      <p:sp>
        <p:nvSpPr>
          <p:cNvPr id="710" name="Google Shape;710;p10"/>
          <p:cNvSpPr/>
          <p:nvPr/>
        </p:nvSpPr>
        <p:spPr>
          <a:xfrm>
            <a:off x="4867436" y="1830010"/>
            <a:ext cx="6713377" cy="421973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0"/>
          <p:cNvSpPr txBox="1"/>
          <p:nvPr/>
        </p:nvSpPr>
        <p:spPr>
          <a:xfrm>
            <a:off x="4867436" y="1490903"/>
            <a:ext cx="6713377" cy="3077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[VCF Value Pack] 2. Advanced &gt; [VCF-22] KPI 위반 대시보드</a:t>
            </a:r>
            <a:endParaRPr sz="1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0"/>
          <p:cNvSpPr/>
          <p:nvPr/>
        </p:nvSpPr>
        <p:spPr>
          <a:xfrm rot="-5400000">
            <a:off x="2079450" y="3444529"/>
            <a:ext cx="4987142" cy="588829"/>
          </a:xfrm>
          <a:prstGeom prst="triangle">
            <a:avLst>
              <a:gd name="adj" fmla="val 50000"/>
            </a:avLst>
          </a:prstGeom>
          <a:gradFill>
            <a:gsLst>
              <a:gs pos="0">
                <a:srgbClr val="808080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0"/>
          <p:cNvSpPr/>
          <p:nvPr/>
        </p:nvSpPr>
        <p:spPr>
          <a:xfrm>
            <a:off x="940287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4" name="Google Shape;714;p10"/>
          <p:cNvSpPr/>
          <p:nvPr/>
        </p:nvSpPr>
        <p:spPr>
          <a:xfrm>
            <a:off x="7166116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5" name="Google Shape;715;p10"/>
          <p:cNvSpPr/>
          <p:nvPr/>
        </p:nvSpPr>
        <p:spPr>
          <a:xfrm>
            <a:off x="492298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6" name="Google Shape;716;p10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/>
              <a:t>특정 기간 동안의 성능 기준 값을 초과하는 리소스를 확인합니다. 해당 항목은 운영 환경에 따라 기간, 성능 기준 값, 메트릭 항목을 정의합니다.</a:t>
            </a:r>
            <a:endParaRPr/>
          </a:p>
        </p:txBody>
      </p:sp>
      <p:sp>
        <p:nvSpPr>
          <p:cNvPr id="717" name="Google Shape;717;p10"/>
          <p:cNvSpPr/>
          <p:nvPr/>
        </p:nvSpPr>
        <p:spPr>
          <a:xfrm>
            <a:off x="4867436" y="1798680"/>
            <a:ext cx="6713377" cy="421973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10"/>
          <p:cNvSpPr/>
          <p:nvPr/>
        </p:nvSpPr>
        <p:spPr>
          <a:xfrm>
            <a:off x="940287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9" name="Google Shape;719;p10"/>
          <p:cNvSpPr/>
          <p:nvPr/>
        </p:nvSpPr>
        <p:spPr>
          <a:xfrm>
            <a:off x="7166116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0" name="Google Shape;720;p10"/>
          <p:cNvSpPr/>
          <p:nvPr/>
        </p:nvSpPr>
        <p:spPr>
          <a:xfrm>
            <a:off x="492298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721" name="Google Shape;72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67436" y="1872466"/>
            <a:ext cx="6661262" cy="384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7212" y="2574780"/>
            <a:ext cx="3554882" cy="22430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3" name="Google Shape;723;p10"/>
          <p:cNvGrpSpPr/>
          <p:nvPr/>
        </p:nvGrpSpPr>
        <p:grpSpPr>
          <a:xfrm>
            <a:off x="1997035" y="2170888"/>
            <a:ext cx="655236" cy="592428"/>
            <a:chOff x="-47223" y="2893454"/>
            <a:chExt cx="655236" cy="592428"/>
          </a:xfrm>
        </p:grpSpPr>
        <p:sp>
          <p:nvSpPr>
            <p:cNvPr id="724" name="Google Shape;724;p10"/>
            <p:cNvSpPr/>
            <p:nvPr/>
          </p:nvSpPr>
          <p:spPr>
            <a:xfrm>
              <a:off x="-47223" y="2893454"/>
              <a:ext cx="655236" cy="592428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10"/>
            <p:cNvSpPr/>
            <p:nvPr/>
          </p:nvSpPr>
          <p:spPr>
            <a:xfrm>
              <a:off x="36550" y="2969654"/>
              <a:ext cx="487689" cy="44002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ko-KR" sz="3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6" name="Google Shape;726;p10"/>
          <p:cNvSpPr/>
          <p:nvPr/>
        </p:nvSpPr>
        <p:spPr>
          <a:xfrm>
            <a:off x="555576" y="4668508"/>
            <a:ext cx="3538155" cy="1736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25" tIns="274225" rIns="274225" bIns="1828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2000" b="1" i="0" u="none" strike="noStrike" cap="none">
                <a:solidFill>
                  <a:srgbClr val="007B8C"/>
                </a:solidFill>
                <a:latin typeface="Arial"/>
                <a:ea typeface="Arial"/>
                <a:cs typeface="Arial"/>
                <a:sym typeface="Arial"/>
              </a:rPr>
              <a:t>맞춤형 운영자 대시보드</a:t>
            </a:r>
            <a:endParaRPr sz="2000" b="1" i="0" u="none" strike="noStrike" cap="none">
              <a:solidFill>
                <a:srgbClr val="007B8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Workshop 을 통해 고객 환경 및 요구사항에 맞춘 운영 대시보드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ko-KR"/>
              <a:t>서비스 그룹 단위 대시보드</a:t>
            </a:r>
            <a:endParaRPr sz="2600"/>
          </a:p>
        </p:txBody>
      </p:sp>
      <p:sp>
        <p:nvSpPr>
          <p:cNvPr id="732" name="Google Shape;732;p11"/>
          <p:cNvSpPr/>
          <p:nvPr/>
        </p:nvSpPr>
        <p:spPr>
          <a:xfrm>
            <a:off x="-2051" y="1436614"/>
            <a:ext cx="4620823" cy="5430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75" tIns="45700" rIns="45707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VCF Add-on Pack – Advanced</a:t>
            </a:r>
            <a:endParaRPr/>
          </a:p>
        </p:txBody>
      </p:sp>
      <p:sp>
        <p:nvSpPr>
          <p:cNvPr id="733" name="Google Shape;733;p11"/>
          <p:cNvSpPr/>
          <p:nvPr/>
        </p:nvSpPr>
        <p:spPr>
          <a:xfrm>
            <a:off x="4867436" y="1830010"/>
            <a:ext cx="6713377" cy="421973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11"/>
          <p:cNvSpPr txBox="1"/>
          <p:nvPr/>
        </p:nvSpPr>
        <p:spPr>
          <a:xfrm>
            <a:off x="4867436" y="1490903"/>
            <a:ext cx="6713377" cy="3077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[VCF Value Pack] 2. Advanced &gt; [VCF-23] 서비스 그룹 단위 대시보드</a:t>
            </a:r>
            <a:endParaRPr sz="1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11"/>
          <p:cNvSpPr/>
          <p:nvPr/>
        </p:nvSpPr>
        <p:spPr>
          <a:xfrm rot="-5400000">
            <a:off x="2079450" y="3444529"/>
            <a:ext cx="4987142" cy="588829"/>
          </a:xfrm>
          <a:prstGeom prst="triangle">
            <a:avLst>
              <a:gd name="adj" fmla="val 50000"/>
            </a:avLst>
          </a:prstGeom>
          <a:gradFill>
            <a:gsLst>
              <a:gs pos="0">
                <a:srgbClr val="808080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11"/>
          <p:cNvSpPr/>
          <p:nvPr/>
        </p:nvSpPr>
        <p:spPr>
          <a:xfrm>
            <a:off x="940287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7" name="Google Shape;737;p11"/>
          <p:cNvSpPr/>
          <p:nvPr/>
        </p:nvSpPr>
        <p:spPr>
          <a:xfrm>
            <a:off x="7166116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8" name="Google Shape;738;p11"/>
          <p:cNvSpPr/>
          <p:nvPr/>
        </p:nvSpPr>
        <p:spPr>
          <a:xfrm>
            <a:off x="492298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9" name="Google Shape;739;p11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/>
              <a:t>고객의 서비스 관점에서 VM 통계 정보 및 분포, 사용량을 시각화 해주는 대시보드입니다. 필요한 데이터를 서비스 요구사항에 따라 변경되며, Tag 를 업데이트하는 작업이 요구됩니다.</a:t>
            </a:r>
            <a:endParaRPr/>
          </a:p>
        </p:txBody>
      </p:sp>
      <p:sp>
        <p:nvSpPr>
          <p:cNvPr id="740" name="Google Shape;740;p11"/>
          <p:cNvSpPr/>
          <p:nvPr/>
        </p:nvSpPr>
        <p:spPr>
          <a:xfrm>
            <a:off x="4867436" y="1798680"/>
            <a:ext cx="6713377" cy="421973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11"/>
          <p:cNvSpPr/>
          <p:nvPr/>
        </p:nvSpPr>
        <p:spPr>
          <a:xfrm>
            <a:off x="940287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2" name="Google Shape;742;p11"/>
          <p:cNvSpPr/>
          <p:nvPr/>
        </p:nvSpPr>
        <p:spPr>
          <a:xfrm>
            <a:off x="7166116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3" name="Google Shape;743;p11"/>
          <p:cNvSpPr/>
          <p:nvPr/>
        </p:nvSpPr>
        <p:spPr>
          <a:xfrm>
            <a:off x="492298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744" name="Google Shape;74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67436" y="1902286"/>
            <a:ext cx="6683174" cy="3854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7212" y="2574780"/>
            <a:ext cx="3554882" cy="22430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6" name="Google Shape;746;p11"/>
          <p:cNvGrpSpPr/>
          <p:nvPr/>
        </p:nvGrpSpPr>
        <p:grpSpPr>
          <a:xfrm>
            <a:off x="1997035" y="2170888"/>
            <a:ext cx="655236" cy="592428"/>
            <a:chOff x="-47223" y="2893454"/>
            <a:chExt cx="655236" cy="592428"/>
          </a:xfrm>
        </p:grpSpPr>
        <p:sp>
          <p:nvSpPr>
            <p:cNvPr id="747" name="Google Shape;747;p11"/>
            <p:cNvSpPr/>
            <p:nvPr/>
          </p:nvSpPr>
          <p:spPr>
            <a:xfrm>
              <a:off x="-47223" y="2893454"/>
              <a:ext cx="655236" cy="592428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11"/>
            <p:cNvSpPr/>
            <p:nvPr/>
          </p:nvSpPr>
          <p:spPr>
            <a:xfrm>
              <a:off x="36550" y="2969654"/>
              <a:ext cx="487689" cy="44002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ko-KR" sz="3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9" name="Google Shape;749;p11"/>
          <p:cNvSpPr/>
          <p:nvPr/>
        </p:nvSpPr>
        <p:spPr>
          <a:xfrm>
            <a:off x="555576" y="4668508"/>
            <a:ext cx="3538155" cy="1736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25" tIns="274225" rIns="274225" bIns="1828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2000" b="1" i="0" u="none" strike="noStrike" cap="none">
                <a:solidFill>
                  <a:srgbClr val="007B8C"/>
                </a:solidFill>
                <a:latin typeface="Arial"/>
                <a:ea typeface="Arial"/>
                <a:cs typeface="Arial"/>
                <a:sym typeface="Arial"/>
              </a:rPr>
              <a:t>맞춤형 운영자 대시보드</a:t>
            </a:r>
            <a:endParaRPr sz="2000" b="1" i="0" u="none" strike="noStrike" cap="none">
              <a:solidFill>
                <a:srgbClr val="007B8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Workshop 을 통해 고객 환경 및 요구사항에 맞춘 운영 대시보드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ko-KR"/>
              <a:t>SDDC 맞춤 커스텀 규정</a:t>
            </a:r>
            <a:endParaRPr sz="2600"/>
          </a:p>
        </p:txBody>
      </p:sp>
      <p:sp>
        <p:nvSpPr>
          <p:cNvPr id="755" name="Google Shape;755;p12"/>
          <p:cNvSpPr/>
          <p:nvPr/>
        </p:nvSpPr>
        <p:spPr>
          <a:xfrm>
            <a:off x="-2051" y="1436614"/>
            <a:ext cx="4620823" cy="5430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75" tIns="45700" rIns="45707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VCF Add-on Pack – Advanced</a:t>
            </a:r>
            <a:endParaRPr/>
          </a:p>
        </p:txBody>
      </p:sp>
      <p:sp>
        <p:nvSpPr>
          <p:cNvPr id="756" name="Google Shape;756;p12"/>
          <p:cNvSpPr/>
          <p:nvPr/>
        </p:nvSpPr>
        <p:spPr>
          <a:xfrm>
            <a:off x="4867436" y="1830010"/>
            <a:ext cx="6713377" cy="421973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12"/>
          <p:cNvSpPr txBox="1"/>
          <p:nvPr/>
        </p:nvSpPr>
        <p:spPr>
          <a:xfrm>
            <a:off x="4867436" y="1490903"/>
            <a:ext cx="6713377" cy="3077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[VCF Value Pack] 2. Advanced &gt; [VCF-24] 고객사 맞춤 커스텀 규정</a:t>
            </a:r>
            <a:endParaRPr sz="1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12"/>
          <p:cNvSpPr/>
          <p:nvPr/>
        </p:nvSpPr>
        <p:spPr>
          <a:xfrm rot="-5400000">
            <a:off x="2079450" y="3444529"/>
            <a:ext cx="4987142" cy="588829"/>
          </a:xfrm>
          <a:prstGeom prst="triangle">
            <a:avLst>
              <a:gd name="adj" fmla="val 50000"/>
            </a:avLst>
          </a:prstGeom>
          <a:gradFill>
            <a:gsLst>
              <a:gs pos="0">
                <a:srgbClr val="808080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2"/>
          <p:cNvSpPr/>
          <p:nvPr/>
        </p:nvSpPr>
        <p:spPr>
          <a:xfrm>
            <a:off x="940287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0" name="Google Shape;760;p12"/>
          <p:cNvSpPr/>
          <p:nvPr/>
        </p:nvSpPr>
        <p:spPr>
          <a:xfrm>
            <a:off x="7166116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1" name="Google Shape;761;p12"/>
          <p:cNvSpPr/>
          <p:nvPr/>
        </p:nvSpPr>
        <p:spPr>
          <a:xfrm>
            <a:off x="492298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2" name="Google Shape;762;p12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/>
              <a:t>Global 에서 정의되는 Compliance 항목과 다르게 Custom Compliance 를 통해 내부적으로 정의한 표준 규정만 선별하여 관리합니다. </a:t>
            </a:r>
            <a:endParaRPr/>
          </a:p>
        </p:txBody>
      </p:sp>
      <p:sp>
        <p:nvSpPr>
          <p:cNvPr id="763" name="Google Shape;763;p12"/>
          <p:cNvSpPr/>
          <p:nvPr/>
        </p:nvSpPr>
        <p:spPr>
          <a:xfrm>
            <a:off x="4867436" y="1798680"/>
            <a:ext cx="6713377" cy="421973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12"/>
          <p:cNvSpPr/>
          <p:nvPr/>
        </p:nvSpPr>
        <p:spPr>
          <a:xfrm>
            <a:off x="940287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5" name="Google Shape;765;p12"/>
          <p:cNvSpPr/>
          <p:nvPr/>
        </p:nvSpPr>
        <p:spPr>
          <a:xfrm>
            <a:off x="7166116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6" name="Google Shape;766;p12"/>
          <p:cNvSpPr/>
          <p:nvPr/>
        </p:nvSpPr>
        <p:spPr>
          <a:xfrm>
            <a:off x="492298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767" name="Google Shape;76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07400" y="1898202"/>
            <a:ext cx="4566800" cy="2633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7212" y="2574780"/>
            <a:ext cx="3554882" cy="22430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9" name="Google Shape;769;p12"/>
          <p:cNvGrpSpPr/>
          <p:nvPr/>
        </p:nvGrpSpPr>
        <p:grpSpPr>
          <a:xfrm>
            <a:off x="1997035" y="2170888"/>
            <a:ext cx="655236" cy="592428"/>
            <a:chOff x="-47223" y="2893454"/>
            <a:chExt cx="655236" cy="592428"/>
          </a:xfrm>
        </p:grpSpPr>
        <p:sp>
          <p:nvSpPr>
            <p:cNvPr id="770" name="Google Shape;770;p12"/>
            <p:cNvSpPr/>
            <p:nvPr/>
          </p:nvSpPr>
          <p:spPr>
            <a:xfrm>
              <a:off x="-47223" y="2893454"/>
              <a:ext cx="655236" cy="592428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12"/>
            <p:cNvSpPr/>
            <p:nvPr/>
          </p:nvSpPr>
          <p:spPr>
            <a:xfrm>
              <a:off x="36550" y="2969654"/>
              <a:ext cx="487689" cy="44002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ko-KR" sz="3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2" name="Google Shape;772;p12"/>
          <p:cNvSpPr/>
          <p:nvPr/>
        </p:nvSpPr>
        <p:spPr>
          <a:xfrm>
            <a:off x="555576" y="4668508"/>
            <a:ext cx="3538155" cy="1736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25" tIns="274225" rIns="274225" bIns="1828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2000" b="1" i="0" u="none" strike="noStrike" cap="none">
                <a:solidFill>
                  <a:srgbClr val="007B8C"/>
                </a:solidFill>
                <a:latin typeface="Arial"/>
                <a:ea typeface="Arial"/>
                <a:cs typeface="Arial"/>
                <a:sym typeface="Arial"/>
              </a:rPr>
              <a:t>맞춤형 운영자 대시보드</a:t>
            </a:r>
            <a:endParaRPr sz="2000" b="1" i="0" u="none" strike="noStrike" cap="none">
              <a:solidFill>
                <a:srgbClr val="007B8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Workshop 을 통해 고객 환경 및 요구사항에 맞춘 운영 대시보드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3" name="Google Shape;773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16505" y="3325827"/>
            <a:ext cx="4504271" cy="2783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" name="Google Shape;77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9722" y="2493720"/>
            <a:ext cx="3554882" cy="2243032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1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ko-KR"/>
              <a:t>VCF Value Pack</a:t>
            </a:r>
            <a:endParaRPr/>
          </a:p>
        </p:txBody>
      </p:sp>
      <p:sp>
        <p:nvSpPr>
          <p:cNvPr id="781" name="Google Shape;781;p13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/>
              <a:t>본 문서의 대시보드는 VCF Value Pack – Basic 을 제공하며, 별도의 Workshop 및 작업이 필요한 대시보드는 Add-on Pack 에서 별도의 서비스를 통해 지원합니다.</a:t>
            </a:r>
            <a:endParaRPr/>
          </a:p>
        </p:txBody>
      </p:sp>
      <p:pic>
        <p:nvPicPr>
          <p:cNvPr id="782" name="Google Shape;782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2308" y="2493720"/>
            <a:ext cx="3227933" cy="2593772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13"/>
          <p:cNvSpPr/>
          <p:nvPr/>
        </p:nvSpPr>
        <p:spPr>
          <a:xfrm>
            <a:off x="-2052" y="1436614"/>
            <a:ext cx="3879784" cy="5430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75" tIns="45700" rIns="45707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None/>
            </a:pPr>
            <a:r>
              <a:rPr lang="ko-KR" sz="2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Basic</a:t>
            </a:r>
            <a:endParaRPr sz="2800" b="1" i="1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13"/>
          <p:cNvSpPr/>
          <p:nvPr/>
        </p:nvSpPr>
        <p:spPr>
          <a:xfrm>
            <a:off x="236112" y="4736753"/>
            <a:ext cx="11513713" cy="127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5" name="Google Shape;785;p13"/>
          <p:cNvGrpSpPr/>
          <p:nvPr/>
        </p:nvGrpSpPr>
        <p:grpSpPr>
          <a:xfrm>
            <a:off x="1708656" y="2089828"/>
            <a:ext cx="655236" cy="592428"/>
            <a:chOff x="-47223" y="2893454"/>
            <a:chExt cx="655236" cy="592428"/>
          </a:xfrm>
        </p:grpSpPr>
        <p:sp>
          <p:nvSpPr>
            <p:cNvPr id="786" name="Google Shape;786;p13"/>
            <p:cNvSpPr/>
            <p:nvPr/>
          </p:nvSpPr>
          <p:spPr>
            <a:xfrm>
              <a:off x="-47223" y="2893454"/>
              <a:ext cx="655236" cy="592428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13"/>
            <p:cNvSpPr/>
            <p:nvPr/>
          </p:nvSpPr>
          <p:spPr>
            <a:xfrm>
              <a:off x="36550" y="2969654"/>
              <a:ext cx="487689" cy="44002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ko-KR" sz="3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8" name="Google Shape;788;p13"/>
          <p:cNvGrpSpPr/>
          <p:nvPr/>
        </p:nvGrpSpPr>
        <p:grpSpPr>
          <a:xfrm>
            <a:off x="6129545" y="2089828"/>
            <a:ext cx="655236" cy="592428"/>
            <a:chOff x="-47223" y="2893454"/>
            <a:chExt cx="655236" cy="592428"/>
          </a:xfrm>
        </p:grpSpPr>
        <p:sp>
          <p:nvSpPr>
            <p:cNvPr id="789" name="Google Shape;789;p13"/>
            <p:cNvSpPr/>
            <p:nvPr/>
          </p:nvSpPr>
          <p:spPr>
            <a:xfrm>
              <a:off x="-47223" y="2893454"/>
              <a:ext cx="655236" cy="592428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13"/>
            <p:cNvSpPr/>
            <p:nvPr/>
          </p:nvSpPr>
          <p:spPr>
            <a:xfrm>
              <a:off x="36550" y="2969654"/>
              <a:ext cx="487689" cy="44002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ko-KR" sz="3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91" name="Google Shape;791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60039" y="2742755"/>
            <a:ext cx="3125942" cy="199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2" name="Google Shape;792;p13"/>
          <p:cNvGrpSpPr/>
          <p:nvPr/>
        </p:nvGrpSpPr>
        <p:grpSpPr>
          <a:xfrm>
            <a:off x="9595392" y="2089828"/>
            <a:ext cx="655236" cy="592428"/>
            <a:chOff x="-47223" y="2893454"/>
            <a:chExt cx="655236" cy="592428"/>
          </a:xfrm>
        </p:grpSpPr>
        <p:sp>
          <p:nvSpPr>
            <p:cNvPr id="793" name="Google Shape;793;p13"/>
            <p:cNvSpPr/>
            <p:nvPr/>
          </p:nvSpPr>
          <p:spPr>
            <a:xfrm>
              <a:off x="-47223" y="2893454"/>
              <a:ext cx="655236" cy="592428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13"/>
            <p:cNvSpPr/>
            <p:nvPr/>
          </p:nvSpPr>
          <p:spPr>
            <a:xfrm>
              <a:off x="36550" y="2969654"/>
              <a:ext cx="487689" cy="44002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ko-KR" sz="3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5" name="Google Shape;795;p13"/>
          <p:cNvSpPr/>
          <p:nvPr/>
        </p:nvSpPr>
        <p:spPr>
          <a:xfrm>
            <a:off x="8153933" y="4587448"/>
            <a:ext cx="3538155" cy="1736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25" tIns="274225" rIns="274225" bIns="1828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2000" b="1" i="0" u="none" strike="noStrike" cap="none">
                <a:solidFill>
                  <a:srgbClr val="007B8C"/>
                </a:solidFill>
                <a:latin typeface="Arial"/>
                <a:ea typeface="Arial"/>
                <a:cs typeface="Arial"/>
                <a:sym typeface="Arial"/>
              </a:rPr>
              <a:t>추가 메트릭 대시보드</a:t>
            </a:r>
            <a:endParaRPr sz="2000" b="1" i="0" u="none" strike="noStrike" cap="none">
              <a:solidFill>
                <a:srgbClr val="007B8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 API 를 활용하여 기본적으로 제공하지 않는 메트릭을 추가 수집한 대시보드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13"/>
          <p:cNvSpPr/>
          <p:nvPr/>
        </p:nvSpPr>
        <p:spPr>
          <a:xfrm>
            <a:off x="4554286" y="1442242"/>
            <a:ext cx="7634539" cy="543032"/>
          </a:xfrm>
          <a:prstGeom prst="rect">
            <a:avLst/>
          </a:prstGeom>
          <a:solidFill>
            <a:srgbClr val="007B8C"/>
          </a:solidFill>
          <a:ln>
            <a:noFill/>
          </a:ln>
        </p:spPr>
        <p:txBody>
          <a:bodyPr spcFirstLastPara="1" wrap="square" lIns="457075" tIns="45700" rIns="45707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None/>
            </a:pPr>
            <a:r>
              <a:rPr lang="ko-KR" sz="2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Add-on Pack</a:t>
            </a:r>
            <a:endParaRPr sz="2800" b="1" i="1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7" name="Google Shape;797;p13"/>
          <p:cNvCxnSpPr/>
          <p:nvPr/>
        </p:nvCxnSpPr>
        <p:spPr>
          <a:xfrm>
            <a:off x="4245289" y="1485089"/>
            <a:ext cx="0" cy="4531472"/>
          </a:xfrm>
          <a:prstGeom prst="straightConnector1">
            <a:avLst/>
          </a:prstGeom>
          <a:noFill/>
          <a:ln w="19050" cap="flat" cmpd="sng">
            <a:solidFill>
              <a:srgbClr val="00798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8" name="Google Shape;798;p13"/>
          <p:cNvSpPr/>
          <p:nvPr/>
        </p:nvSpPr>
        <p:spPr>
          <a:xfrm>
            <a:off x="258833" y="4587448"/>
            <a:ext cx="3554882" cy="1736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25" tIns="274225" rIns="274225" bIns="1828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2000" b="1" i="0" u="none" strike="noStrike" cap="none">
                <a:solidFill>
                  <a:srgbClr val="0098C7"/>
                </a:solidFill>
                <a:latin typeface="Arial"/>
                <a:ea typeface="Arial"/>
                <a:cs typeface="Arial"/>
                <a:sym typeface="Arial"/>
              </a:rPr>
              <a:t>클라우드 운영자 대시보드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다양한 고객들의 운영 경험이 녹아든 클라우드 운영 환경에 최적화된 대시보드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13"/>
          <p:cNvSpPr/>
          <p:nvPr/>
        </p:nvSpPr>
        <p:spPr>
          <a:xfrm>
            <a:off x="4688086" y="4587448"/>
            <a:ext cx="3538155" cy="1736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25" tIns="274225" rIns="274225" bIns="1828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2000" b="1" i="0" u="none" strike="noStrike" cap="none">
                <a:solidFill>
                  <a:srgbClr val="007B8C"/>
                </a:solidFill>
                <a:latin typeface="Arial"/>
                <a:ea typeface="Arial"/>
                <a:cs typeface="Arial"/>
                <a:sym typeface="Arial"/>
              </a:rPr>
              <a:t>맞춤형 운영자 대시보드</a:t>
            </a:r>
            <a:endParaRPr sz="2000" b="1" i="0" u="none" strike="noStrike" cap="none">
              <a:solidFill>
                <a:srgbClr val="007B8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Workshop 을 통해 고객 환경 및 요구사항에 맞춘 운영 대시보드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13"/>
          <p:cNvSpPr/>
          <p:nvPr/>
        </p:nvSpPr>
        <p:spPr>
          <a:xfrm>
            <a:off x="27159" y="1979646"/>
            <a:ext cx="3822075" cy="4344710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13"/>
          <p:cNvSpPr/>
          <p:nvPr/>
        </p:nvSpPr>
        <p:spPr>
          <a:xfrm>
            <a:off x="4577728" y="1979646"/>
            <a:ext cx="3822075" cy="4344710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4"/>
          <p:cNvSpPr/>
          <p:nvPr/>
        </p:nvSpPr>
        <p:spPr>
          <a:xfrm>
            <a:off x="6818754" y="1137684"/>
            <a:ext cx="5206669" cy="56246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14"/>
          <p:cNvSpPr/>
          <p:nvPr/>
        </p:nvSpPr>
        <p:spPr>
          <a:xfrm>
            <a:off x="106326" y="5752214"/>
            <a:ext cx="6134986" cy="10100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1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ko-KR"/>
              <a:t>Management Pack Builder</a:t>
            </a:r>
            <a:endParaRPr/>
          </a:p>
        </p:txBody>
      </p:sp>
      <p:sp>
        <p:nvSpPr>
          <p:cNvPr id="809" name="Google Shape;809;p14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810" name="Google Shape;810;p14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​"/>
            </a:pPr>
            <a:r>
              <a:rPr lang="ko-KR"/>
              <a:t>]</a:t>
            </a:r>
            <a:endParaRPr/>
          </a:p>
        </p:txBody>
      </p:sp>
      <p:pic>
        <p:nvPicPr>
          <p:cNvPr id="811" name="Google Shape;81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596" y="1247791"/>
            <a:ext cx="6422065" cy="3010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4595" y="4258339"/>
            <a:ext cx="6422065" cy="2300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18754" y="1213426"/>
            <a:ext cx="5092459" cy="5365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5"/>
          <p:cNvSpPr/>
          <p:nvPr/>
        </p:nvSpPr>
        <p:spPr>
          <a:xfrm>
            <a:off x="4867436" y="1830010"/>
            <a:ext cx="6713377" cy="421973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15"/>
          <p:cNvSpPr/>
          <p:nvPr/>
        </p:nvSpPr>
        <p:spPr>
          <a:xfrm>
            <a:off x="4867436" y="1798680"/>
            <a:ext cx="6713377" cy="421973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1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ko-KR" sz="2600"/>
              <a:t>Dell OpenManage</a:t>
            </a:r>
            <a:endParaRPr sz="2600"/>
          </a:p>
        </p:txBody>
      </p:sp>
      <p:sp>
        <p:nvSpPr>
          <p:cNvPr id="821" name="Google Shape;821;p15"/>
          <p:cNvSpPr/>
          <p:nvPr/>
        </p:nvSpPr>
        <p:spPr>
          <a:xfrm>
            <a:off x="-2051" y="1436614"/>
            <a:ext cx="4620823" cy="5430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75" tIns="45700" rIns="45707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VCF Add-on Pack – NSX</a:t>
            </a:r>
            <a:endParaRPr/>
          </a:p>
        </p:txBody>
      </p:sp>
      <p:sp>
        <p:nvSpPr>
          <p:cNvPr id="822" name="Google Shape;822;p15"/>
          <p:cNvSpPr txBox="1"/>
          <p:nvPr/>
        </p:nvSpPr>
        <p:spPr>
          <a:xfrm>
            <a:off x="4867436" y="1490903"/>
            <a:ext cx="6713377" cy="3077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[VCF Value Pack] 6. Hardware &gt; [VCF-61] Dell OpenManage</a:t>
            </a:r>
            <a:endParaRPr sz="1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15"/>
          <p:cNvSpPr/>
          <p:nvPr/>
        </p:nvSpPr>
        <p:spPr>
          <a:xfrm rot="-5400000">
            <a:off x="2079450" y="3444529"/>
            <a:ext cx="4987142" cy="588829"/>
          </a:xfrm>
          <a:prstGeom prst="triangle">
            <a:avLst>
              <a:gd name="adj" fmla="val 50000"/>
            </a:avLst>
          </a:prstGeom>
          <a:gradFill>
            <a:gsLst>
              <a:gs pos="0">
                <a:srgbClr val="808080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15"/>
          <p:cNvSpPr/>
          <p:nvPr/>
        </p:nvSpPr>
        <p:spPr>
          <a:xfrm>
            <a:off x="940287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5" name="Google Shape;825;p15"/>
          <p:cNvSpPr/>
          <p:nvPr/>
        </p:nvSpPr>
        <p:spPr>
          <a:xfrm>
            <a:off x="7166116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6" name="Google Shape;826;p15"/>
          <p:cNvSpPr/>
          <p:nvPr/>
        </p:nvSpPr>
        <p:spPr>
          <a:xfrm>
            <a:off x="492298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7" name="Google Shape;827;p15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/>
              <a:t>Service Tag 를 이용해서 ESXi 호스트 기준으로 상위로는 물리서버 정보, 하위로는 물리서버의 각 파트별 Software 정보를 제공합니다.</a:t>
            </a:r>
            <a:endParaRPr/>
          </a:p>
        </p:txBody>
      </p:sp>
      <p:sp>
        <p:nvSpPr>
          <p:cNvPr id="828" name="Google Shape;828;p15"/>
          <p:cNvSpPr/>
          <p:nvPr/>
        </p:nvSpPr>
        <p:spPr>
          <a:xfrm>
            <a:off x="940287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9" name="Google Shape;829;p15"/>
          <p:cNvSpPr/>
          <p:nvPr/>
        </p:nvSpPr>
        <p:spPr>
          <a:xfrm>
            <a:off x="492298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830" name="Google Shape;83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143" y="2823815"/>
            <a:ext cx="3125942" cy="199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1" name="Google Shape;831;p15"/>
          <p:cNvGrpSpPr/>
          <p:nvPr/>
        </p:nvGrpSpPr>
        <p:grpSpPr>
          <a:xfrm>
            <a:off x="1887496" y="2170888"/>
            <a:ext cx="655236" cy="592428"/>
            <a:chOff x="-47223" y="2893454"/>
            <a:chExt cx="655236" cy="592428"/>
          </a:xfrm>
        </p:grpSpPr>
        <p:sp>
          <p:nvSpPr>
            <p:cNvPr id="832" name="Google Shape;832;p15"/>
            <p:cNvSpPr/>
            <p:nvPr/>
          </p:nvSpPr>
          <p:spPr>
            <a:xfrm>
              <a:off x="-47223" y="2893454"/>
              <a:ext cx="655236" cy="592428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15"/>
            <p:cNvSpPr/>
            <p:nvPr/>
          </p:nvSpPr>
          <p:spPr>
            <a:xfrm>
              <a:off x="36550" y="2969654"/>
              <a:ext cx="487689" cy="44002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ko-KR" sz="3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4" name="Google Shape;834;p15"/>
          <p:cNvSpPr/>
          <p:nvPr/>
        </p:nvSpPr>
        <p:spPr>
          <a:xfrm>
            <a:off x="446037" y="4668508"/>
            <a:ext cx="3538155" cy="1736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25" tIns="274225" rIns="274225" bIns="1828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2000" b="1" i="0" u="none" strike="noStrike" cap="none">
                <a:solidFill>
                  <a:srgbClr val="007B8C"/>
                </a:solidFill>
                <a:latin typeface="Arial"/>
                <a:ea typeface="Arial"/>
                <a:cs typeface="Arial"/>
                <a:sym typeface="Arial"/>
              </a:rPr>
              <a:t>추가 메트릭 대시보드</a:t>
            </a:r>
            <a:endParaRPr sz="2000" b="1" i="0" u="none" strike="noStrike" cap="none">
              <a:solidFill>
                <a:srgbClr val="007B8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 API 를 활용하여 기본적으로 제공하지 않는 메트릭을 추가 수집한 대시보드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5" name="Google Shape;835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0531" y="1923225"/>
            <a:ext cx="6388635" cy="410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1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ko-KR" sz="2600"/>
              <a:t>Edge 클러스터 및 노드 성능 대시보드</a:t>
            </a:r>
            <a:endParaRPr sz="2600"/>
          </a:p>
        </p:txBody>
      </p:sp>
      <p:sp>
        <p:nvSpPr>
          <p:cNvPr id="841" name="Google Shape;841;p16"/>
          <p:cNvSpPr/>
          <p:nvPr/>
        </p:nvSpPr>
        <p:spPr>
          <a:xfrm>
            <a:off x="-2051" y="1436614"/>
            <a:ext cx="4620823" cy="5430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75" tIns="45700" rIns="45707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VCF Add-on Pack – NSX</a:t>
            </a:r>
            <a:endParaRPr/>
          </a:p>
        </p:txBody>
      </p:sp>
      <p:sp>
        <p:nvSpPr>
          <p:cNvPr id="842" name="Google Shape;842;p16"/>
          <p:cNvSpPr/>
          <p:nvPr/>
        </p:nvSpPr>
        <p:spPr>
          <a:xfrm>
            <a:off x="4867436" y="1830010"/>
            <a:ext cx="6713377" cy="421973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16"/>
          <p:cNvSpPr txBox="1"/>
          <p:nvPr/>
        </p:nvSpPr>
        <p:spPr>
          <a:xfrm>
            <a:off x="4867436" y="1490903"/>
            <a:ext cx="6713377" cy="3077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[VCF Value Pack] 3. NSX &gt; [VCF-33] Edge 클러스터 및 노드 성능 대시보드</a:t>
            </a:r>
            <a:endParaRPr sz="1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16"/>
          <p:cNvSpPr/>
          <p:nvPr/>
        </p:nvSpPr>
        <p:spPr>
          <a:xfrm rot="-5400000">
            <a:off x="2079450" y="3444529"/>
            <a:ext cx="4987142" cy="588829"/>
          </a:xfrm>
          <a:prstGeom prst="triangle">
            <a:avLst>
              <a:gd name="adj" fmla="val 50000"/>
            </a:avLst>
          </a:prstGeom>
          <a:gradFill>
            <a:gsLst>
              <a:gs pos="0">
                <a:srgbClr val="808080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16"/>
          <p:cNvSpPr/>
          <p:nvPr/>
        </p:nvSpPr>
        <p:spPr>
          <a:xfrm>
            <a:off x="940287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6" name="Google Shape;846;p16"/>
          <p:cNvSpPr/>
          <p:nvPr/>
        </p:nvSpPr>
        <p:spPr>
          <a:xfrm>
            <a:off x="7166116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7" name="Google Shape;847;p16"/>
          <p:cNvSpPr/>
          <p:nvPr/>
        </p:nvSpPr>
        <p:spPr>
          <a:xfrm>
            <a:off x="492298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8" name="Google Shape;848;p1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/>
              <a:t>Edge 클러스터 기준으로 CPU, 메모리 사용율을 확인하고, 각 Edge 노드별 성능 트렌트를 확인 합니다. LB 가 있다면 LB 에서 리소스 사용율을 추가로 제공합니다.</a:t>
            </a:r>
            <a:endParaRPr/>
          </a:p>
        </p:txBody>
      </p:sp>
      <p:sp>
        <p:nvSpPr>
          <p:cNvPr id="849" name="Google Shape;849;p16"/>
          <p:cNvSpPr/>
          <p:nvPr/>
        </p:nvSpPr>
        <p:spPr>
          <a:xfrm>
            <a:off x="4867436" y="1798680"/>
            <a:ext cx="6713377" cy="421973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16"/>
          <p:cNvSpPr/>
          <p:nvPr/>
        </p:nvSpPr>
        <p:spPr>
          <a:xfrm>
            <a:off x="940287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1" name="Google Shape;851;p16"/>
          <p:cNvSpPr/>
          <p:nvPr/>
        </p:nvSpPr>
        <p:spPr>
          <a:xfrm>
            <a:off x="7166116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2" name="Google Shape;852;p16"/>
          <p:cNvSpPr/>
          <p:nvPr/>
        </p:nvSpPr>
        <p:spPr>
          <a:xfrm>
            <a:off x="492298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853" name="Google Shape;85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22983" y="1897367"/>
            <a:ext cx="6566284" cy="3786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143" y="2823815"/>
            <a:ext cx="3125942" cy="199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5" name="Google Shape;855;p16"/>
          <p:cNvGrpSpPr/>
          <p:nvPr/>
        </p:nvGrpSpPr>
        <p:grpSpPr>
          <a:xfrm>
            <a:off x="1887496" y="2170888"/>
            <a:ext cx="655236" cy="592428"/>
            <a:chOff x="-47223" y="2893454"/>
            <a:chExt cx="655236" cy="592428"/>
          </a:xfrm>
        </p:grpSpPr>
        <p:sp>
          <p:nvSpPr>
            <p:cNvPr id="856" name="Google Shape;856;p16"/>
            <p:cNvSpPr/>
            <p:nvPr/>
          </p:nvSpPr>
          <p:spPr>
            <a:xfrm>
              <a:off x="-47223" y="2893454"/>
              <a:ext cx="655236" cy="592428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16"/>
            <p:cNvSpPr/>
            <p:nvPr/>
          </p:nvSpPr>
          <p:spPr>
            <a:xfrm>
              <a:off x="36550" y="2969654"/>
              <a:ext cx="487689" cy="44002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ko-KR" sz="3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8" name="Google Shape;858;p16"/>
          <p:cNvSpPr/>
          <p:nvPr/>
        </p:nvSpPr>
        <p:spPr>
          <a:xfrm>
            <a:off x="446037" y="4668508"/>
            <a:ext cx="3538155" cy="1736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25" tIns="274225" rIns="274225" bIns="1828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2000" b="1" i="0" u="none" strike="noStrike" cap="none">
                <a:solidFill>
                  <a:srgbClr val="007B8C"/>
                </a:solidFill>
                <a:latin typeface="Arial"/>
                <a:ea typeface="Arial"/>
                <a:cs typeface="Arial"/>
                <a:sym typeface="Arial"/>
              </a:rPr>
              <a:t>추가 메트릭 대시보드</a:t>
            </a:r>
            <a:endParaRPr sz="2000" b="1" i="0" u="none" strike="noStrike" cap="none">
              <a:solidFill>
                <a:srgbClr val="007B8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 API 를 활용하여 기본적으로 제공하지 않는 메트릭을 추가 수집한 대시보드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16"/>
          <p:cNvSpPr/>
          <p:nvPr/>
        </p:nvSpPr>
        <p:spPr>
          <a:xfrm>
            <a:off x="9824484" y="2247088"/>
            <a:ext cx="584790" cy="804456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16"/>
          <p:cNvSpPr/>
          <p:nvPr/>
        </p:nvSpPr>
        <p:spPr>
          <a:xfrm>
            <a:off x="5802017" y="4954773"/>
            <a:ext cx="418030" cy="729422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ko-KR"/>
              <a:t>NSX Load Balancer 상태 및 세션 대시보드</a:t>
            </a:r>
            <a:endParaRPr sz="2600"/>
          </a:p>
        </p:txBody>
      </p:sp>
      <p:sp>
        <p:nvSpPr>
          <p:cNvPr id="866" name="Google Shape;866;p17"/>
          <p:cNvSpPr/>
          <p:nvPr/>
        </p:nvSpPr>
        <p:spPr>
          <a:xfrm>
            <a:off x="-2051" y="1436614"/>
            <a:ext cx="4620823" cy="5430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75" tIns="45700" rIns="45707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VCF Add-on Pack – NSX</a:t>
            </a:r>
            <a:endParaRPr/>
          </a:p>
        </p:txBody>
      </p:sp>
      <p:sp>
        <p:nvSpPr>
          <p:cNvPr id="867" name="Google Shape;867;p17"/>
          <p:cNvSpPr/>
          <p:nvPr/>
        </p:nvSpPr>
        <p:spPr>
          <a:xfrm>
            <a:off x="4867436" y="1830010"/>
            <a:ext cx="6713377" cy="421973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17"/>
          <p:cNvSpPr txBox="1"/>
          <p:nvPr/>
        </p:nvSpPr>
        <p:spPr>
          <a:xfrm>
            <a:off x="4867436" y="1490903"/>
            <a:ext cx="6713377" cy="3077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[VCF Value Pack] 3. NSX &gt; [VCF-34] NSX Load Balancer 상태 및 세션 대시보드</a:t>
            </a:r>
            <a:endParaRPr sz="1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17"/>
          <p:cNvSpPr/>
          <p:nvPr/>
        </p:nvSpPr>
        <p:spPr>
          <a:xfrm rot="-5400000">
            <a:off x="2079450" y="3444529"/>
            <a:ext cx="4987142" cy="588829"/>
          </a:xfrm>
          <a:prstGeom prst="triangle">
            <a:avLst>
              <a:gd name="adj" fmla="val 50000"/>
            </a:avLst>
          </a:prstGeom>
          <a:gradFill>
            <a:gsLst>
              <a:gs pos="0">
                <a:srgbClr val="808080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17"/>
          <p:cNvSpPr/>
          <p:nvPr/>
        </p:nvSpPr>
        <p:spPr>
          <a:xfrm>
            <a:off x="940287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1" name="Google Shape;871;p17"/>
          <p:cNvSpPr/>
          <p:nvPr/>
        </p:nvSpPr>
        <p:spPr>
          <a:xfrm>
            <a:off x="7166116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2" name="Google Shape;872;p17"/>
          <p:cNvSpPr/>
          <p:nvPr/>
        </p:nvSpPr>
        <p:spPr>
          <a:xfrm>
            <a:off x="492298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3" name="Google Shape;873;p1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/>
              <a:t>LB Virtual Server 기준으로 상태 및 세션에 대해서 목록을 제공하고, 이와 관련된 LB Pool Member 의 상태 여부 및 연관 관계를 제공하는 대시보드입니다.</a:t>
            </a:r>
            <a:endParaRPr/>
          </a:p>
        </p:txBody>
      </p:sp>
      <p:sp>
        <p:nvSpPr>
          <p:cNvPr id="874" name="Google Shape;874;p17"/>
          <p:cNvSpPr/>
          <p:nvPr/>
        </p:nvSpPr>
        <p:spPr>
          <a:xfrm>
            <a:off x="4867436" y="1798680"/>
            <a:ext cx="6713377" cy="421973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17"/>
          <p:cNvSpPr/>
          <p:nvPr/>
        </p:nvSpPr>
        <p:spPr>
          <a:xfrm>
            <a:off x="940287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6" name="Google Shape;876;p17"/>
          <p:cNvSpPr/>
          <p:nvPr/>
        </p:nvSpPr>
        <p:spPr>
          <a:xfrm>
            <a:off x="7166116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7" name="Google Shape;877;p17"/>
          <p:cNvSpPr/>
          <p:nvPr/>
        </p:nvSpPr>
        <p:spPr>
          <a:xfrm>
            <a:off x="4922983" y="1897367"/>
            <a:ext cx="2177940" cy="4130337"/>
          </a:xfrm>
          <a:prstGeom prst="roundRect">
            <a:avLst>
              <a:gd name="adj" fmla="val 199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1"/>
              </a:buClr>
              <a:buSzPts val="1200"/>
              <a:buFont typeface="Arial"/>
              <a:buNone/>
            </a:pPr>
            <a:endParaRPr sz="700" b="0" i="0" u="none" strike="noStrike" cap="none">
              <a:solidFill>
                <a:srgbClr val="00000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878" name="Google Shape;87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22983" y="1897367"/>
            <a:ext cx="6566284" cy="3786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143" y="2823815"/>
            <a:ext cx="3125942" cy="199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0" name="Google Shape;880;p17"/>
          <p:cNvGrpSpPr/>
          <p:nvPr/>
        </p:nvGrpSpPr>
        <p:grpSpPr>
          <a:xfrm>
            <a:off x="1887496" y="2170888"/>
            <a:ext cx="655236" cy="592428"/>
            <a:chOff x="-47223" y="2893454"/>
            <a:chExt cx="655236" cy="592428"/>
          </a:xfrm>
        </p:grpSpPr>
        <p:sp>
          <p:nvSpPr>
            <p:cNvPr id="881" name="Google Shape;881;p17"/>
            <p:cNvSpPr/>
            <p:nvPr/>
          </p:nvSpPr>
          <p:spPr>
            <a:xfrm>
              <a:off x="-47223" y="2893454"/>
              <a:ext cx="655236" cy="592428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17"/>
            <p:cNvSpPr/>
            <p:nvPr/>
          </p:nvSpPr>
          <p:spPr>
            <a:xfrm>
              <a:off x="36550" y="2969654"/>
              <a:ext cx="487689" cy="44002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0033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ko-KR" sz="3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3" name="Google Shape;883;p17"/>
          <p:cNvSpPr/>
          <p:nvPr/>
        </p:nvSpPr>
        <p:spPr>
          <a:xfrm>
            <a:off x="446037" y="4668508"/>
            <a:ext cx="3538155" cy="1736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25" tIns="274225" rIns="274225" bIns="1828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2000" b="1" i="0" u="none" strike="noStrike" cap="none">
                <a:solidFill>
                  <a:srgbClr val="007B8C"/>
                </a:solidFill>
                <a:latin typeface="Arial"/>
                <a:ea typeface="Arial"/>
                <a:cs typeface="Arial"/>
                <a:sym typeface="Arial"/>
              </a:rPr>
              <a:t>추가 메트릭 대시보드</a:t>
            </a:r>
            <a:endParaRPr sz="2000" b="1" i="0" u="none" strike="noStrike" cap="none">
              <a:solidFill>
                <a:srgbClr val="007B8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 API 를 활용하여 기본적으로 제공하지 않는 메트릭을 추가 수집한 대시보드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17"/>
          <p:cNvSpPr/>
          <p:nvPr/>
        </p:nvSpPr>
        <p:spPr>
          <a:xfrm>
            <a:off x="5336843" y="2170887"/>
            <a:ext cx="789468" cy="1167735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17"/>
          <p:cNvSpPr/>
          <p:nvPr/>
        </p:nvSpPr>
        <p:spPr>
          <a:xfrm>
            <a:off x="8753359" y="2106457"/>
            <a:ext cx="2735908" cy="1232165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17"/>
          <p:cNvSpPr/>
          <p:nvPr/>
        </p:nvSpPr>
        <p:spPr>
          <a:xfrm>
            <a:off x="8058742" y="3790780"/>
            <a:ext cx="553630" cy="387815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17"/>
          <p:cNvSpPr/>
          <p:nvPr/>
        </p:nvSpPr>
        <p:spPr>
          <a:xfrm>
            <a:off x="7424198" y="3962536"/>
            <a:ext cx="553630" cy="21606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17"/>
          <p:cNvSpPr/>
          <p:nvPr/>
        </p:nvSpPr>
        <p:spPr>
          <a:xfrm>
            <a:off x="8224123" y="4429997"/>
            <a:ext cx="3265143" cy="1321554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IP_VMware_White_16x9_2024">
  <a:themeElements>
    <a:clrScheme name="Simple Light">
      <a:dk1>
        <a:srgbClr val="000000"/>
      </a:dk1>
      <a:lt1>
        <a:srgbClr val="FFFFFF"/>
      </a:lt1>
      <a:dk2>
        <a:srgbClr val="1B1E35"/>
      </a:dk2>
      <a:lt2>
        <a:srgbClr val="F2F2F2"/>
      </a:lt2>
      <a:accent1>
        <a:srgbClr val="007A86"/>
      </a:accent1>
      <a:accent2>
        <a:srgbClr val="005B84"/>
      </a:accent2>
      <a:accent3>
        <a:srgbClr val="0193C2"/>
      </a:accent3>
      <a:accent4>
        <a:srgbClr val="61A00A"/>
      </a:accent4>
      <a:accent5>
        <a:srgbClr val="6C4B8F"/>
      </a:accent5>
      <a:accent6>
        <a:srgbClr val="EDB516"/>
      </a:accent6>
      <a:hlink>
        <a:srgbClr val="E186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1207</Words>
  <Application>Microsoft Office PowerPoint</Application>
  <PresentationFormat>사용자 지정</PresentationFormat>
  <Paragraphs>131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Arial</vt:lpstr>
      <vt:lpstr>Malgun Gothic</vt:lpstr>
      <vt:lpstr>Roboto</vt:lpstr>
      <vt:lpstr>Open Sans</vt:lpstr>
      <vt:lpstr>WIP_VMware_White_16x9_2024</vt:lpstr>
      <vt:lpstr>VCF Value Pack</vt:lpstr>
      <vt:lpstr>VCF Value Pack</vt:lpstr>
      <vt:lpstr>How to Import VCF Value Pack Basic</vt:lpstr>
      <vt:lpstr>vSphere 인벤토리 대시보드</vt:lpstr>
      <vt:lpstr>가상머신 성능분석 대시보드</vt:lpstr>
      <vt:lpstr>스냅샷 관리 대시보드</vt:lpstr>
      <vt:lpstr>VM OS 용량 관리 대시보드</vt:lpstr>
      <vt:lpstr>VCF Value Pack</vt:lpstr>
      <vt:lpstr>클러스터 리소스 대시보드</vt:lpstr>
      <vt:lpstr>KPI 위반 대시보드</vt:lpstr>
      <vt:lpstr>서비스 그룹 단위 대시보드</vt:lpstr>
      <vt:lpstr>SDDC 맞춤 커스텀 규정</vt:lpstr>
      <vt:lpstr>VCF Value Pack</vt:lpstr>
      <vt:lpstr>Management Pack Builder</vt:lpstr>
      <vt:lpstr>Dell OpenManage</vt:lpstr>
      <vt:lpstr>Edge 클러스터 및 노드 성능 대시보드</vt:lpstr>
      <vt:lpstr>NSX Load Balancer 상태 및 세션 대시보드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Inyong Lee</cp:lastModifiedBy>
  <cp:revision>1</cp:revision>
  <dcterms:modified xsi:type="dcterms:W3CDTF">2026-04-01T08:02:32Z</dcterms:modified>
</cp:coreProperties>
</file>